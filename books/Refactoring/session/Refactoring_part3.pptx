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sldIdLst>
    <p:sldId id="256" r:id="rId2"/>
    <p:sldId id="260" r:id="rId3"/>
    <p:sldId id="280" r:id="rId4"/>
    <p:sldId id="257" r:id="rId5"/>
    <p:sldId id="258" r:id="rId6"/>
    <p:sldId id="259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  <p:sldId id="271" r:id="rId16"/>
    <p:sldId id="273" r:id="rId17"/>
    <p:sldId id="275" r:id="rId18"/>
    <p:sldId id="274" r:id="rId19"/>
    <p:sldId id="276" r:id="rId20"/>
    <p:sldId id="277" r:id="rId21"/>
    <p:sldId id="278" r:id="rId22"/>
    <p:sldId id="279" r:id="rId23"/>
    <p:sldId id="281" r:id="rId24"/>
    <p:sldId id="283" r:id="rId25"/>
    <p:sldId id="282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11" r:id="rId49"/>
    <p:sldId id="306" r:id="rId50"/>
    <p:sldId id="307" r:id="rId51"/>
    <p:sldId id="312" r:id="rId52"/>
    <p:sldId id="308" r:id="rId53"/>
    <p:sldId id="309" r:id="rId54"/>
    <p:sldId id="310" r:id="rId55"/>
    <p:sldId id="313" r:id="rId56"/>
    <p:sldId id="314" r:id="rId57"/>
    <p:sldId id="316" r:id="rId58"/>
    <p:sldId id="315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5" r:id="rId75"/>
    <p:sldId id="336" r:id="rId76"/>
    <p:sldId id="337" r:id="rId77"/>
    <p:sldId id="332" r:id="rId78"/>
    <p:sldId id="333" r:id="rId79"/>
    <p:sldId id="334" r:id="rId8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9"/>
    <p:restoredTop sz="94686"/>
  </p:normalViewPr>
  <p:slideViewPr>
    <p:cSldViewPr snapToGrid="0" snapToObjects="1">
      <p:cViewPr varScale="1">
        <p:scale>
          <a:sx n="70" d="100"/>
          <a:sy n="70" d="100"/>
        </p:scale>
        <p:origin x="232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22433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191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get</a:t>
            </a:r>
          </a:p>
          <a:p>
            <a:r>
              <a:rPr lang="en-CN" dirty="0"/>
              <a:t>间接层</a:t>
            </a:r>
          </a:p>
        </p:txBody>
      </p:sp>
    </p:spTree>
    <p:extLst>
      <p:ext uri="{BB962C8B-B14F-4D97-AF65-F5344CB8AC3E}">
        <p14:creationId xmlns:p14="http://schemas.microsoft.com/office/powerpoint/2010/main" val="235955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337072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将旧函数变成一个单纯的委托函数（</a:t>
            </a:r>
            <a:r>
              <a:rPr 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delegating method），</a:t>
            </a:r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或是将旧函数完全移除。</a:t>
            </a:r>
            <a:endParaRPr lang="en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6548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854639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class</a:t>
            </a:r>
            <a:r>
              <a:rPr lang="zh-CN" altLang="en-US" dirty="0"/>
              <a:t> 是</a:t>
            </a:r>
            <a:r>
              <a:rPr lang="en-CN" dirty="0"/>
              <a:t>对事物的抽象</a:t>
            </a:r>
          </a:p>
        </p:txBody>
      </p:sp>
    </p:spTree>
    <p:extLst>
      <p:ext uri="{BB962C8B-B14F-4D97-AF65-F5344CB8AC3E}">
        <p14:creationId xmlns:p14="http://schemas.microsoft.com/office/powerpoint/2010/main" val="2519301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MVC = View -&gt; Controller -&gt; Model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30558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MVC = View -&gt; Model,View -&gt;Controller</a:t>
            </a:r>
          </a:p>
        </p:txBody>
      </p:sp>
    </p:spTree>
    <p:extLst>
      <p:ext uri="{BB962C8B-B14F-4D97-AF65-F5344CB8AC3E}">
        <p14:creationId xmlns:p14="http://schemas.microsoft.com/office/powerpoint/2010/main" val="328650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MVC = View -&gt; Model,View -&gt;Controller</a:t>
            </a:r>
          </a:p>
        </p:txBody>
      </p:sp>
    </p:spTree>
    <p:extLst>
      <p:ext uri="{BB962C8B-B14F-4D97-AF65-F5344CB8AC3E}">
        <p14:creationId xmlns:p14="http://schemas.microsoft.com/office/powerpoint/2010/main" val="1677105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区号</a:t>
            </a:r>
            <a:r>
              <a:rPr lang="zh-CN" altLang="en-US" dirty="0"/>
              <a:t>，电话号码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2432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value objects : </a:t>
            </a:r>
            <a:r>
              <a:rPr lang="en-US" sz="2200" b="0" i="0" dirty="0" err="1">
                <a:effectLst/>
                <a:latin typeface="+mn-lt"/>
                <a:ea typeface="+mn-ea"/>
                <a:cs typeface="+mn-cs"/>
                <a:sym typeface="Helvetica Neue"/>
              </a:rPr>
              <a:t>内容相同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，实例不同</a:t>
            </a:r>
            <a:endParaRPr lang="en-US" sz="2200" b="0" i="0" dirty="0">
              <a:effectLst/>
              <a:latin typeface="+mn-lt"/>
              <a:ea typeface="+mn-ea"/>
              <a:cs typeface="+mn-cs"/>
              <a:sym typeface="Helvetica Neue"/>
            </a:endParaRPr>
          </a:p>
          <a:p>
            <a:r>
              <a:rPr 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reference object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：</a:t>
            </a:r>
            <a:r>
              <a:rPr lang="en-US" sz="2200" b="0" i="0" dirty="0" err="1">
                <a:effectLst/>
                <a:latin typeface="+mn-lt"/>
                <a:ea typeface="+mn-ea"/>
                <a:cs typeface="+mn-cs"/>
                <a:sym typeface="Helvetica Neue"/>
              </a:rPr>
              <a:t>内容相同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/>
              </a:rPr>
              <a:t>，实例同</a:t>
            </a:r>
            <a:endParaRPr lang="en-CN" dirty="0"/>
          </a:p>
          <a:p>
            <a:r>
              <a:rPr lang="en-CN" dirty="0"/>
              <a:t>京东app</a:t>
            </a:r>
            <a:r>
              <a:rPr lang="zh-CN" altLang="en-US" dirty="0"/>
              <a:t>： 订单  </a:t>
            </a:r>
            <a:r>
              <a:rPr lang="en-US" altLang="zh-CN" dirty="0"/>
              <a:t>---&gt;</a:t>
            </a:r>
            <a:r>
              <a:rPr lang="zh-CN" altLang="en-US" dirty="0"/>
              <a:t> 收件人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47103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30029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92461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份数据，不同 </a:t>
            </a:r>
            <a:r>
              <a:rPr lang="en-US" altLang="zh-CN" dirty="0"/>
              <a:t>UI</a:t>
            </a:r>
            <a:r>
              <a:rPr lang="zh-CN" altLang="en-US" dirty="0"/>
              <a:t>。</a:t>
            </a:r>
            <a:r>
              <a:rPr lang="en-US" altLang="zh-CN" dirty="0"/>
              <a:t>(1) Observable (2) </a:t>
            </a:r>
            <a:r>
              <a:rPr lang="zh-CN" altLang="en-US" dirty="0"/>
              <a:t>事件监听 （</a:t>
            </a:r>
            <a:r>
              <a:rPr lang="en-US" altLang="zh-CN" dirty="0"/>
              <a:t>3</a:t>
            </a:r>
            <a:r>
              <a:rPr lang="zh-CN" altLang="en-US" dirty="0"/>
              <a:t>）广播 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Event</a:t>
            </a:r>
            <a:r>
              <a:rPr lang="zh-CN" altLang="en-US" dirty="0"/>
              <a:t> </a:t>
            </a:r>
            <a:r>
              <a:rPr lang="en-US" altLang="zh-CN" dirty="0"/>
              <a:t>Bus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8550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viewgroup , child view</a:t>
            </a:r>
          </a:p>
        </p:txBody>
      </p:sp>
    </p:spTree>
    <p:extLst>
      <p:ext uri="{BB962C8B-B14F-4D97-AF65-F5344CB8AC3E}">
        <p14:creationId xmlns:p14="http://schemas.microsoft.com/office/powerpoint/2010/main" val="1645108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65674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13743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347413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49760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3447763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修改前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修改后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56879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186408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592475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499838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389813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code 9_3</a:t>
            </a:r>
          </a:p>
        </p:txBody>
      </p:sp>
    </p:spTree>
    <p:extLst>
      <p:ext uri="{BB962C8B-B14F-4D97-AF65-F5344CB8AC3E}">
        <p14:creationId xmlns:p14="http://schemas.microsoft.com/office/powerpoint/2010/main" val="35015597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  <a:p>
            <a:r>
              <a:rPr lang="en-CN" dirty="0"/>
              <a:t> 卫语句</a:t>
            </a:r>
            <a:r>
              <a:rPr lang="zh-CN" altLang="en-US" dirty="0"/>
              <a:t>：</a:t>
            </a:r>
            <a:r>
              <a:rPr lang="en-US" altLang="zh-CN" dirty="0"/>
              <a:t>return</a:t>
            </a:r>
            <a:r>
              <a:rPr lang="zh-CN" altLang="en-US" dirty="0"/>
              <a:t> 语句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704441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Null Object </a:t>
            </a:r>
            <a:r>
              <a:rPr lang="zh-CN" altLang="en-US" dirty="0"/>
              <a:t>模式” </a:t>
            </a:r>
            <a:r>
              <a:rPr lang="en-US" altLang="zh-CN" dirty="0"/>
              <a:t>: </a:t>
            </a:r>
            <a:r>
              <a:rPr lang="en-US" dirty="0" err="1"/>
              <a:t>NullCustomer</a:t>
            </a:r>
            <a:endParaRPr lang="en-US" dirty="0"/>
          </a:p>
          <a:p>
            <a:pPr marL="0" marR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Special Case </a:t>
            </a:r>
            <a:r>
              <a:rPr lang="zh-CN" altLang="en-US" dirty="0"/>
              <a:t>模式 </a:t>
            </a:r>
            <a:r>
              <a:rPr lang="en-US" altLang="zh-CN" dirty="0"/>
              <a:t>: </a:t>
            </a:r>
            <a:r>
              <a:rPr lang="en-US" dirty="0" err="1"/>
              <a:t>NullCustomer</a:t>
            </a:r>
            <a:r>
              <a:rPr lang="en-US" dirty="0"/>
              <a:t>, </a:t>
            </a:r>
            <a:r>
              <a:rPr lang="en-US" dirty="0" err="1"/>
              <a:t>UnknowCustomer</a:t>
            </a:r>
            <a:r>
              <a:rPr lang="en-US" dirty="0"/>
              <a:t>, </a:t>
            </a:r>
            <a:r>
              <a:rPr lang="en-US" dirty="0" err="1"/>
              <a:t>NoCustomer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228210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en-US" dirty="0"/>
            </a:b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808043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C9_8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使用断言，而不是注释。当某个条件为真时，这段代码才能正常运行。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613745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</a:t>
            </a:r>
          </a:p>
        </p:txBody>
      </p:sp>
    </p:spTree>
    <p:extLst>
      <p:ext uri="{BB962C8B-B14F-4D97-AF65-F5344CB8AC3E}">
        <p14:creationId xmlns:p14="http://schemas.microsoft.com/office/powerpoint/2010/main" val="22027929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162941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误用</a:t>
            </a:r>
            <a:r>
              <a:rPr lang="en-US" altLang="zh-CN" dirty="0"/>
              <a:t>/</a:t>
            </a:r>
            <a:r>
              <a:rPr lang="zh-CN" altLang="en-US" dirty="0"/>
              <a:t>传递固定值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515842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c10_4</a:t>
            </a:r>
          </a:p>
          <a:p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规则：任何有返回值的函数，都不应该有看得到的副作用。 </a:t>
            </a:r>
          </a:p>
          <a:p>
            <a:r>
              <a:rPr lang="zh-CN" altLang="en-US" sz="2200" b="0" dirty="0">
                <a:effectLst/>
                <a:latin typeface="+mn-lt"/>
                <a:ea typeface="+mn-ea"/>
                <a:cs typeface="+mn-cs"/>
                <a:sym typeface="Helvetica Neue"/>
              </a:rPr>
              <a:t>并不绝对遵守，但总是尽量遵守。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759913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c10_5</a:t>
            </a:r>
          </a:p>
        </p:txBody>
      </p:sp>
    </p:spTree>
    <p:extLst>
      <p:ext uri="{BB962C8B-B14F-4D97-AF65-F5344CB8AC3E}">
        <p14:creationId xmlns:p14="http://schemas.microsoft.com/office/powerpoint/2010/main" val="5417971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c10_5</a:t>
            </a:r>
          </a:p>
        </p:txBody>
      </p:sp>
    </p:spTree>
    <p:extLst>
      <p:ext uri="{BB962C8B-B14F-4D97-AF65-F5344CB8AC3E}">
        <p14:creationId xmlns:p14="http://schemas.microsoft.com/office/powerpoint/2010/main" val="14030434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c10_7</a:t>
            </a:r>
          </a:p>
        </p:txBody>
      </p:sp>
    </p:spTree>
    <p:extLst>
      <p:ext uri="{BB962C8B-B14F-4D97-AF65-F5344CB8AC3E}">
        <p14:creationId xmlns:p14="http://schemas.microsoft.com/office/powerpoint/2010/main" val="29709553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c10_9</a:t>
            </a:r>
          </a:p>
        </p:txBody>
      </p:sp>
    </p:spTree>
    <p:extLst>
      <p:ext uri="{BB962C8B-B14F-4D97-AF65-F5344CB8AC3E}">
        <p14:creationId xmlns:p14="http://schemas.microsoft.com/office/powerpoint/2010/main" val="20469333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c10_10</a:t>
            </a:r>
          </a:p>
        </p:txBody>
      </p:sp>
    </p:spTree>
    <p:extLst>
      <p:ext uri="{BB962C8B-B14F-4D97-AF65-F5344CB8AC3E}">
        <p14:creationId xmlns:p14="http://schemas.microsoft.com/office/powerpoint/2010/main" val="16615346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c10_11</a:t>
            </a:r>
          </a:p>
        </p:txBody>
      </p:sp>
    </p:spTree>
    <p:extLst>
      <p:ext uri="{BB962C8B-B14F-4D97-AF65-F5344CB8AC3E}">
        <p14:creationId xmlns:p14="http://schemas.microsoft.com/office/powerpoint/2010/main" val="18578001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</a:t>
            </a:r>
            <a:r>
              <a:rPr lang="en-US" altLang="zh-CN" dirty="0"/>
              <a:t>4</a:t>
            </a:r>
          </a:p>
          <a:p>
            <a:r>
              <a:rPr lang="en-CN" dirty="0"/>
              <a:t>pulished</a:t>
            </a:r>
            <a:r>
              <a:rPr lang="zh-CN" altLang="en-US" dirty="0"/>
              <a:t> 函数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CN" dirty="0"/>
              <a:t>意料之外的错误</a:t>
            </a:r>
          </a:p>
        </p:txBody>
      </p:sp>
    </p:spTree>
    <p:extLst>
      <p:ext uri="{BB962C8B-B14F-4D97-AF65-F5344CB8AC3E}">
        <p14:creationId xmlns:p14="http://schemas.microsoft.com/office/powerpoint/2010/main" val="39825319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c10_1</a:t>
            </a:r>
            <a:r>
              <a:rPr lang="en-US" altLang="zh-CN" dirty="0"/>
              <a:t>4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能意料的错误</a:t>
            </a:r>
          </a:p>
          <a:p>
            <a:endParaRPr lang="en-US" altLang="zh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8534124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c11_1</a:t>
            </a:r>
          </a:p>
        </p:txBody>
      </p:sp>
    </p:spTree>
    <p:extLst>
      <p:ext uri="{BB962C8B-B14F-4D97-AF65-F5344CB8AC3E}">
        <p14:creationId xmlns:p14="http://schemas.microsoft.com/office/powerpoint/2010/main" val="31768818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c11_2</a:t>
            </a:r>
          </a:p>
        </p:txBody>
      </p:sp>
    </p:spTree>
    <p:extLst>
      <p:ext uri="{BB962C8B-B14F-4D97-AF65-F5344CB8AC3E}">
        <p14:creationId xmlns:p14="http://schemas.microsoft.com/office/powerpoint/2010/main" val="37447779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c11_3</a:t>
            </a:r>
          </a:p>
        </p:txBody>
      </p:sp>
    </p:spTree>
    <p:extLst>
      <p:ext uri="{BB962C8B-B14F-4D97-AF65-F5344CB8AC3E}">
        <p14:creationId xmlns:p14="http://schemas.microsoft.com/office/powerpoint/2010/main" val="7873216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c11_4</a:t>
            </a:r>
          </a:p>
        </p:txBody>
      </p:sp>
    </p:spTree>
    <p:extLst>
      <p:ext uri="{BB962C8B-B14F-4D97-AF65-F5344CB8AC3E}">
        <p14:creationId xmlns:p14="http://schemas.microsoft.com/office/powerpoint/2010/main" val="40153149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c11_5</a:t>
            </a:r>
          </a:p>
        </p:txBody>
      </p:sp>
    </p:spTree>
    <p:extLst>
      <p:ext uri="{BB962C8B-B14F-4D97-AF65-F5344CB8AC3E}">
        <p14:creationId xmlns:p14="http://schemas.microsoft.com/office/powerpoint/2010/main" val="4509696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c11_6</a:t>
            </a:r>
          </a:p>
        </p:txBody>
      </p:sp>
    </p:spTree>
    <p:extLst>
      <p:ext uri="{BB962C8B-B14F-4D97-AF65-F5344CB8AC3E}">
        <p14:creationId xmlns:p14="http://schemas.microsoft.com/office/powerpoint/2010/main" val="290650263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c11_7</a:t>
            </a:r>
          </a:p>
        </p:txBody>
      </p:sp>
    </p:spTree>
    <p:extLst>
      <p:ext uri="{BB962C8B-B14F-4D97-AF65-F5344CB8AC3E}">
        <p14:creationId xmlns:p14="http://schemas.microsoft.com/office/powerpoint/2010/main" val="12228462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c11_8</a:t>
            </a:r>
          </a:p>
        </p:txBody>
      </p:sp>
    </p:spTree>
    <p:extLst>
      <p:ext uri="{BB962C8B-B14F-4D97-AF65-F5344CB8AC3E}">
        <p14:creationId xmlns:p14="http://schemas.microsoft.com/office/powerpoint/2010/main" val="8672281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c11_9</a:t>
            </a:r>
          </a:p>
        </p:txBody>
      </p:sp>
    </p:spTree>
    <p:extLst>
      <p:ext uri="{BB962C8B-B14F-4D97-AF65-F5344CB8AC3E}">
        <p14:creationId xmlns:p14="http://schemas.microsoft.com/office/powerpoint/2010/main" val="26378268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c11_11</a:t>
            </a:r>
          </a:p>
        </p:txBody>
      </p:sp>
    </p:spTree>
    <p:extLst>
      <p:ext uri="{BB962C8B-B14F-4D97-AF65-F5344CB8AC3E}">
        <p14:creationId xmlns:p14="http://schemas.microsoft.com/office/powerpoint/2010/main" val="15418006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c11_1</a:t>
            </a:r>
            <a:r>
              <a:rPr lang="en-US" altLang="zh-CN" dirty="0"/>
              <a:t>2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22541713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12_1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179210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12_2</a:t>
            </a:r>
          </a:p>
        </p:txBody>
      </p:sp>
    </p:spTree>
    <p:extLst>
      <p:ext uri="{BB962C8B-B14F-4D97-AF65-F5344CB8AC3E}">
        <p14:creationId xmlns:p14="http://schemas.microsoft.com/office/powerpoint/2010/main" val="26668869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12_3</a:t>
            </a:r>
          </a:p>
        </p:txBody>
      </p:sp>
    </p:spTree>
    <p:extLst>
      <p:ext uri="{BB962C8B-B14F-4D97-AF65-F5344CB8AC3E}">
        <p14:creationId xmlns:p14="http://schemas.microsoft.com/office/powerpoint/2010/main" val="132649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ingVickyCao/Refactoring" TargetMode="External"/><Relationship Id="rId2" Type="http://schemas.openxmlformats.org/officeDocument/2006/relationships/hyperlink" Target="https://www.kancloud.cn/sstd521/refactor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YingVickyCao/YingVickyCao.github.io/blob/master/books/Refactoring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Vicky, 2021/5/17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r>
              <a:t>Vicky, 2021/5/17</a:t>
            </a:r>
          </a:p>
        </p:txBody>
      </p:sp>
      <p:sp>
        <p:nvSpPr>
          <p:cNvPr id="152" name="Refactoring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Refactoring</a:t>
            </a:r>
          </a:p>
        </p:txBody>
      </p:sp>
      <p:sp>
        <p:nvSpPr>
          <p:cNvPr id="153" name="Improve the design of existing code 【Martin  Flower】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2060"/>
                </a:solidFill>
              </a:rPr>
              <a:t>Improve the design of existing code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sz="4000" dirty="0"/>
              <a:t>by Martin  Flower</a:t>
            </a:r>
          </a:p>
        </p:txBody>
      </p:sp>
      <p:sp>
        <p:nvSpPr>
          <p:cNvPr id="154" name="Session part 2"/>
          <p:cNvSpPr txBox="1"/>
          <p:nvPr/>
        </p:nvSpPr>
        <p:spPr>
          <a:xfrm>
            <a:off x="18378928" y="6397878"/>
            <a:ext cx="4603561" cy="920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>
                <a:solidFill>
                  <a:srgbClr val="000000"/>
                </a:solidFill>
              </a:defRPr>
            </a:lvl1pPr>
          </a:lstStyle>
          <a:p>
            <a:r>
              <a:rPr dirty="0"/>
              <a:t>Session part 2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Ref</a:t>
            </a:r>
            <a:endParaRPr dirty="0"/>
          </a:p>
        </p:txBody>
      </p:sp>
      <p:sp>
        <p:nvSpPr>
          <p:cNvPr id="163" name="Slide bullet text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/>
          <a:lstStyle/>
          <a:p>
            <a:r>
              <a:rPr lang="en-US" altLang="zh-CN" sz="3200" dirty="0"/>
              <a:t>Online book : </a:t>
            </a:r>
            <a:r>
              <a:rPr lang="en-US" altLang="zh-CN" sz="3200" dirty="0">
                <a:hlinkClick r:id="rId2"/>
              </a:rPr>
              <a:t>https://www.kancloud.cn/sstd521/refactor/</a:t>
            </a:r>
            <a:endParaRPr lang="en-US" altLang="zh-CN" sz="3200" dirty="0"/>
          </a:p>
          <a:p>
            <a:r>
              <a:rPr lang="en-US" altLang="zh-CN" sz="3200" dirty="0"/>
              <a:t>Code : </a:t>
            </a:r>
            <a:r>
              <a:rPr lang="en-US" altLang="zh-CN" sz="3200" dirty="0">
                <a:hlinkClick r:id="rId3"/>
              </a:rPr>
              <a:t>https://github.com/YingVickyCao/Refactoring</a:t>
            </a:r>
            <a:endParaRPr lang="en-US" altLang="zh-CN" sz="3200" dirty="0"/>
          </a:p>
          <a:p>
            <a:r>
              <a:rPr lang="en-US" altLang="zh-CN" sz="3200" dirty="0"/>
              <a:t>Book memo : </a:t>
            </a:r>
            <a:r>
              <a:rPr lang="en-US" altLang="zh-CN" sz="3200" dirty="0">
                <a:hlinkClick r:id="rId4"/>
              </a:rPr>
              <a:t>https://github.com/YingVickyCao/YingVickyCao.github.io/blob/master/books/Refactoring/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610068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QA</a:t>
            </a:r>
            <a:endParaRPr dirty="0"/>
          </a:p>
        </p:txBody>
      </p:sp>
      <p:sp>
        <p:nvSpPr>
          <p:cNvPr id="163" name="Slide bullet text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/>
          <a:lstStyle/>
          <a:p>
            <a:r>
              <a:rPr lang="en-CN" dirty="0"/>
              <a:t>重构适合JS吗</a:t>
            </a:r>
            <a:r>
              <a:rPr lang="zh-CN" altLang="en-US" dirty="0"/>
              <a:t>？任何语言</a:t>
            </a:r>
            <a:endParaRPr lang="en-US" altLang="zh-CN" dirty="0"/>
          </a:p>
          <a:p>
            <a:r>
              <a:rPr lang="zh-CN" altLang="en-US" dirty="0"/>
              <a:t>如何检测是否引入了新</a:t>
            </a:r>
            <a:r>
              <a:rPr lang="en-US" altLang="zh-CN" dirty="0"/>
              <a:t>bug</a:t>
            </a:r>
            <a:r>
              <a:rPr lang="zh-CN" altLang="en-US" dirty="0"/>
              <a:t>？ </a:t>
            </a:r>
            <a:r>
              <a:rPr lang="en-US" altLang="zh-CN" sz="3200" dirty="0"/>
              <a:t>Unit Test , UI Test</a:t>
            </a:r>
          </a:p>
          <a:p>
            <a:r>
              <a:rPr lang="zh-CN" altLang="en-US" dirty="0"/>
              <a:t>重构有哪些方法？</a:t>
            </a:r>
            <a:r>
              <a:rPr lang="zh-CN" altLang="en-US" sz="3200" dirty="0"/>
              <a:t>经验</a:t>
            </a:r>
            <a:endParaRPr lang="en-US" altLang="zh-CN" sz="3200" dirty="0"/>
          </a:p>
          <a:p>
            <a:r>
              <a:rPr lang="en-US" altLang="zh-CN" dirty="0"/>
              <a:t>When</a:t>
            </a:r>
            <a:r>
              <a:rPr lang="zh-CN" altLang="en-US" dirty="0"/>
              <a:t> 重构？</a:t>
            </a:r>
            <a:r>
              <a:rPr lang="zh-CN" altLang="en-US" sz="3200" dirty="0"/>
              <a:t>时间</a:t>
            </a:r>
            <a:endParaRPr lang="en-US" altLang="zh-CN" sz="3200" dirty="0"/>
          </a:p>
          <a:p>
            <a:r>
              <a:rPr lang="en-US" altLang="zh-CN" dirty="0"/>
              <a:t>When</a:t>
            </a:r>
            <a:r>
              <a:rPr lang="zh-CN" altLang="en-US" dirty="0"/>
              <a:t> 需要重构？</a:t>
            </a:r>
            <a:r>
              <a:rPr lang="zh-CN" altLang="en-US" sz="3200" dirty="0"/>
              <a:t>可读性</a:t>
            </a:r>
            <a:r>
              <a:rPr lang="en-US" altLang="zh-CN" sz="3200" dirty="0"/>
              <a:t>/</a:t>
            </a:r>
            <a:r>
              <a:rPr lang="zh-CN" altLang="en-US" sz="3200" dirty="0"/>
              <a:t>读代码</a:t>
            </a:r>
            <a:r>
              <a:rPr lang="en-US" altLang="zh-CN" sz="3200" dirty="0"/>
              <a:t>/</a:t>
            </a:r>
            <a:r>
              <a:rPr lang="zh-CN" altLang="en-US" sz="3200" dirty="0"/>
              <a:t>难以扩展</a:t>
            </a:r>
            <a:endParaRPr lang="en-US" altLang="zh-CN" sz="3200" dirty="0"/>
          </a:p>
          <a:p>
            <a:endParaRPr lang="en-US" altLang="zh-CN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34558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工具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z="7480" spc="-149"/>
            </a:lvl1pPr>
          </a:lstStyle>
          <a:p>
            <a:r>
              <a:rPr dirty="0" err="1"/>
              <a:t>工具</a:t>
            </a:r>
            <a:endParaRPr dirty="0"/>
          </a:p>
        </p:txBody>
      </p:sp>
      <p:sp>
        <p:nvSpPr>
          <p:cNvPr id="157" name="自动化提示工具：IDEA Lint…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 err="1"/>
              <a:t>自动化提示工具</a:t>
            </a:r>
            <a:r>
              <a:rPr lang="zh-CN" altLang="en-US" dirty="0"/>
              <a:t> </a:t>
            </a:r>
            <a:r>
              <a:rPr dirty="0"/>
              <a:t>：IDEA Lint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 err="1"/>
              <a:t>自动化重构工具</a:t>
            </a:r>
            <a:r>
              <a:rPr lang="zh-CN" altLang="en-US" dirty="0"/>
              <a:t> </a:t>
            </a:r>
            <a:r>
              <a:rPr dirty="0"/>
              <a:t>：IDEA -&gt; Refactor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 err="1"/>
              <a:t>两顶帽子</a:t>
            </a:r>
            <a:r>
              <a:rPr lang="zh-CN" altLang="en-US" dirty="0"/>
              <a:t> </a:t>
            </a:r>
            <a:r>
              <a:rPr dirty="0"/>
              <a:t>：Modify / Refactoring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Diff tool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Unit Test : assert, most important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UI Test : </a:t>
            </a:r>
            <a:r>
              <a:rPr dirty="0" err="1"/>
              <a:t>边界条件</a:t>
            </a:r>
            <a:r>
              <a:rPr lang="zh-CN" altLang="en-US" dirty="0"/>
              <a:t> </a:t>
            </a:r>
            <a:r>
              <a:rPr dirty="0"/>
              <a:t>, all </a:t>
            </a:r>
            <a:r>
              <a:rPr lang="en-US" dirty="0"/>
              <a:t>c</a:t>
            </a:r>
            <a:r>
              <a:rPr dirty="0"/>
              <a:t>ases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/>
              <a:t>Two refactor branch : master, current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dirty="0" err="1"/>
              <a:t>小步调重构，频繁测试</a:t>
            </a:r>
            <a:endParaRPr dirty="0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lang="zh-CN" altLang="en-US" sz="4128" dirty="0"/>
              <a:t>安全重构：控制</a:t>
            </a:r>
            <a:r>
              <a:rPr dirty="0" err="1"/>
              <a:t>节奏</a:t>
            </a:r>
            <a:r>
              <a:rPr lang="zh-CN" altLang="en-US" dirty="0"/>
              <a:t>（</a:t>
            </a:r>
            <a:r>
              <a:rPr dirty="0" err="1"/>
              <a:t>小目标，开始</a:t>
            </a:r>
            <a:r>
              <a:rPr dirty="0"/>
              <a:t>, </a:t>
            </a:r>
            <a:r>
              <a:rPr dirty="0" err="1"/>
              <a:t>前进</a:t>
            </a:r>
            <a:r>
              <a:rPr dirty="0"/>
              <a:t> / </a:t>
            </a:r>
            <a:r>
              <a:rPr dirty="0" err="1"/>
              <a:t>停止，等待</a:t>
            </a:r>
            <a:r>
              <a:rPr dirty="0"/>
              <a:t>， </a:t>
            </a:r>
            <a:r>
              <a:rPr dirty="0" err="1"/>
              <a:t>集成</a:t>
            </a:r>
            <a:r>
              <a:rPr dirty="0"/>
              <a:t> / </a:t>
            </a:r>
            <a:r>
              <a:rPr lang="en-CN" dirty="0"/>
              <a:t>撤销</a:t>
            </a:r>
            <a:r>
              <a:rPr lang="zh-CN" altLang="en-US" dirty="0"/>
              <a:t>）</a:t>
            </a:r>
            <a:endParaRPr lang="en-US" altLang="zh-CN" dirty="0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lang="zh-CN" altLang="en-US" dirty="0"/>
              <a:t>代码复审</a:t>
            </a:r>
            <a:endParaRPr lang="en-US" altLang="zh-CN" dirty="0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lang="en-CN" dirty="0"/>
              <a:t>结对重构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重构与性能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z="7480" spc="-149"/>
            </a:lvl1pPr>
          </a:lstStyle>
          <a:p>
            <a:r>
              <a:t>重构与性能</a:t>
            </a:r>
          </a:p>
        </p:txBody>
      </p:sp>
      <p:sp>
        <p:nvSpPr>
          <p:cNvPr id="160" name="多数重构提高性能，少数反而降低性能…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/>
          <a:lstStyle/>
          <a:p>
            <a:r>
              <a:t>多数重构提高性能，少数反而降低性能</a:t>
            </a:r>
          </a:p>
          <a:p>
            <a:r>
              <a:t>重构能使得性能提高更容易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CN" dirty="0"/>
              <a:t>难题</a:t>
            </a:r>
            <a:endParaRPr dirty="0"/>
          </a:p>
        </p:txBody>
      </p:sp>
      <p:sp>
        <p:nvSpPr>
          <p:cNvPr id="163" name="Slide bullet text"/>
          <p:cNvSpPr txBox="1">
            <a:spLocks noGrp="1"/>
          </p:cNvSpPr>
          <p:nvPr>
            <p:ph type="body" idx="1"/>
          </p:nvPr>
        </p:nvSpPr>
        <p:spPr>
          <a:xfrm>
            <a:off x="1206500" y="2642464"/>
            <a:ext cx="21971000" cy="986205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CN" dirty="0"/>
              <a:t>数据库</a:t>
            </a:r>
          </a:p>
          <a:p>
            <a:r>
              <a:rPr lang="en-CN" dirty="0"/>
              <a:t>pulished</a:t>
            </a:r>
            <a:r>
              <a:rPr lang="zh-CN" altLang="en-US" dirty="0"/>
              <a:t> 接口</a:t>
            </a:r>
            <a:endParaRPr lang="en-US" altLang="zh-CN" dirty="0"/>
          </a:p>
          <a:p>
            <a:r>
              <a:rPr lang="en-CN" dirty="0"/>
              <a:t>适合</a:t>
            </a:r>
            <a:r>
              <a:rPr lang="zh-CN" altLang="en-US" dirty="0"/>
              <a:t>“单进程”软件，不适合并发和</a:t>
            </a:r>
            <a:r>
              <a:rPr lang="zh-CN" altLang="en-CN" dirty="0"/>
              <a:t>分布式</a:t>
            </a:r>
            <a:r>
              <a:rPr lang="zh-CN" altLang="en-US" dirty="0"/>
              <a:t>程序设计。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   它们需要不同的重构技术。</a:t>
            </a:r>
            <a:endParaRPr lang="en-US" altLang="zh-CN" sz="2400" dirty="0"/>
          </a:p>
          <a:p>
            <a:r>
              <a:rPr lang="en-CN" dirty="0"/>
              <a:t>反射</a:t>
            </a:r>
          </a:p>
          <a:p>
            <a:r>
              <a:rPr lang="en-CN" dirty="0"/>
              <a:t>如何设计代码结构</a:t>
            </a:r>
            <a:r>
              <a:rPr lang="zh-CN" altLang="en-US" dirty="0"/>
              <a:t>，能做到尽量少或不重构？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    </a:t>
            </a:r>
            <a:r>
              <a:rPr lang="en-CN" sz="2400" dirty="0"/>
              <a:t>不能</a:t>
            </a:r>
            <a:r>
              <a:rPr lang="zh-CN" altLang="en-US" sz="2400" dirty="0"/>
              <a:t>。 模块划分。</a:t>
            </a:r>
            <a:endParaRPr lang="en-CN" sz="2400" dirty="0"/>
          </a:p>
          <a:p>
            <a:r>
              <a:rPr lang="en-CN" dirty="0"/>
              <a:t>大型重构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        分步调重构 </a:t>
            </a:r>
            <a:r>
              <a:rPr lang="en-US" altLang="zh-CN" sz="2400" dirty="0"/>
              <a:t>&amp;&amp;</a:t>
            </a:r>
            <a:r>
              <a:rPr lang="zh-CN" altLang="en-US" sz="2400" dirty="0"/>
              <a:t> 集成代码  </a:t>
            </a:r>
            <a:r>
              <a:rPr lang="en-US" altLang="zh-CN" sz="2400" dirty="0"/>
              <a:t>/</a:t>
            </a:r>
            <a:r>
              <a:rPr lang="zh-CN" altLang="en-US" sz="2400" dirty="0"/>
              <a:t> 频繁同步代码 </a:t>
            </a:r>
            <a:r>
              <a:rPr lang="en-US" altLang="zh-CN" sz="2400" dirty="0"/>
              <a:t>&amp;&amp;</a:t>
            </a:r>
            <a:r>
              <a:rPr lang="zh-CN" altLang="en-US" sz="2400" dirty="0"/>
              <a:t> 手工</a:t>
            </a:r>
            <a:r>
              <a:rPr lang="en-US" altLang="zh-CN" sz="2400" dirty="0"/>
              <a:t>merge</a:t>
            </a:r>
            <a:endParaRPr sz="24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Extract Method 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994527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CN" sz="6000" dirty="0">
                <a:solidFill>
                  <a:schemeClr val="bg2">
                    <a:lumMod val="10000"/>
                  </a:schemeClr>
                </a:solidFill>
              </a:rPr>
              <a:t>Inline method</a:t>
            </a: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6435084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Inline Temp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8160074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Replace Temp with Query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>
                <a:solidFill>
                  <a:schemeClr val="bg2">
                    <a:lumMod val="10000"/>
                  </a:schemeClr>
                </a:solidFill>
              </a:rPr>
              <a:t>code</a:t>
            </a:r>
            <a:r>
              <a:rPr lang="zh-CN" altLang="en-US" sz="4000" dirty="0">
                <a:solidFill>
                  <a:schemeClr val="bg2">
                    <a:lumMod val="10000"/>
                  </a:schemeClr>
                </a:solidFill>
              </a:rPr>
              <a:t>：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 C</a:t>
            </a:r>
            <a:r>
              <a:rPr lang="en-CN" sz="4000" dirty="0">
                <a:solidFill>
                  <a:schemeClr val="bg2">
                    <a:lumMod val="10000"/>
                  </a:schemeClr>
                </a:solidFill>
              </a:rPr>
              <a:t>6_4</a:t>
            </a:r>
          </a:p>
        </p:txBody>
      </p:sp>
    </p:spTree>
    <p:extLst>
      <p:ext uri="{BB962C8B-B14F-4D97-AF65-F5344CB8AC3E}">
        <p14:creationId xmlns:p14="http://schemas.microsoft.com/office/powerpoint/2010/main" val="2573720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Introduce Explain Variable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708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Remove Assignments to Parameter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9018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Split Temporary Variable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56768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Replace Method with Method Object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N" sz="4000" dirty="0">
                <a:solidFill>
                  <a:schemeClr val="bg2">
                    <a:lumMod val="10000"/>
                  </a:schemeClr>
                </a:solidFill>
              </a:rPr>
              <a:t>code</a:t>
            </a:r>
            <a:r>
              <a:rPr lang="zh-CN" altLang="en-US" sz="4000" dirty="0">
                <a:solidFill>
                  <a:schemeClr val="bg2">
                    <a:lumMod val="10000"/>
                  </a:schemeClr>
                </a:solidFill>
              </a:rPr>
              <a:t> ： 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</a:rPr>
              <a:t>C</a:t>
            </a:r>
            <a:r>
              <a:rPr lang="en-CN" sz="4000" dirty="0">
                <a:solidFill>
                  <a:schemeClr val="bg2">
                    <a:lumMod val="10000"/>
                  </a:schemeClr>
                </a:solidFill>
              </a:rPr>
              <a:t>6_</a:t>
            </a:r>
            <a:r>
              <a:rPr lang="en-US" altLang="zh-CN" sz="4000" dirty="0">
                <a:solidFill>
                  <a:schemeClr val="bg2">
                    <a:lumMod val="10000"/>
                  </a:schemeClr>
                </a:solidFill>
              </a:rPr>
              <a:t>8</a:t>
            </a:r>
            <a:endParaRPr lang="en-CN" sz="4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9787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E8C-85AD-6744-9D19-B103888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组织函数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6C14-5193-014E-BE24-E47B681F48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>
                <a:solidFill>
                  <a:schemeClr val="bg2">
                    <a:lumMod val="10000"/>
                  </a:schemeClr>
                </a:solidFill>
              </a:rPr>
              <a:t>Substitute Algorithm</a:t>
            </a:r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sz="6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06082-2419-4843-8A57-E77473F60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C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06295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96DE-AEDE-7048-AAF2-CB63DD57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E6888-8D58-7D40-8E9A-194816B99E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Move Method</a:t>
            </a:r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524A5-FBEB-6C48-A893-66435D588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605548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96DE-AEDE-7048-AAF2-CB63DD57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E6888-8D58-7D40-8E9A-194816B99E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Move Field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524A5-FBEB-6C48-A893-66435D588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714939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96DE-AEDE-7048-AAF2-CB63DD57B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E6888-8D58-7D40-8E9A-194816B99E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 err="1"/>
              <a:t>Extact</a:t>
            </a:r>
            <a:r>
              <a:rPr lang="en-US" dirty="0"/>
              <a:t> Class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524A5-FBEB-6C48-A893-66435D588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2750911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FD3B-FE3E-2645-9DE0-3AED53F85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29567-97F1-5744-BDD4-7E8D179AC0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Inline Class</a:t>
            </a: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DB6B1-99C4-CB48-9DCD-B9B1F90EB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479096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05E-656B-164F-913B-F5612ED9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4534B-1CB0-E740-B818-615D3E14D7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Hide Delegate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FEA5F-52CB-1941-A38A-1167E63B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3547936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05E-656B-164F-913B-F5612ED9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4534B-1CB0-E740-B818-615D3E14D7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Remove Middle Man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FEA5F-52CB-1941-A38A-1167E63B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9376275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605E-656B-164F-913B-F5612ED92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在对象之间搬移特性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4534B-1CB0-E740-B818-615D3E14D7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Introduce </a:t>
            </a:r>
            <a:r>
              <a:rPr lang="en-US" dirty="0" err="1"/>
              <a:t>Forign</a:t>
            </a:r>
            <a:r>
              <a:rPr lang="en-US" dirty="0"/>
              <a:t>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FEA5F-52CB-1941-A38A-1167E63B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N" sz="4000" dirty="0">
                <a:solidFill>
                  <a:schemeClr val="bg2">
                    <a:lumMod val="10000"/>
                  </a:schemeClr>
                </a:solidFill>
              </a:rPr>
              <a:t>code C7_7</a:t>
            </a:r>
          </a:p>
        </p:txBody>
      </p:sp>
    </p:spTree>
    <p:extLst>
      <p:ext uri="{BB962C8B-B14F-4D97-AF65-F5344CB8AC3E}">
        <p14:creationId xmlns:p14="http://schemas.microsoft.com/office/powerpoint/2010/main" val="265215538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Self Encapsulate Field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131297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Change Value to Reference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c8_4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0328984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Change Reference to Value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9050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Array with Object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21030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Duplicate Observed Data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50176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Change Unidirectional Association to Bidirectional</a:t>
            </a: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91109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Change Bidirectional Association to Unidirectional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19594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Magic Number with Symbolic Constant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84698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Encapsulate Field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31000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Encapsulate Collection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7596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Record with Data Class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c8_12</a:t>
            </a:r>
          </a:p>
        </p:txBody>
      </p:sp>
    </p:spTree>
    <p:extLst>
      <p:ext uri="{BB962C8B-B14F-4D97-AF65-F5344CB8AC3E}">
        <p14:creationId xmlns:p14="http://schemas.microsoft.com/office/powerpoint/2010/main" val="33146314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Type Code with Class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c8_13</a:t>
            </a:r>
          </a:p>
        </p:txBody>
      </p:sp>
    </p:spTree>
    <p:extLst>
      <p:ext uri="{BB962C8B-B14F-4D97-AF65-F5344CB8AC3E}">
        <p14:creationId xmlns:p14="http://schemas.microsoft.com/office/powerpoint/2010/main" val="389790049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Type Code with Subclasses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c8_1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4</a:t>
            </a:r>
            <a:endParaRPr lang="en-CN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47252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Type Code with State/Strategy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>
                <a:solidFill>
                  <a:schemeClr val="bg2">
                    <a:lumMod val="10000"/>
                  </a:schemeClr>
                </a:solidFill>
              </a:rPr>
              <a:t>code c8_1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5</a:t>
            </a:r>
            <a:endParaRPr lang="en-CN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62529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41BE-2AAA-FB4B-B88B-3677C23D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err="1"/>
              <a:t>重新组织数据</a:t>
            </a:r>
            <a:endParaRPr lang="en-C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88523-C1D4-874C-A491-0DBEB869AD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Subclass with Fields</a:t>
            </a:r>
            <a:endParaRPr lang="en-US" b="0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4B8C8-570C-7641-8EC7-CD6C6E58C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08704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Decompose Conditional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9_1</a:t>
            </a:r>
          </a:p>
        </p:txBody>
      </p:sp>
    </p:spTree>
    <p:extLst>
      <p:ext uri="{BB962C8B-B14F-4D97-AF65-F5344CB8AC3E}">
        <p14:creationId xmlns:p14="http://schemas.microsoft.com/office/powerpoint/2010/main" val="291420430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Consolidate Conditional Expression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9_2</a:t>
            </a:r>
          </a:p>
        </p:txBody>
      </p:sp>
    </p:spTree>
    <p:extLst>
      <p:ext uri="{BB962C8B-B14F-4D97-AF65-F5344CB8AC3E}">
        <p14:creationId xmlns:p14="http://schemas.microsoft.com/office/powerpoint/2010/main" val="1958116074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Consolidate Duplicate Conditional Fragments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40771592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Remove Control Flag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9_4</a:t>
            </a:r>
          </a:p>
        </p:txBody>
      </p:sp>
    </p:spTree>
    <p:extLst>
      <p:ext uri="{BB962C8B-B14F-4D97-AF65-F5344CB8AC3E}">
        <p14:creationId xmlns:p14="http://schemas.microsoft.com/office/powerpoint/2010/main" val="94757984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Nested Conditional with Guard Clauses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9_5</a:t>
            </a:r>
          </a:p>
        </p:txBody>
      </p:sp>
    </p:spTree>
    <p:extLst>
      <p:ext uri="{BB962C8B-B14F-4D97-AF65-F5344CB8AC3E}">
        <p14:creationId xmlns:p14="http://schemas.microsoft.com/office/powerpoint/2010/main" val="152765722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Conditional with Polymorphism</a:t>
            </a:r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9_</a:t>
            </a:r>
            <a:r>
              <a:rPr lang="en-US" altLang="zh-CN" dirty="0"/>
              <a:t>6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517547651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239E-68D8-8147-90FF-33C2FC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B7DC9-77B2-744C-B438-2E691E7C3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Introduce Null Object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E8466-91F1-304E-944B-4ABB18E04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C9_</a:t>
            </a:r>
            <a:r>
              <a:rPr lang="en-US" altLang="zh-CN" dirty="0"/>
              <a:t>7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46748742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0E20-8FC6-E74A-9B44-59487F18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条件表达式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5D785-9EBC-8548-958C-F9C1BE6819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Introduce Assertion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2DD65-757D-3944-9D88-AE1CA60D0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19699042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函数调用</a:t>
            </a:r>
            <a:br>
              <a:rPr lang="zh-CN" altLang="en-US" b="0" dirty="0">
                <a:solidFill>
                  <a:schemeClr val="accent6">
                    <a:lumMod val="75000"/>
                  </a:schemeClr>
                </a:solidFill>
              </a:rPr>
            </a:br>
            <a:endParaRPr lang="en-C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Rename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388697064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Add Parameter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0163304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Remove Parameter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83225154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Separate Query from Modifier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73925455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Parameterize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65859197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Parameter with Explicit Methods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c10_6</a:t>
            </a:r>
          </a:p>
        </p:txBody>
      </p:sp>
    </p:spTree>
    <p:extLst>
      <p:ext uri="{BB962C8B-B14F-4D97-AF65-F5344CB8AC3E}">
        <p14:creationId xmlns:p14="http://schemas.microsoft.com/office/powerpoint/2010/main" val="111493425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Preserve Whole Object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04136549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Parameter with Method</a:t>
            </a:r>
            <a:endParaRPr lang="en-US" b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c10_8</a:t>
            </a:r>
          </a:p>
        </p:txBody>
      </p:sp>
    </p:spTree>
    <p:extLst>
      <p:ext uri="{BB962C8B-B14F-4D97-AF65-F5344CB8AC3E}">
        <p14:creationId xmlns:p14="http://schemas.microsoft.com/office/powerpoint/2010/main" val="660260958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0800-EB26-1642-98C6-1EF9BD74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函数调用</a:t>
            </a:r>
            <a:br>
              <a:rPr lang="zh-CN" altLang="en-US" b="0" dirty="0"/>
            </a:b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30D1-CA38-FC43-95A9-BEA8E4EEEC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Introduce Parameter Object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0EBE6-BC75-8D41-9796-7E1F53D8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1245160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6E01A-4493-5945-BE51-F3E33779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1C809-FCDE-564B-B8FF-9068C2C9E2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Remove Setting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B96AD-FB7D-004F-8C2B-81E76DEAC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03919707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98CD-20B9-1C4B-ACA0-C104150B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AC036-CE6B-D549-BC52-FDB810E60E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Hide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E215D-7C9D-4347-8234-B6AF61CEE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23836264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6BF8-3EAB-3640-A7AB-A1EF13D9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59BA9-02F2-D042-A35F-9D948606FBE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Constructor with Factory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B495F-0507-F147-BC45-AB946FD95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c10_12</a:t>
            </a:r>
          </a:p>
        </p:txBody>
      </p:sp>
    </p:spTree>
    <p:extLst>
      <p:ext uri="{BB962C8B-B14F-4D97-AF65-F5344CB8AC3E}">
        <p14:creationId xmlns:p14="http://schemas.microsoft.com/office/powerpoint/2010/main" val="2572507927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6BF8-3EAB-3640-A7AB-A1EF13D9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59BA9-02F2-D042-A35F-9D948606FBE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Encapsulate Downcast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B495F-0507-F147-BC45-AB946FD95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c10_13</a:t>
            </a:r>
          </a:p>
        </p:txBody>
      </p:sp>
    </p:spTree>
    <p:extLst>
      <p:ext uri="{BB962C8B-B14F-4D97-AF65-F5344CB8AC3E}">
        <p14:creationId xmlns:p14="http://schemas.microsoft.com/office/powerpoint/2010/main" val="2877778723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319D-BBF2-584A-B81D-503526D2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43473-1F58-0645-A020-323ED351FC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Error Code with Exception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2A98E-2D8E-404E-A36D-C7AEC8F38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07411348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A93F-C2EA-2A4D-BB8B-57468BA0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函数调用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61DA7-A678-794C-BAE1-90743585DD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Exception with Test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65CB5-04B5-8C4F-B317-CFEB10963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79586151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AE347-7FC3-2040-8C87-C9CF4FA84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0" dirty="0">
                <a:solidFill>
                  <a:schemeClr val="accent6">
                    <a:lumMod val="75000"/>
                  </a:schemeClr>
                </a:solidFill>
              </a:rPr>
              <a:t>继承关系</a:t>
            </a:r>
            <a:endParaRPr lang="en-C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9C3CE-1486-2E4E-99FE-7376698E0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Pull Up Field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ABD5B-CD1F-5B4D-8AC3-8F5B0BC1E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2158747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EA34-813C-A944-B4D2-632776E2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34C5F-C95F-024D-BCB9-535D29605B9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Pull Up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A4F38-A1E3-C34A-942C-0DF68A5BB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21717979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76005-72FB-3049-A1CA-A6273E56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C01A8-BD16-4C46-A145-7431F36D37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Pull Up Constructor Body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29C30-7CFD-F740-A324-D6757D14C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69327286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1F9F-59B4-A64F-B427-DA8B80B6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6E0E7-C8ED-B94C-8810-08501BB650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Push Down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1DEFB-7DAF-9A45-B6D3-856EEA830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5034320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6EE1-32B1-3543-BE1B-AD5BCB03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BF8A1-FED7-F944-811D-9AFE1CC98E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Push Down Field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FDA6A-E77C-0847-8A59-ECC17ABFE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12017528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E1DE-564D-A544-9804-A73F43DF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CE7D1-7130-6849-8A6F-A21C300A20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Extract Subclass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7EF21-4333-C24A-98DC-781854620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50169494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382C-00C9-7148-92AD-A391FB579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4169E-8EFA-A84D-8795-F38CA2AB96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Extract Superclass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E0D10-F490-8E47-AB8B-FAA164F40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1192211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30C02-7E78-634E-9943-0176C496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23A50-B915-DE4F-994F-D17735ED60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Extract Interface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6194B-DF0D-CA45-9CE6-CF00B02D5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N" dirty="0"/>
              <a:t>code c11_8</a:t>
            </a:r>
          </a:p>
        </p:txBody>
      </p:sp>
    </p:spTree>
    <p:extLst>
      <p:ext uri="{BB962C8B-B14F-4D97-AF65-F5344CB8AC3E}">
        <p14:creationId xmlns:p14="http://schemas.microsoft.com/office/powerpoint/2010/main" val="750662857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4B2C-BB52-6E4B-83C9-2D86C66E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61101-4E60-B644-9BB9-73904F45DF2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Collapse Hierarchy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CA486-055D-9744-8850-9C9D19791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08880450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1592-027D-FD4F-87A9-C04667D1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7E6C4-ADD2-D74E-A2AF-74340C0480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Form Template Method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31B34-B857-1D45-92D8-79FDAEF06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code c11_10</a:t>
            </a:r>
          </a:p>
        </p:txBody>
      </p:sp>
    </p:spTree>
    <p:extLst>
      <p:ext uri="{BB962C8B-B14F-4D97-AF65-F5344CB8AC3E}">
        <p14:creationId xmlns:p14="http://schemas.microsoft.com/office/powerpoint/2010/main" val="1261492511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94CE-6D1C-4F41-AA95-96D97E21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B50C0-990E-234E-BE19-CE4E4451AEE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Inheritance with Delegation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77859-E21F-904E-B445-774B2E2CA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20042642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449D-4BDA-8C4B-BF5E-0F0AF6AFD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继承关系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DD136-B300-5849-87EF-6B0C889722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Replace Delegation with Inheritance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5A46D-C133-414D-B186-F9B10CBE0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27509418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Tease Apart Inheritance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3307742"/>
            <a:ext cx="21971000" cy="9196774"/>
          </a:xfrm>
        </p:spPr>
        <p:txBody>
          <a:bodyPr/>
          <a:lstStyle/>
          <a:p>
            <a:endParaRPr lang="en-CN" dirty="0"/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782CDEFE-5D3E-604A-AEF3-0FF46341F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2304" y="3648373"/>
            <a:ext cx="7229982" cy="1688755"/>
          </a:xfrm>
          <a:prstGeom prst="rect">
            <a:avLst/>
          </a:prstGeom>
        </p:spPr>
      </p:pic>
      <p:sp>
        <p:nvSpPr>
          <p:cNvPr id="21" name="Right Arrow 20">
            <a:extLst>
              <a:ext uri="{FF2B5EF4-FFF2-40B4-BE49-F238E27FC236}">
                <a16:creationId xmlns:a16="http://schemas.microsoft.com/office/drawing/2014/main" id="{FDB87FC0-CF10-864C-B19D-57DBCC1A02AD}"/>
              </a:ext>
            </a:extLst>
          </p:cNvPr>
          <p:cNvSpPr/>
          <p:nvPr/>
        </p:nvSpPr>
        <p:spPr>
          <a:xfrm>
            <a:off x="10040112" y="7589520"/>
            <a:ext cx="1481328" cy="237744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A79083F-3FFF-594B-91BF-067A08899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908" y="4601204"/>
            <a:ext cx="7668612" cy="69933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A061189-F8B1-5B4B-9639-872DCFA8E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9595" y="5742432"/>
            <a:ext cx="8614359" cy="587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85712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Tease Apart Inheritance</a:t>
            </a:r>
            <a:r>
              <a:rPr lang="zh-CN" altLang="en-US" dirty="0"/>
              <a:t> </a:t>
            </a:r>
            <a:r>
              <a:rPr lang="en-US" altLang="zh-CN" dirty="0"/>
              <a:t>-2</a:t>
            </a:r>
            <a:endParaRPr lang="en-US" b="0" dirty="0"/>
          </a:p>
          <a:p>
            <a:endParaRPr lang="en-C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B8BB8A-0DE4-C443-9BB5-4AC6C4A6B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386" y="4937761"/>
            <a:ext cx="10749024" cy="427939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3307742"/>
            <a:ext cx="21971000" cy="9196774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81E32297-E03E-E94B-9B07-F514A0BE8C52}"/>
              </a:ext>
            </a:extLst>
          </p:cNvPr>
          <p:cNvSpPr/>
          <p:nvPr/>
        </p:nvSpPr>
        <p:spPr>
          <a:xfrm>
            <a:off x="1353312" y="6638544"/>
            <a:ext cx="829607" cy="219456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D39F3CC-6A79-FB49-94BF-00FEF9F7CC2C}"/>
              </a:ext>
            </a:extLst>
          </p:cNvPr>
          <p:cNvSpPr/>
          <p:nvPr/>
        </p:nvSpPr>
        <p:spPr>
          <a:xfrm>
            <a:off x="11814048" y="7077456"/>
            <a:ext cx="950976" cy="274320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379BB1-C868-CB45-B785-1ACB36CBD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496" y="5305473"/>
            <a:ext cx="9547242" cy="48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08102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Tease Apart Inheritance</a:t>
            </a:r>
            <a:r>
              <a:rPr lang="zh-CN" altLang="en-US" dirty="0"/>
              <a:t> </a:t>
            </a:r>
            <a:r>
              <a:rPr lang="en-US" altLang="zh-CN" dirty="0"/>
              <a:t>-3</a:t>
            </a:r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3307742"/>
            <a:ext cx="21971000" cy="9196774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A121217-8740-9648-976C-A2B2A8C2E8D9}"/>
              </a:ext>
            </a:extLst>
          </p:cNvPr>
          <p:cNvSpPr/>
          <p:nvPr/>
        </p:nvSpPr>
        <p:spPr>
          <a:xfrm>
            <a:off x="1342564" y="6858000"/>
            <a:ext cx="669116" cy="219456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0165A-BE49-7243-A9E1-B1AAF8CE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617" y="5277665"/>
            <a:ext cx="11566321" cy="381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32393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Tease Apart Inheritance</a:t>
            </a:r>
            <a:r>
              <a:rPr lang="zh-CN" altLang="en-US" dirty="0"/>
              <a:t> </a:t>
            </a:r>
            <a:r>
              <a:rPr lang="en-US" altLang="zh-CN" dirty="0"/>
              <a:t>-4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3307742"/>
            <a:ext cx="21971000" cy="9196774"/>
          </a:xfrm>
        </p:spPr>
        <p:txBody>
          <a:bodyPr/>
          <a:lstStyle/>
          <a:p>
            <a:pPr marL="0" indent="0">
              <a:buNone/>
            </a:pPr>
            <a:endParaRPr lang="en-CN" dirty="0"/>
          </a:p>
          <a:p>
            <a:pPr marL="0" indent="0">
              <a:buNone/>
            </a:pPr>
            <a:endParaRPr lang="en-CN" dirty="0"/>
          </a:p>
          <a:p>
            <a:pPr marL="0" indent="0">
              <a:buNone/>
            </a:pPr>
            <a:endParaRPr lang="en-CN" dirty="0"/>
          </a:p>
          <a:p>
            <a:pPr marL="0" indent="0">
              <a:buNone/>
            </a:pPr>
            <a:r>
              <a:rPr lang="en-CN" dirty="0"/>
              <a:t>			         </a:t>
            </a:r>
            <a:r>
              <a:rPr lang="en-CN" sz="8000" dirty="0"/>
              <a:t>VS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3E6B67-9A10-214D-8F67-317F6E528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4409435"/>
            <a:ext cx="7668612" cy="69933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F9C9B7-BA65-7C4D-9208-88D9CE2B5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1370" y="5921080"/>
            <a:ext cx="12042630" cy="397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8513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Convert Procedural Design to Objects</a:t>
            </a:r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90BE9-CA3E-624A-B455-A9157CCE4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906419"/>
            <a:ext cx="7390384" cy="3341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56D2FB-F7DE-9041-904E-FD4DF63B4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9073" y="6022665"/>
            <a:ext cx="9580898" cy="322572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DAFF16CA-6839-174B-A784-BB6706E4CCFC}"/>
              </a:ext>
            </a:extLst>
          </p:cNvPr>
          <p:cNvSpPr/>
          <p:nvPr/>
        </p:nvSpPr>
        <p:spPr>
          <a:xfrm>
            <a:off x="10582656" y="7315200"/>
            <a:ext cx="1609344" cy="256032"/>
          </a:xfrm>
          <a:prstGeom prst="rightArrow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N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75434080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Separate Domain from Presentation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90573666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C6C-31A8-0346-8334-07AC8B0C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大型重构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10EDF-45F6-EC40-A414-4B9455BC69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Extract Hierarchy</a:t>
            </a:r>
            <a:endParaRPr lang="en-US" b="0" dirty="0"/>
          </a:p>
          <a:p>
            <a:endParaRPr lang="en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9BD54-8268-0B4D-BD4E-A6E5B1B8F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1888707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</TotalTime>
  <Words>921</Words>
  <Application>Microsoft Macintosh PowerPoint</Application>
  <PresentationFormat>Custom</PresentationFormat>
  <Paragraphs>262</Paragraphs>
  <Slides>79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3" baseType="lpstr">
      <vt:lpstr>Arial</vt:lpstr>
      <vt:lpstr>Helvetica Neue</vt:lpstr>
      <vt:lpstr>Helvetica Neue Medium</vt:lpstr>
      <vt:lpstr>21_BasicWhite</vt:lpstr>
      <vt:lpstr>Refactoring</vt:lpstr>
      <vt:lpstr>Ref</vt:lpstr>
      <vt:lpstr>QA</vt:lpstr>
      <vt:lpstr>工具</vt:lpstr>
      <vt:lpstr>重构与性能</vt:lpstr>
      <vt:lpstr>难题</vt:lpstr>
      <vt:lpstr>组织函数</vt:lpstr>
      <vt:lpstr>组织函数</vt:lpstr>
      <vt:lpstr>组织函数</vt:lpstr>
      <vt:lpstr>组织函数</vt:lpstr>
      <vt:lpstr>组织函数</vt:lpstr>
      <vt:lpstr>组织函数</vt:lpstr>
      <vt:lpstr>组织函数</vt:lpstr>
      <vt:lpstr>组织函数</vt:lpstr>
      <vt:lpstr>组织函数</vt:lpstr>
      <vt:lpstr>在对象之间搬移特性</vt:lpstr>
      <vt:lpstr>在对象之间搬移特性</vt:lpstr>
      <vt:lpstr>在对象之间搬移特性</vt:lpstr>
      <vt:lpstr>在对象之间搬移特性</vt:lpstr>
      <vt:lpstr>在对象之间搬移特性</vt:lpstr>
      <vt:lpstr>在对象之间搬移特性</vt:lpstr>
      <vt:lpstr>在对象之间搬移特性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重新组织数据</vt:lpstr>
      <vt:lpstr>条件表达式 </vt:lpstr>
      <vt:lpstr>条件表达式 </vt:lpstr>
      <vt:lpstr>条件表达式 </vt:lpstr>
      <vt:lpstr>条件表达式 </vt:lpstr>
      <vt:lpstr>条件表达式 </vt:lpstr>
      <vt:lpstr>条件表达式 </vt:lpstr>
      <vt:lpstr>条件表达式 </vt:lpstr>
      <vt:lpstr>条件表达式 </vt:lpstr>
      <vt:lpstr>函数调用 </vt:lpstr>
      <vt:lpstr>函数调用 </vt:lpstr>
      <vt:lpstr>函数调用 </vt:lpstr>
      <vt:lpstr>函数调用 </vt:lpstr>
      <vt:lpstr>函数调用 </vt:lpstr>
      <vt:lpstr>函数调用 </vt:lpstr>
      <vt:lpstr>函数调用 </vt:lpstr>
      <vt:lpstr>函数调用 </vt:lpstr>
      <vt:lpstr>函数调用 </vt:lpstr>
      <vt:lpstr>函数调用</vt:lpstr>
      <vt:lpstr>函数调用</vt:lpstr>
      <vt:lpstr>函数调用</vt:lpstr>
      <vt:lpstr>函数调用</vt:lpstr>
      <vt:lpstr>函数调用</vt:lpstr>
      <vt:lpstr>函数调用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继承关系</vt:lpstr>
      <vt:lpstr>大型重构</vt:lpstr>
      <vt:lpstr>大型重构</vt:lpstr>
      <vt:lpstr>大型重构</vt:lpstr>
      <vt:lpstr>大型重构</vt:lpstr>
      <vt:lpstr>大型重构</vt:lpstr>
      <vt:lpstr>大型重构</vt:lpstr>
      <vt:lpstr>大型重构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Refactoring</dc:title>
  <cp:lastModifiedBy>kf</cp:lastModifiedBy>
  <cp:revision>269</cp:revision>
  <dcterms:modified xsi:type="dcterms:W3CDTF">2021-05-18T10:29:16Z</dcterms:modified>
</cp:coreProperties>
</file>