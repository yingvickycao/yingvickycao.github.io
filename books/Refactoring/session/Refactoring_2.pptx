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1"/>
  </p:notesMasterIdLst>
  <p:sldIdLst>
    <p:sldId id="256" r:id="rId2"/>
    <p:sldId id="260" r:id="rId3"/>
    <p:sldId id="280" r:id="rId4"/>
    <p:sldId id="257" r:id="rId5"/>
    <p:sldId id="258" r:id="rId6"/>
    <p:sldId id="259" r:id="rId7"/>
    <p:sldId id="264" r:id="rId8"/>
    <p:sldId id="265" r:id="rId9"/>
    <p:sldId id="266" r:id="rId10"/>
    <p:sldId id="267" r:id="rId11"/>
    <p:sldId id="268" r:id="rId12"/>
    <p:sldId id="269" r:id="rId13"/>
    <p:sldId id="272" r:id="rId14"/>
    <p:sldId id="270" r:id="rId15"/>
    <p:sldId id="271" r:id="rId16"/>
    <p:sldId id="273" r:id="rId17"/>
    <p:sldId id="275" r:id="rId18"/>
    <p:sldId id="274" r:id="rId19"/>
    <p:sldId id="276" r:id="rId20"/>
    <p:sldId id="277" r:id="rId21"/>
    <p:sldId id="278" r:id="rId22"/>
    <p:sldId id="279" r:id="rId23"/>
    <p:sldId id="281" r:id="rId24"/>
    <p:sldId id="283" r:id="rId25"/>
    <p:sldId id="282" r:id="rId26"/>
    <p:sldId id="284" r:id="rId27"/>
    <p:sldId id="285" r:id="rId28"/>
    <p:sldId id="286" r:id="rId29"/>
    <p:sldId id="287" r:id="rId30"/>
    <p:sldId id="288" r:id="rId31"/>
    <p:sldId id="289" r:id="rId32"/>
    <p:sldId id="290" r:id="rId33"/>
    <p:sldId id="291" r:id="rId34"/>
    <p:sldId id="292" r:id="rId35"/>
    <p:sldId id="293" r:id="rId36"/>
    <p:sldId id="294" r:id="rId37"/>
    <p:sldId id="295" r:id="rId38"/>
    <p:sldId id="296" r:id="rId39"/>
    <p:sldId id="297" r:id="rId40"/>
    <p:sldId id="298" r:id="rId41"/>
    <p:sldId id="299" r:id="rId42"/>
    <p:sldId id="300" r:id="rId43"/>
    <p:sldId id="301" r:id="rId44"/>
    <p:sldId id="302" r:id="rId45"/>
    <p:sldId id="303" r:id="rId46"/>
    <p:sldId id="304" r:id="rId47"/>
    <p:sldId id="305" r:id="rId48"/>
    <p:sldId id="311" r:id="rId49"/>
    <p:sldId id="306" r:id="rId50"/>
    <p:sldId id="307" r:id="rId51"/>
    <p:sldId id="312" r:id="rId52"/>
    <p:sldId id="308" r:id="rId53"/>
    <p:sldId id="309" r:id="rId54"/>
    <p:sldId id="310" r:id="rId55"/>
    <p:sldId id="313" r:id="rId56"/>
    <p:sldId id="314" r:id="rId57"/>
    <p:sldId id="316" r:id="rId58"/>
    <p:sldId id="315" r:id="rId59"/>
    <p:sldId id="317" r:id="rId60"/>
    <p:sldId id="318" r:id="rId61"/>
    <p:sldId id="319" r:id="rId62"/>
    <p:sldId id="320" r:id="rId63"/>
    <p:sldId id="321" r:id="rId64"/>
    <p:sldId id="322" r:id="rId65"/>
    <p:sldId id="323" r:id="rId66"/>
    <p:sldId id="324" r:id="rId67"/>
    <p:sldId id="325" r:id="rId68"/>
    <p:sldId id="326" r:id="rId69"/>
    <p:sldId id="327" r:id="rId70"/>
    <p:sldId id="328" r:id="rId71"/>
    <p:sldId id="329" r:id="rId72"/>
    <p:sldId id="330" r:id="rId73"/>
    <p:sldId id="331" r:id="rId74"/>
    <p:sldId id="335" r:id="rId75"/>
    <p:sldId id="336" r:id="rId76"/>
    <p:sldId id="337" r:id="rId77"/>
    <p:sldId id="332" r:id="rId78"/>
    <p:sldId id="333" r:id="rId79"/>
    <p:sldId id="334" r:id="rId80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879"/>
    <p:restoredTop sz="94686"/>
  </p:normalViewPr>
  <p:slideViewPr>
    <p:cSldViewPr snapToGrid="0" snapToObjects="1">
      <p:cViewPr varScale="1">
        <p:scale>
          <a:sx n="70" d="100"/>
          <a:sy n="70" d="100"/>
        </p:scale>
        <p:origin x="232" y="8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theme" Target="theme/theme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61" Type="http://schemas.openxmlformats.org/officeDocument/2006/relationships/slide" Target="slides/slide60.xml"/><Relationship Id="rId8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148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49" name="Shape 149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9224332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81911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 dirty="0"/>
              <a:t>get</a:t>
            </a:r>
          </a:p>
          <a:p>
            <a:r>
              <a:rPr lang="en-CN" dirty="0"/>
              <a:t>间接层</a:t>
            </a:r>
          </a:p>
        </p:txBody>
      </p:sp>
    </p:spTree>
    <p:extLst>
      <p:ext uri="{BB962C8B-B14F-4D97-AF65-F5344CB8AC3E}">
        <p14:creationId xmlns:p14="http://schemas.microsoft.com/office/powerpoint/2010/main" val="2359557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 dirty="0"/>
              <a:t>return</a:t>
            </a:r>
          </a:p>
        </p:txBody>
      </p:sp>
    </p:spTree>
    <p:extLst>
      <p:ext uri="{BB962C8B-B14F-4D97-AF65-F5344CB8AC3E}">
        <p14:creationId xmlns:p14="http://schemas.microsoft.com/office/powerpoint/2010/main" val="33707269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defTabSz="45720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200" b="0" dirty="0">
                <a:effectLst/>
                <a:latin typeface="+mn-lt"/>
                <a:ea typeface="+mn-ea"/>
                <a:cs typeface="+mn-cs"/>
                <a:sym typeface="Helvetica Neue"/>
              </a:rPr>
              <a:t>将旧函数变成一个单纯的委托函数（</a:t>
            </a:r>
            <a:r>
              <a:rPr lang="en-US" sz="2200" b="0" dirty="0">
                <a:effectLst/>
                <a:latin typeface="+mn-lt"/>
                <a:ea typeface="+mn-ea"/>
                <a:cs typeface="+mn-cs"/>
                <a:sym typeface="Helvetica Neue"/>
              </a:rPr>
              <a:t>delegating method），</a:t>
            </a:r>
            <a:r>
              <a:rPr lang="zh-CN" altLang="en-US" sz="2200" b="0" dirty="0">
                <a:effectLst/>
                <a:latin typeface="+mn-lt"/>
                <a:ea typeface="+mn-ea"/>
                <a:cs typeface="+mn-cs"/>
                <a:sym typeface="Helvetica Neue"/>
              </a:rPr>
              <a:t>或是将旧函数完全移除。</a:t>
            </a:r>
            <a:endParaRPr lang="en-CN" dirty="0"/>
          </a:p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165487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8546396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 dirty="0"/>
              <a:t>class</a:t>
            </a:r>
            <a:r>
              <a:rPr lang="zh-CN" altLang="en-US" dirty="0"/>
              <a:t> 是</a:t>
            </a:r>
            <a:r>
              <a:rPr lang="en-CN" dirty="0"/>
              <a:t>对事物的抽象</a:t>
            </a:r>
          </a:p>
        </p:txBody>
      </p:sp>
    </p:spTree>
    <p:extLst>
      <p:ext uri="{BB962C8B-B14F-4D97-AF65-F5344CB8AC3E}">
        <p14:creationId xmlns:p14="http://schemas.microsoft.com/office/powerpoint/2010/main" val="25193018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 dirty="0"/>
              <a:t>MVC = View -&gt; Controller -&gt; Model</a:t>
            </a:r>
          </a:p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1305582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 dirty="0"/>
              <a:t>MVC = View -&gt; Model,View -&gt;Controller</a:t>
            </a:r>
          </a:p>
        </p:txBody>
      </p:sp>
    </p:spTree>
    <p:extLst>
      <p:ext uri="{BB962C8B-B14F-4D97-AF65-F5344CB8AC3E}">
        <p14:creationId xmlns:p14="http://schemas.microsoft.com/office/powerpoint/2010/main" val="3286505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 dirty="0"/>
              <a:t>MVC = View -&gt; Model,View -&gt;Controller</a:t>
            </a:r>
          </a:p>
        </p:txBody>
      </p:sp>
    </p:spTree>
    <p:extLst>
      <p:ext uri="{BB962C8B-B14F-4D97-AF65-F5344CB8AC3E}">
        <p14:creationId xmlns:p14="http://schemas.microsoft.com/office/powerpoint/2010/main" val="16771053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 dirty="0"/>
              <a:t>区号</a:t>
            </a:r>
            <a:r>
              <a:rPr lang="zh-CN" altLang="en-US" dirty="0"/>
              <a:t>，电话号码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7243254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200" b="0" i="0" dirty="0">
                <a:effectLst/>
                <a:latin typeface="+mn-lt"/>
                <a:ea typeface="+mn-ea"/>
                <a:cs typeface="+mn-cs"/>
                <a:sym typeface="Helvetica Neue"/>
              </a:rPr>
              <a:t>value objects : </a:t>
            </a:r>
            <a:r>
              <a:rPr lang="en-US" sz="2200" b="0" i="0" dirty="0" err="1">
                <a:effectLst/>
                <a:latin typeface="+mn-lt"/>
                <a:ea typeface="+mn-ea"/>
                <a:cs typeface="+mn-cs"/>
                <a:sym typeface="Helvetica Neue"/>
              </a:rPr>
              <a:t>内容相同</a:t>
            </a:r>
            <a:r>
              <a:rPr lang="zh-CN" altLang="en-US" sz="2200" b="0" i="0" dirty="0">
                <a:effectLst/>
                <a:latin typeface="+mn-lt"/>
                <a:ea typeface="+mn-ea"/>
                <a:cs typeface="+mn-cs"/>
                <a:sym typeface="Helvetica Neue"/>
              </a:rPr>
              <a:t>，实例不同</a:t>
            </a:r>
            <a:endParaRPr lang="en-US" sz="2200" b="0" i="0" dirty="0">
              <a:effectLst/>
              <a:latin typeface="+mn-lt"/>
              <a:ea typeface="+mn-ea"/>
              <a:cs typeface="+mn-cs"/>
              <a:sym typeface="Helvetica Neue"/>
            </a:endParaRPr>
          </a:p>
          <a:p>
            <a:r>
              <a:rPr lang="en-US" sz="2200" b="0" i="0" dirty="0">
                <a:effectLst/>
                <a:latin typeface="+mn-lt"/>
                <a:ea typeface="+mn-ea"/>
                <a:cs typeface="+mn-cs"/>
                <a:sym typeface="Helvetica Neue"/>
              </a:rPr>
              <a:t>reference object</a:t>
            </a:r>
            <a:r>
              <a:rPr lang="zh-CN" altLang="en-US" sz="2200" b="0" i="0" dirty="0">
                <a:effectLst/>
                <a:latin typeface="+mn-lt"/>
                <a:ea typeface="+mn-ea"/>
                <a:cs typeface="+mn-cs"/>
                <a:sym typeface="Helvetica Neue"/>
              </a:rPr>
              <a:t>：</a:t>
            </a:r>
            <a:r>
              <a:rPr lang="en-US" sz="2200" b="0" i="0" dirty="0" err="1">
                <a:effectLst/>
                <a:latin typeface="+mn-lt"/>
                <a:ea typeface="+mn-ea"/>
                <a:cs typeface="+mn-cs"/>
                <a:sym typeface="Helvetica Neue"/>
              </a:rPr>
              <a:t>内容相同</a:t>
            </a:r>
            <a:r>
              <a:rPr lang="zh-CN" altLang="en-US" sz="2200" b="0" i="0" dirty="0">
                <a:effectLst/>
                <a:latin typeface="+mn-lt"/>
                <a:ea typeface="+mn-ea"/>
                <a:cs typeface="+mn-cs"/>
                <a:sym typeface="Helvetica Neue"/>
              </a:rPr>
              <a:t>，实例同</a:t>
            </a:r>
            <a:endParaRPr lang="en-CN" dirty="0"/>
          </a:p>
          <a:p>
            <a:r>
              <a:rPr lang="en-CN" dirty="0"/>
              <a:t>京东app</a:t>
            </a:r>
            <a:r>
              <a:rPr lang="zh-CN" altLang="en-US" dirty="0"/>
              <a:t>： 订单  </a:t>
            </a:r>
            <a:r>
              <a:rPr lang="en-US" altLang="zh-CN" dirty="0"/>
              <a:t>---&gt;</a:t>
            </a:r>
            <a:r>
              <a:rPr lang="zh-CN" altLang="en-US" dirty="0"/>
              <a:t> 收件人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04710314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23002919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79246172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 份数据，不同 </a:t>
            </a:r>
            <a:r>
              <a:rPr lang="en-US" altLang="zh-CN" dirty="0"/>
              <a:t>UI</a:t>
            </a:r>
            <a:r>
              <a:rPr lang="zh-CN" altLang="en-US" dirty="0"/>
              <a:t>。</a:t>
            </a:r>
            <a:r>
              <a:rPr lang="en-US" altLang="zh-CN" dirty="0"/>
              <a:t>(1) Observable (2) </a:t>
            </a:r>
            <a:r>
              <a:rPr lang="zh-CN" altLang="en-US" dirty="0"/>
              <a:t>事件监听 （</a:t>
            </a:r>
            <a:r>
              <a:rPr lang="en-US" altLang="zh-CN" dirty="0"/>
              <a:t>3</a:t>
            </a:r>
            <a:r>
              <a:rPr lang="zh-CN" altLang="en-US" dirty="0"/>
              <a:t>）广播 （</a:t>
            </a:r>
            <a:r>
              <a:rPr lang="en-US" altLang="zh-CN" dirty="0"/>
              <a:t>4</a:t>
            </a:r>
            <a:r>
              <a:rPr lang="zh-CN" altLang="en-US" dirty="0"/>
              <a:t>）</a:t>
            </a:r>
            <a:r>
              <a:rPr lang="en-US" altLang="zh-CN" dirty="0"/>
              <a:t>Event</a:t>
            </a:r>
            <a:r>
              <a:rPr lang="zh-CN" altLang="en-US" dirty="0"/>
              <a:t> </a:t>
            </a:r>
            <a:r>
              <a:rPr lang="en-US" altLang="zh-CN" dirty="0"/>
              <a:t>Bus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1855090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 dirty="0"/>
              <a:t>viewgroup , child view</a:t>
            </a:r>
          </a:p>
        </p:txBody>
      </p:sp>
    </p:spTree>
    <p:extLst>
      <p:ext uri="{BB962C8B-B14F-4D97-AF65-F5344CB8AC3E}">
        <p14:creationId xmlns:p14="http://schemas.microsoft.com/office/powerpoint/2010/main" val="164510842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416567441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91374337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53474132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54976011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34477636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 dirty="0"/>
              <a:t>修改前</a:t>
            </a:r>
            <a:r>
              <a:rPr lang="zh-CN" altLang="en-US" dirty="0"/>
              <a:t> </a:t>
            </a:r>
            <a:r>
              <a:rPr lang="en-US" altLang="zh-CN" dirty="0"/>
              <a:t>vs</a:t>
            </a:r>
            <a:r>
              <a:rPr lang="zh-CN" altLang="en-US" dirty="0"/>
              <a:t> 修改后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6568794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21864082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75924758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84998386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43898138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defTabSz="45720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N" dirty="0"/>
              <a:t>code 9_3</a:t>
            </a:r>
          </a:p>
        </p:txBody>
      </p:sp>
    </p:spTree>
    <p:extLst>
      <p:ext uri="{BB962C8B-B14F-4D97-AF65-F5344CB8AC3E}">
        <p14:creationId xmlns:p14="http://schemas.microsoft.com/office/powerpoint/2010/main" val="350155975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  <a:p>
            <a:r>
              <a:rPr lang="en-CN" dirty="0"/>
              <a:t> 卫语句</a:t>
            </a:r>
            <a:r>
              <a:rPr lang="zh-CN" altLang="en-US" dirty="0"/>
              <a:t>：</a:t>
            </a:r>
            <a:r>
              <a:rPr lang="en-US" altLang="zh-CN" dirty="0"/>
              <a:t>return</a:t>
            </a:r>
            <a:r>
              <a:rPr lang="zh-CN" altLang="en-US" dirty="0"/>
              <a:t> 语句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47044413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defTabSz="45720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Null Object </a:t>
            </a:r>
            <a:r>
              <a:rPr lang="zh-CN" altLang="en-US" dirty="0"/>
              <a:t>模式” </a:t>
            </a:r>
            <a:r>
              <a:rPr lang="en-US" altLang="zh-CN" dirty="0"/>
              <a:t>: </a:t>
            </a:r>
            <a:r>
              <a:rPr lang="en-US" dirty="0" err="1"/>
              <a:t>NullCustomer</a:t>
            </a:r>
            <a:endParaRPr lang="en-US" dirty="0"/>
          </a:p>
          <a:p>
            <a:pPr marL="0" marR="0" indent="0" defTabSz="45720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Special Case </a:t>
            </a:r>
            <a:r>
              <a:rPr lang="zh-CN" altLang="en-US" dirty="0"/>
              <a:t>模式 </a:t>
            </a:r>
            <a:r>
              <a:rPr lang="en-US" altLang="zh-CN" dirty="0"/>
              <a:t>: </a:t>
            </a:r>
            <a:r>
              <a:rPr lang="en-US" dirty="0" err="1"/>
              <a:t>NullCustomer</a:t>
            </a:r>
            <a:r>
              <a:rPr lang="en-US" dirty="0"/>
              <a:t>, </a:t>
            </a:r>
            <a:r>
              <a:rPr lang="en-US" dirty="0" err="1"/>
              <a:t>UnknowCustomer</a:t>
            </a:r>
            <a:r>
              <a:rPr lang="en-US" dirty="0"/>
              <a:t>, </a:t>
            </a:r>
            <a:r>
              <a:rPr lang="en-US" dirty="0" err="1"/>
              <a:t>NoCustomer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02282108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zh-CN" altLang="en-US" dirty="0"/>
            </a:b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48080434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defTabSz="45720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200" b="0" dirty="0">
                <a:effectLst/>
                <a:latin typeface="+mn-lt"/>
                <a:ea typeface="+mn-ea"/>
                <a:cs typeface="+mn-cs"/>
                <a:sym typeface="Helvetica Neue"/>
              </a:rPr>
              <a:t>C9_8</a:t>
            </a:r>
          </a:p>
          <a:p>
            <a:pPr marL="0" marR="0" lvl="0" indent="0" defTabSz="45720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200" b="0" dirty="0">
                <a:effectLst/>
                <a:latin typeface="+mn-lt"/>
                <a:ea typeface="+mn-ea"/>
                <a:cs typeface="+mn-cs"/>
                <a:sym typeface="Helvetica Neue"/>
              </a:rPr>
              <a:t>使用断言，而不是注释。当某个条件为真时，这段代码才能正常运行。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36137455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 dirty="0"/>
              <a:t>c10_1</a:t>
            </a:r>
          </a:p>
        </p:txBody>
      </p:sp>
    </p:spTree>
    <p:extLst>
      <p:ext uri="{BB962C8B-B14F-4D97-AF65-F5344CB8AC3E}">
        <p14:creationId xmlns:p14="http://schemas.microsoft.com/office/powerpoint/2010/main" val="220279294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71629415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 dirty="0"/>
              <a:t>误用</a:t>
            </a:r>
            <a:r>
              <a:rPr lang="en-US" altLang="zh-CN" dirty="0"/>
              <a:t>/</a:t>
            </a:r>
            <a:r>
              <a:rPr lang="zh-CN" altLang="en-US" dirty="0"/>
              <a:t>传递固定值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55158429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2200" b="0" dirty="0">
                <a:effectLst/>
                <a:latin typeface="+mn-lt"/>
                <a:ea typeface="+mn-ea"/>
                <a:cs typeface="+mn-cs"/>
                <a:sym typeface="Helvetica Neue"/>
              </a:rPr>
              <a:t>c10_4</a:t>
            </a:r>
          </a:p>
          <a:p>
            <a:r>
              <a:rPr lang="zh-CN" altLang="en-US" sz="2200" b="0" dirty="0">
                <a:effectLst/>
                <a:latin typeface="+mn-lt"/>
                <a:ea typeface="+mn-ea"/>
                <a:cs typeface="+mn-cs"/>
                <a:sym typeface="Helvetica Neue"/>
              </a:rPr>
              <a:t>规则：任何有返回值的函数，都不应该有看得到的副作用。 </a:t>
            </a:r>
          </a:p>
          <a:p>
            <a:r>
              <a:rPr lang="zh-CN" altLang="en-US" sz="2200" b="0" dirty="0">
                <a:effectLst/>
                <a:latin typeface="+mn-lt"/>
                <a:ea typeface="+mn-ea"/>
                <a:cs typeface="+mn-cs"/>
                <a:sym typeface="Helvetica Neue"/>
              </a:rPr>
              <a:t>并不绝对遵守，但总是尽量遵守。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77599135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 dirty="0"/>
              <a:t>c10_5</a:t>
            </a:r>
          </a:p>
        </p:txBody>
      </p:sp>
    </p:spTree>
    <p:extLst>
      <p:ext uri="{BB962C8B-B14F-4D97-AF65-F5344CB8AC3E}">
        <p14:creationId xmlns:p14="http://schemas.microsoft.com/office/powerpoint/2010/main" val="54179711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 dirty="0"/>
              <a:t>c10_5</a:t>
            </a:r>
          </a:p>
        </p:txBody>
      </p:sp>
    </p:spTree>
    <p:extLst>
      <p:ext uri="{BB962C8B-B14F-4D97-AF65-F5344CB8AC3E}">
        <p14:creationId xmlns:p14="http://schemas.microsoft.com/office/powerpoint/2010/main" val="140304349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 dirty="0"/>
              <a:t>c10_7</a:t>
            </a:r>
          </a:p>
        </p:txBody>
      </p:sp>
    </p:spTree>
    <p:extLst>
      <p:ext uri="{BB962C8B-B14F-4D97-AF65-F5344CB8AC3E}">
        <p14:creationId xmlns:p14="http://schemas.microsoft.com/office/powerpoint/2010/main" val="297095531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 dirty="0"/>
              <a:t>c10_9</a:t>
            </a:r>
          </a:p>
        </p:txBody>
      </p:sp>
    </p:spTree>
    <p:extLst>
      <p:ext uri="{BB962C8B-B14F-4D97-AF65-F5344CB8AC3E}">
        <p14:creationId xmlns:p14="http://schemas.microsoft.com/office/powerpoint/2010/main" val="2046933340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 dirty="0"/>
              <a:t>c10_10</a:t>
            </a:r>
          </a:p>
        </p:txBody>
      </p:sp>
    </p:spTree>
    <p:extLst>
      <p:ext uri="{BB962C8B-B14F-4D97-AF65-F5344CB8AC3E}">
        <p14:creationId xmlns:p14="http://schemas.microsoft.com/office/powerpoint/2010/main" val="166153464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 dirty="0"/>
              <a:t>c10_11</a:t>
            </a:r>
          </a:p>
        </p:txBody>
      </p:sp>
    </p:spTree>
    <p:extLst>
      <p:ext uri="{BB962C8B-B14F-4D97-AF65-F5344CB8AC3E}">
        <p14:creationId xmlns:p14="http://schemas.microsoft.com/office/powerpoint/2010/main" val="1857800172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 dirty="0"/>
              <a:t>c10_1</a:t>
            </a:r>
            <a:r>
              <a:rPr lang="en-US" altLang="zh-CN" dirty="0"/>
              <a:t>4</a:t>
            </a:r>
          </a:p>
          <a:p>
            <a:r>
              <a:rPr lang="en-CN" dirty="0"/>
              <a:t>pulished</a:t>
            </a:r>
            <a:r>
              <a:rPr lang="zh-CN" altLang="en-US" dirty="0"/>
              <a:t> 函数 </a:t>
            </a:r>
            <a:r>
              <a:rPr lang="en-US" altLang="zh-CN" dirty="0"/>
              <a:t>/</a:t>
            </a:r>
            <a:r>
              <a:rPr lang="zh-CN" altLang="en-US" dirty="0"/>
              <a:t> </a:t>
            </a:r>
            <a:r>
              <a:rPr lang="en-CN" dirty="0"/>
              <a:t>意料之外的错误</a:t>
            </a:r>
          </a:p>
        </p:txBody>
      </p:sp>
    </p:spTree>
    <p:extLst>
      <p:ext uri="{BB962C8B-B14F-4D97-AF65-F5344CB8AC3E}">
        <p14:creationId xmlns:p14="http://schemas.microsoft.com/office/powerpoint/2010/main" val="3982531907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 dirty="0"/>
              <a:t>c10_1</a:t>
            </a:r>
            <a:r>
              <a:rPr lang="en-US" altLang="zh-CN" dirty="0"/>
              <a:t>4</a:t>
            </a:r>
          </a:p>
          <a:p>
            <a:pPr marL="0" marR="0" lvl="0" indent="0" defTabSz="45720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N" dirty="0"/>
              <a:t>能意料的错误</a:t>
            </a:r>
          </a:p>
          <a:p>
            <a:endParaRPr lang="en-US" altLang="zh-CN" dirty="0"/>
          </a:p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885341247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 dirty="0"/>
              <a:t>c11_1</a:t>
            </a:r>
          </a:p>
        </p:txBody>
      </p:sp>
    </p:spTree>
    <p:extLst>
      <p:ext uri="{BB962C8B-B14F-4D97-AF65-F5344CB8AC3E}">
        <p14:creationId xmlns:p14="http://schemas.microsoft.com/office/powerpoint/2010/main" val="3176881838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 dirty="0"/>
              <a:t>c11_2</a:t>
            </a:r>
          </a:p>
        </p:txBody>
      </p:sp>
    </p:spTree>
    <p:extLst>
      <p:ext uri="{BB962C8B-B14F-4D97-AF65-F5344CB8AC3E}">
        <p14:creationId xmlns:p14="http://schemas.microsoft.com/office/powerpoint/2010/main" val="3744777958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 dirty="0"/>
              <a:t>c11_3</a:t>
            </a:r>
          </a:p>
        </p:txBody>
      </p:sp>
    </p:spTree>
    <p:extLst>
      <p:ext uri="{BB962C8B-B14F-4D97-AF65-F5344CB8AC3E}">
        <p14:creationId xmlns:p14="http://schemas.microsoft.com/office/powerpoint/2010/main" val="787321640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 dirty="0"/>
              <a:t>c11_4</a:t>
            </a:r>
          </a:p>
        </p:txBody>
      </p:sp>
    </p:spTree>
    <p:extLst>
      <p:ext uri="{BB962C8B-B14F-4D97-AF65-F5344CB8AC3E}">
        <p14:creationId xmlns:p14="http://schemas.microsoft.com/office/powerpoint/2010/main" val="4015314936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 dirty="0"/>
              <a:t>c11_5</a:t>
            </a:r>
          </a:p>
        </p:txBody>
      </p:sp>
    </p:spTree>
    <p:extLst>
      <p:ext uri="{BB962C8B-B14F-4D97-AF65-F5344CB8AC3E}">
        <p14:creationId xmlns:p14="http://schemas.microsoft.com/office/powerpoint/2010/main" val="450969604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 dirty="0"/>
              <a:t>c11_6</a:t>
            </a:r>
          </a:p>
        </p:txBody>
      </p:sp>
    </p:spTree>
    <p:extLst>
      <p:ext uri="{BB962C8B-B14F-4D97-AF65-F5344CB8AC3E}">
        <p14:creationId xmlns:p14="http://schemas.microsoft.com/office/powerpoint/2010/main" val="2906502639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 dirty="0"/>
              <a:t>c11_7</a:t>
            </a:r>
          </a:p>
        </p:txBody>
      </p:sp>
    </p:spTree>
    <p:extLst>
      <p:ext uri="{BB962C8B-B14F-4D97-AF65-F5344CB8AC3E}">
        <p14:creationId xmlns:p14="http://schemas.microsoft.com/office/powerpoint/2010/main" val="1222846226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 dirty="0"/>
              <a:t>c11_8</a:t>
            </a:r>
          </a:p>
        </p:txBody>
      </p:sp>
    </p:spTree>
    <p:extLst>
      <p:ext uri="{BB962C8B-B14F-4D97-AF65-F5344CB8AC3E}">
        <p14:creationId xmlns:p14="http://schemas.microsoft.com/office/powerpoint/2010/main" val="867228150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 dirty="0"/>
              <a:t>c11_9</a:t>
            </a:r>
          </a:p>
        </p:txBody>
      </p:sp>
    </p:spTree>
    <p:extLst>
      <p:ext uri="{BB962C8B-B14F-4D97-AF65-F5344CB8AC3E}">
        <p14:creationId xmlns:p14="http://schemas.microsoft.com/office/powerpoint/2010/main" val="26378268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 dirty="0"/>
              <a:t>c11_11</a:t>
            </a:r>
          </a:p>
        </p:txBody>
      </p:sp>
    </p:spTree>
    <p:extLst>
      <p:ext uri="{BB962C8B-B14F-4D97-AF65-F5344CB8AC3E}">
        <p14:creationId xmlns:p14="http://schemas.microsoft.com/office/powerpoint/2010/main" val="1541800698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 dirty="0"/>
              <a:t>c11_1</a:t>
            </a:r>
            <a:r>
              <a:rPr lang="en-US" altLang="zh-CN" dirty="0"/>
              <a:t>2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225417132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12_1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017921074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 dirty="0"/>
              <a:t>12_2</a:t>
            </a:r>
          </a:p>
        </p:txBody>
      </p:sp>
    </p:spTree>
    <p:extLst>
      <p:ext uri="{BB962C8B-B14F-4D97-AF65-F5344CB8AC3E}">
        <p14:creationId xmlns:p14="http://schemas.microsoft.com/office/powerpoint/2010/main" val="2666886994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 dirty="0"/>
              <a:t>12_3</a:t>
            </a:r>
          </a:p>
        </p:txBody>
      </p:sp>
    </p:spTree>
    <p:extLst>
      <p:ext uri="{BB962C8B-B14F-4D97-AF65-F5344CB8AC3E}">
        <p14:creationId xmlns:p14="http://schemas.microsoft.com/office/powerpoint/2010/main" val="13264951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 b="1"/>
            </a:lvl1pPr>
          </a:lstStyle>
          <a:p>
            <a:r>
              <a:t>Author and Date</a:t>
            </a:r>
          </a:p>
        </p:txBody>
      </p:sp>
      <p:sp>
        <p:nvSpPr>
          <p:cNvPr id="12" name="Presenta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z="11600" spc="-232"/>
            </a:lvl1pPr>
          </a:lstStyle>
          <a:p>
            <a:r>
              <a:t>Presentation Title</a:t>
            </a: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t>Presentation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666699290_02_crop_3159x1892.jpg"/>
          <p:cNvSpPr>
            <a:spLocks noGrp="1"/>
          </p:cNvSpPr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22" name="Presentation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z="11600" spc="-232"/>
            </a:lvl1pPr>
          </a:lstStyle>
          <a:p>
            <a:r>
              <a:t>Presentation Title</a:t>
            </a:r>
          </a:p>
        </p:txBody>
      </p:sp>
      <p:sp>
        <p:nvSpPr>
          <p:cNvPr id="23" name="Author and Date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 b="1"/>
            </a:lvl1pPr>
          </a:lstStyle>
          <a:p>
            <a:r>
              <a:t>Author and Date</a:t>
            </a:r>
          </a:p>
        </p:txBody>
      </p:sp>
      <p:sp>
        <p:nvSpPr>
          <p:cNvPr id="24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t>Presentation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2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910457886_1434x1669.jpg"/>
          <p:cNvSpPr>
            <a:spLocks noGrp="1"/>
          </p:cNvSpPr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33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r>
              <a:t>Slide Title</a:t>
            </a:r>
          </a:p>
        </p:txBody>
      </p:sp>
      <p:sp>
        <p:nvSpPr>
          <p:cNvPr id="34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t>Slide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3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43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44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5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61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62" name="660384004_1290x1720.jpg"/>
          <p:cNvSpPr>
            <a:spLocks noGrp="1"/>
          </p:cNvSpPr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63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6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sz="11600" b="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Section Title</a:t>
            </a:r>
          </a:p>
        </p:txBody>
      </p:sp>
      <p:sp>
        <p:nvSpPr>
          <p:cNvPr id="7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80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8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Agenda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r>
              <a:t>Agenda Title</a:t>
            </a:r>
          </a:p>
        </p:txBody>
      </p:sp>
      <p:sp>
        <p:nvSpPr>
          <p:cNvPr id="89" name="Agenda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Agenda Subtitle</a:t>
            </a:r>
          </a:p>
        </p:txBody>
      </p:sp>
      <p:sp>
        <p:nvSpPr>
          <p:cNvPr id="90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5pPr>
          </a:lstStyle>
          <a:p>
            <a:r>
              <a:t>Agenda Topics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9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r>
              <a:t>Statement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9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5pPr>
          </a:lstStyle>
          <a:p>
            <a:r>
              <a:t>100%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07" name="Fact information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Fact information</a:t>
            </a:r>
          </a:p>
        </p:txBody>
      </p:sp>
      <p:sp>
        <p:nvSpPr>
          <p:cNvPr id="10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Attribution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 b="1"/>
            </a:lvl1pPr>
          </a:lstStyle>
          <a:p>
            <a:r>
              <a:t>Attribution</a:t>
            </a:r>
          </a:p>
        </p:txBody>
      </p:sp>
      <p:sp>
        <p:nvSpPr>
          <p:cNvPr id="116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r>
              <a:t>“Notable Quote”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1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Image"/>
          <p:cNvSpPr>
            <a:spLocks noGrp="1"/>
          </p:cNvSpPr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25" name="Image"/>
          <p:cNvSpPr>
            <a:spLocks noGrp="1"/>
          </p:cNvSpPr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26" name="Image"/>
          <p:cNvSpPr>
            <a:spLocks noGrp="1"/>
          </p:cNvSpPr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2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Image"/>
          <p:cNvSpPr>
            <a:spLocks noGrp="1"/>
          </p:cNvSpPr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3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Slide Title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ransition spd="med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YingVickyCao/Refactoring" TargetMode="External"/><Relationship Id="rId2" Type="http://schemas.openxmlformats.org/officeDocument/2006/relationships/hyperlink" Target="https://www.kancloud.cn/sstd521/refactor/" TargetMode="Externa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github.com/YingVickyCao/YingVickyCao.github.io/blob/master/books/Refactoring/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4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4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4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4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4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4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4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4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4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4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4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4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4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Vicky, 2021/5/17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>
            <a:normAutofit lnSpcReduction="10000"/>
          </a:bodyPr>
          <a:lstStyle/>
          <a:p>
            <a:r>
              <a:t>Vicky, 2021/5/17</a:t>
            </a:r>
          </a:p>
        </p:txBody>
      </p:sp>
      <p:sp>
        <p:nvSpPr>
          <p:cNvPr id="152" name="Refactoring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>
                <a:solidFill>
                  <a:srgbClr val="002060"/>
                </a:solidFill>
              </a:rPr>
              <a:t>Refactoring</a:t>
            </a:r>
          </a:p>
        </p:txBody>
      </p:sp>
      <p:sp>
        <p:nvSpPr>
          <p:cNvPr id="153" name="Improve the design of existing code 【Martin  Flower】"/>
          <p:cNvSpPr txBox="1">
            <a:spLocks noGrp="1"/>
          </p:cNvSpPr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>
                <a:solidFill>
                  <a:srgbClr val="002060"/>
                </a:solidFill>
              </a:rPr>
              <a:t>Improve the design of existing code </a:t>
            </a:r>
            <a:endParaRPr lang="en-US" dirty="0">
              <a:solidFill>
                <a:srgbClr val="002060"/>
              </a:solidFill>
            </a:endParaRPr>
          </a:p>
          <a:p>
            <a:r>
              <a:rPr lang="en-US" sz="4000" dirty="0"/>
              <a:t>by Martin  Flower</a:t>
            </a:r>
          </a:p>
        </p:txBody>
      </p:sp>
      <p:sp>
        <p:nvSpPr>
          <p:cNvPr id="154" name="Session part 2"/>
          <p:cNvSpPr txBox="1"/>
          <p:nvPr/>
        </p:nvSpPr>
        <p:spPr>
          <a:xfrm>
            <a:off x="18378928" y="6397878"/>
            <a:ext cx="4603561" cy="9202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 defTabSz="825500">
              <a:defRPr sz="5500">
                <a:solidFill>
                  <a:srgbClr val="000000"/>
                </a:solidFill>
              </a:defRPr>
            </a:lvl1pPr>
          </a:lstStyle>
          <a:p>
            <a:r>
              <a:rPr dirty="0"/>
              <a:t>Session part 2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lide 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zh-CN" dirty="0"/>
              <a:t>Ref</a:t>
            </a:r>
            <a:endParaRPr dirty="0"/>
          </a:p>
        </p:txBody>
      </p:sp>
      <p:sp>
        <p:nvSpPr>
          <p:cNvPr id="163" name="Slide bullet text"/>
          <p:cNvSpPr txBox="1">
            <a:spLocks noGrp="1"/>
          </p:cNvSpPr>
          <p:nvPr>
            <p:ph type="body" idx="1"/>
          </p:nvPr>
        </p:nvSpPr>
        <p:spPr>
          <a:xfrm>
            <a:off x="1206500" y="2642464"/>
            <a:ext cx="21971000" cy="9862052"/>
          </a:xfrm>
          <a:prstGeom prst="rect">
            <a:avLst/>
          </a:prstGeom>
        </p:spPr>
        <p:txBody>
          <a:bodyPr/>
          <a:lstStyle/>
          <a:p>
            <a:r>
              <a:rPr lang="en-US" altLang="zh-CN" sz="3200" dirty="0"/>
              <a:t>Online book : </a:t>
            </a:r>
            <a:r>
              <a:rPr lang="en-US" altLang="zh-CN" sz="3200" dirty="0">
                <a:hlinkClick r:id="rId2"/>
              </a:rPr>
              <a:t>https://www.kancloud.cn/sstd521/refactor/</a:t>
            </a:r>
            <a:endParaRPr lang="en-US" altLang="zh-CN" sz="3200" dirty="0"/>
          </a:p>
          <a:p>
            <a:r>
              <a:rPr lang="en-US" altLang="zh-CN" sz="3200" dirty="0"/>
              <a:t>Code : </a:t>
            </a:r>
            <a:r>
              <a:rPr lang="en-US" altLang="zh-CN" sz="3200" dirty="0">
                <a:hlinkClick r:id="rId3"/>
              </a:rPr>
              <a:t>https://github.com/YingVickyCao/Refactoring</a:t>
            </a:r>
            <a:endParaRPr lang="en-US" altLang="zh-CN" sz="3200" dirty="0"/>
          </a:p>
          <a:p>
            <a:r>
              <a:rPr lang="en-US" altLang="zh-CN" sz="3200" dirty="0"/>
              <a:t>Book memo : </a:t>
            </a:r>
            <a:r>
              <a:rPr lang="en-US" altLang="zh-CN" sz="3200" dirty="0">
                <a:hlinkClick r:id="rId4"/>
              </a:rPr>
              <a:t>https://github.com/YingVickyCao/YingVickyCao.github.io/blob/master/books/Refactoring/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06100682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lide 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zh-CN" dirty="0"/>
              <a:t>QA</a:t>
            </a:r>
            <a:endParaRPr dirty="0"/>
          </a:p>
        </p:txBody>
      </p:sp>
      <p:sp>
        <p:nvSpPr>
          <p:cNvPr id="163" name="Slide bullet text"/>
          <p:cNvSpPr txBox="1">
            <a:spLocks noGrp="1"/>
          </p:cNvSpPr>
          <p:nvPr>
            <p:ph type="body" idx="1"/>
          </p:nvPr>
        </p:nvSpPr>
        <p:spPr>
          <a:xfrm>
            <a:off x="1206500" y="2642464"/>
            <a:ext cx="21971000" cy="9862052"/>
          </a:xfrm>
          <a:prstGeom prst="rect">
            <a:avLst/>
          </a:prstGeom>
        </p:spPr>
        <p:txBody>
          <a:bodyPr/>
          <a:lstStyle/>
          <a:p>
            <a:r>
              <a:rPr lang="en-CN" dirty="0"/>
              <a:t>重构适合JS吗</a:t>
            </a:r>
            <a:r>
              <a:rPr lang="zh-CN" altLang="en-US" dirty="0"/>
              <a:t>？任何语言</a:t>
            </a:r>
            <a:endParaRPr lang="en-US" altLang="zh-CN" dirty="0"/>
          </a:p>
          <a:p>
            <a:r>
              <a:rPr lang="zh-CN" altLang="en-US" dirty="0"/>
              <a:t>如何检测是否引入了新</a:t>
            </a:r>
            <a:r>
              <a:rPr lang="en-US" altLang="zh-CN" dirty="0"/>
              <a:t>bug</a:t>
            </a:r>
            <a:r>
              <a:rPr lang="zh-CN" altLang="en-US" dirty="0"/>
              <a:t>？ </a:t>
            </a:r>
            <a:r>
              <a:rPr lang="en-US" altLang="zh-CN" sz="3200" dirty="0"/>
              <a:t>Unit Test , UI Test</a:t>
            </a:r>
          </a:p>
          <a:p>
            <a:r>
              <a:rPr lang="zh-CN" altLang="en-US" dirty="0"/>
              <a:t>重构有哪些方法？</a:t>
            </a:r>
            <a:r>
              <a:rPr lang="zh-CN" altLang="en-US" sz="3200" dirty="0"/>
              <a:t>经验</a:t>
            </a:r>
            <a:endParaRPr lang="en-US" altLang="zh-CN" sz="3200" dirty="0"/>
          </a:p>
          <a:p>
            <a:r>
              <a:rPr lang="en-US" altLang="zh-CN" dirty="0"/>
              <a:t>When</a:t>
            </a:r>
            <a:r>
              <a:rPr lang="zh-CN" altLang="en-US" dirty="0"/>
              <a:t> 重构？</a:t>
            </a:r>
            <a:r>
              <a:rPr lang="zh-CN" altLang="en-US" sz="3200" dirty="0"/>
              <a:t>时间</a:t>
            </a:r>
            <a:endParaRPr lang="en-US" altLang="zh-CN" sz="3200" dirty="0"/>
          </a:p>
          <a:p>
            <a:r>
              <a:rPr lang="en-US" altLang="zh-CN" dirty="0"/>
              <a:t>When</a:t>
            </a:r>
            <a:r>
              <a:rPr lang="zh-CN" altLang="en-US" dirty="0"/>
              <a:t> 需要重构？</a:t>
            </a:r>
            <a:r>
              <a:rPr lang="zh-CN" altLang="en-US" sz="3200" dirty="0"/>
              <a:t>可读性</a:t>
            </a:r>
            <a:r>
              <a:rPr lang="en-US" altLang="zh-CN" sz="3200" dirty="0"/>
              <a:t>/</a:t>
            </a:r>
            <a:r>
              <a:rPr lang="zh-CN" altLang="en-US" sz="3200" dirty="0"/>
              <a:t>读代码</a:t>
            </a:r>
            <a:r>
              <a:rPr lang="en-US" altLang="zh-CN" sz="3200" dirty="0"/>
              <a:t>/</a:t>
            </a:r>
            <a:r>
              <a:rPr lang="zh-CN" altLang="en-US" sz="3200" dirty="0"/>
              <a:t>难以扩展</a:t>
            </a:r>
            <a:endParaRPr lang="en-US" altLang="zh-CN" sz="3200" dirty="0"/>
          </a:p>
          <a:p>
            <a:endParaRPr lang="en-US" altLang="zh-CN" dirty="0"/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13455893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工具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145738">
              <a:defRPr sz="7480" spc="-149"/>
            </a:lvl1pPr>
          </a:lstStyle>
          <a:p>
            <a:r>
              <a:rPr dirty="0" err="1"/>
              <a:t>工具</a:t>
            </a:r>
            <a:endParaRPr dirty="0"/>
          </a:p>
        </p:txBody>
      </p:sp>
      <p:sp>
        <p:nvSpPr>
          <p:cNvPr id="157" name="自动化提示工具：IDEA Lint…"/>
          <p:cNvSpPr txBox="1">
            <a:spLocks noGrp="1"/>
          </p:cNvSpPr>
          <p:nvPr>
            <p:ph type="body" idx="1"/>
          </p:nvPr>
        </p:nvSpPr>
        <p:spPr>
          <a:xfrm>
            <a:off x="1206500" y="2642464"/>
            <a:ext cx="21971000" cy="9862052"/>
          </a:xfrm>
          <a:prstGeom prst="rect">
            <a:avLst/>
          </a:prstGeom>
        </p:spPr>
        <p:txBody>
          <a:bodyPr>
            <a:normAutofit fontScale="92500" lnSpcReduction="20000"/>
          </a:bodyPr>
          <a:lstStyle/>
          <a:p>
            <a:pPr marL="524255" indent="-524255" defTabSz="2096971">
              <a:spcBef>
                <a:spcPts val="3800"/>
              </a:spcBef>
              <a:defRPr sz="4128"/>
            </a:pPr>
            <a:r>
              <a:rPr dirty="0" err="1"/>
              <a:t>自动化提示工具</a:t>
            </a:r>
            <a:r>
              <a:rPr lang="zh-CN" altLang="en-US" dirty="0"/>
              <a:t> </a:t>
            </a:r>
            <a:r>
              <a:rPr dirty="0"/>
              <a:t>：IDEA Lint</a:t>
            </a:r>
          </a:p>
          <a:p>
            <a:pPr marL="524255" indent="-524255" defTabSz="2096971">
              <a:spcBef>
                <a:spcPts val="3800"/>
              </a:spcBef>
              <a:defRPr sz="4128"/>
            </a:pPr>
            <a:r>
              <a:rPr dirty="0" err="1"/>
              <a:t>自动化重构工具</a:t>
            </a:r>
            <a:r>
              <a:rPr lang="zh-CN" altLang="en-US" dirty="0"/>
              <a:t> </a:t>
            </a:r>
            <a:r>
              <a:rPr dirty="0"/>
              <a:t>：IDEA -&gt; Refactor</a:t>
            </a:r>
          </a:p>
          <a:p>
            <a:pPr marL="524255" indent="-524255" defTabSz="2096971">
              <a:spcBef>
                <a:spcPts val="3800"/>
              </a:spcBef>
              <a:defRPr sz="4128"/>
            </a:pPr>
            <a:r>
              <a:rPr dirty="0" err="1"/>
              <a:t>两顶帽子</a:t>
            </a:r>
            <a:r>
              <a:rPr lang="zh-CN" altLang="en-US" dirty="0"/>
              <a:t> </a:t>
            </a:r>
            <a:r>
              <a:rPr dirty="0"/>
              <a:t>：Modify / Refactoring</a:t>
            </a:r>
          </a:p>
          <a:p>
            <a:pPr marL="524255" indent="-524255" defTabSz="2096971">
              <a:spcBef>
                <a:spcPts val="3800"/>
              </a:spcBef>
              <a:defRPr sz="4128"/>
            </a:pPr>
            <a:r>
              <a:rPr dirty="0"/>
              <a:t>Diff tool</a:t>
            </a:r>
          </a:p>
          <a:p>
            <a:pPr marL="524255" indent="-524255" defTabSz="2096971">
              <a:spcBef>
                <a:spcPts val="3800"/>
              </a:spcBef>
              <a:defRPr sz="4128"/>
            </a:pPr>
            <a:r>
              <a:rPr dirty="0"/>
              <a:t>Unit Test : assert, most important</a:t>
            </a:r>
          </a:p>
          <a:p>
            <a:pPr marL="524255" indent="-524255" defTabSz="2096971">
              <a:spcBef>
                <a:spcPts val="3800"/>
              </a:spcBef>
              <a:defRPr sz="4128"/>
            </a:pPr>
            <a:r>
              <a:rPr dirty="0"/>
              <a:t>UI Test : </a:t>
            </a:r>
            <a:r>
              <a:rPr dirty="0" err="1"/>
              <a:t>边界条件</a:t>
            </a:r>
            <a:r>
              <a:rPr lang="zh-CN" altLang="en-US" dirty="0"/>
              <a:t> </a:t>
            </a:r>
            <a:r>
              <a:rPr dirty="0"/>
              <a:t>, all </a:t>
            </a:r>
            <a:r>
              <a:rPr lang="en-US" dirty="0"/>
              <a:t>c</a:t>
            </a:r>
            <a:r>
              <a:rPr dirty="0"/>
              <a:t>ases</a:t>
            </a:r>
          </a:p>
          <a:p>
            <a:pPr marL="524255" indent="-524255" defTabSz="2096971">
              <a:spcBef>
                <a:spcPts val="3800"/>
              </a:spcBef>
              <a:defRPr sz="4128"/>
            </a:pPr>
            <a:r>
              <a:rPr dirty="0"/>
              <a:t>Two refactor branch : master, current</a:t>
            </a:r>
          </a:p>
          <a:p>
            <a:pPr marL="524255" indent="-524255" defTabSz="2096971">
              <a:spcBef>
                <a:spcPts val="3800"/>
              </a:spcBef>
              <a:defRPr sz="4128"/>
            </a:pPr>
            <a:r>
              <a:rPr dirty="0" err="1"/>
              <a:t>小步调重构，频繁测试</a:t>
            </a:r>
            <a:endParaRPr dirty="0"/>
          </a:p>
          <a:p>
            <a:pPr marL="524255" indent="-524255" defTabSz="2096971">
              <a:spcBef>
                <a:spcPts val="3800"/>
              </a:spcBef>
              <a:defRPr sz="4128"/>
            </a:pPr>
            <a:r>
              <a:rPr lang="zh-CN" altLang="en-US" sz="4128" dirty="0"/>
              <a:t>安全重构：控制</a:t>
            </a:r>
            <a:r>
              <a:rPr dirty="0" err="1"/>
              <a:t>节奏</a:t>
            </a:r>
            <a:r>
              <a:rPr lang="zh-CN" altLang="en-US" dirty="0"/>
              <a:t>（</a:t>
            </a:r>
            <a:r>
              <a:rPr dirty="0" err="1"/>
              <a:t>小目标，开始</a:t>
            </a:r>
            <a:r>
              <a:rPr dirty="0"/>
              <a:t>, </a:t>
            </a:r>
            <a:r>
              <a:rPr dirty="0" err="1"/>
              <a:t>前进</a:t>
            </a:r>
            <a:r>
              <a:rPr dirty="0"/>
              <a:t> / </a:t>
            </a:r>
            <a:r>
              <a:rPr dirty="0" err="1"/>
              <a:t>停止，等待</a:t>
            </a:r>
            <a:r>
              <a:rPr dirty="0"/>
              <a:t>， </a:t>
            </a:r>
            <a:r>
              <a:rPr dirty="0" err="1"/>
              <a:t>集成</a:t>
            </a:r>
            <a:r>
              <a:rPr dirty="0"/>
              <a:t> / </a:t>
            </a:r>
            <a:r>
              <a:rPr lang="en-CN" dirty="0"/>
              <a:t>撤销</a:t>
            </a:r>
            <a:r>
              <a:rPr lang="zh-CN" altLang="en-US" dirty="0"/>
              <a:t>）</a:t>
            </a:r>
            <a:endParaRPr lang="en-US" altLang="zh-CN" dirty="0"/>
          </a:p>
          <a:p>
            <a:pPr marL="524255" indent="-524255" defTabSz="2096971">
              <a:spcBef>
                <a:spcPts val="3800"/>
              </a:spcBef>
              <a:defRPr sz="4128"/>
            </a:pPr>
            <a:r>
              <a:rPr lang="zh-CN" altLang="en-US" dirty="0"/>
              <a:t>代码复审</a:t>
            </a:r>
            <a:endParaRPr lang="en-US" altLang="zh-CN" dirty="0"/>
          </a:p>
          <a:p>
            <a:pPr marL="524255" indent="-524255" defTabSz="2096971">
              <a:spcBef>
                <a:spcPts val="3800"/>
              </a:spcBef>
              <a:defRPr sz="4128"/>
            </a:pPr>
            <a:r>
              <a:rPr lang="en-CN" dirty="0"/>
              <a:t>结对重构</a:t>
            </a:r>
            <a:endParaRPr dirty="0"/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重构与性能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145738">
              <a:defRPr sz="7480" spc="-149"/>
            </a:lvl1pPr>
          </a:lstStyle>
          <a:p>
            <a:r>
              <a:t>重构与性能</a:t>
            </a:r>
          </a:p>
        </p:txBody>
      </p:sp>
      <p:sp>
        <p:nvSpPr>
          <p:cNvPr id="160" name="多数重构提高性能，少数反而降低性能…"/>
          <p:cNvSpPr txBox="1">
            <a:spLocks noGrp="1"/>
          </p:cNvSpPr>
          <p:nvPr>
            <p:ph type="body" idx="1"/>
          </p:nvPr>
        </p:nvSpPr>
        <p:spPr>
          <a:xfrm>
            <a:off x="1206500" y="2642464"/>
            <a:ext cx="21971000" cy="9862052"/>
          </a:xfrm>
          <a:prstGeom prst="rect">
            <a:avLst/>
          </a:prstGeom>
        </p:spPr>
        <p:txBody>
          <a:bodyPr/>
          <a:lstStyle/>
          <a:p>
            <a:r>
              <a:t>多数重构提高性能，少数反而降低性能</a:t>
            </a:r>
          </a:p>
          <a:p>
            <a:r>
              <a:t>重构能使得性能提高更容易</a:t>
            </a: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lide 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CN" dirty="0"/>
              <a:t>难题</a:t>
            </a:r>
            <a:endParaRPr dirty="0"/>
          </a:p>
        </p:txBody>
      </p:sp>
      <p:sp>
        <p:nvSpPr>
          <p:cNvPr id="163" name="Slide bullet text"/>
          <p:cNvSpPr txBox="1">
            <a:spLocks noGrp="1"/>
          </p:cNvSpPr>
          <p:nvPr>
            <p:ph type="body" idx="1"/>
          </p:nvPr>
        </p:nvSpPr>
        <p:spPr>
          <a:xfrm>
            <a:off x="1206500" y="2642464"/>
            <a:ext cx="21971000" cy="9862052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CN" dirty="0"/>
              <a:t>数据库</a:t>
            </a:r>
          </a:p>
          <a:p>
            <a:r>
              <a:rPr lang="en-CN" dirty="0"/>
              <a:t>pulished</a:t>
            </a:r>
            <a:r>
              <a:rPr lang="zh-CN" altLang="en-US" dirty="0"/>
              <a:t> 接口</a:t>
            </a:r>
            <a:endParaRPr lang="en-US" altLang="zh-CN" dirty="0"/>
          </a:p>
          <a:p>
            <a:r>
              <a:rPr lang="en-CN" dirty="0"/>
              <a:t>适合</a:t>
            </a:r>
            <a:r>
              <a:rPr lang="zh-CN" altLang="en-US" dirty="0"/>
              <a:t>“单进程”软件，不适合并发和</a:t>
            </a:r>
            <a:r>
              <a:rPr lang="zh-CN" altLang="en-CN" dirty="0"/>
              <a:t>分布式</a:t>
            </a:r>
            <a:r>
              <a:rPr lang="zh-CN" altLang="en-US" dirty="0"/>
              <a:t>程序设计。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sz="2400" dirty="0"/>
              <a:t>   它们需要不同的重构技术。</a:t>
            </a:r>
            <a:endParaRPr lang="en-US" altLang="zh-CN" sz="2400" dirty="0"/>
          </a:p>
          <a:p>
            <a:r>
              <a:rPr lang="en-CN" dirty="0"/>
              <a:t>反射</a:t>
            </a:r>
          </a:p>
          <a:p>
            <a:r>
              <a:rPr lang="en-CN" dirty="0"/>
              <a:t>如何设计代码结构</a:t>
            </a:r>
            <a:r>
              <a:rPr lang="zh-CN" altLang="en-US" dirty="0"/>
              <a:t>，能做到尽量少或不重构？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sz="2400" dirty="0"/>
              <a:t>    </a:t>
            </a:r>
            <a:r>
              <a:rPr lang="en-CN" sz="2400" dirty="0"/>
              <a:t>不能</a:t>
            </a:r>
            <a:r>
              <a:rPr lang="zh-CN" altLang="en-US" sz="2400" dirty="0"/>
              <a:t>。 模块划分。</a:t>
            </a:r>
            <a:endParaRPr lang="en-CN" sz="2400" dirty="0"/>
          </a:p>
          <a:p>
            <a:r>
              <a:rPr lang="en-CN" dirty="0"/>
              <a:t>大型重构</a:t>
            </a:r>
            <a:r>
              <a:rPr lang="zh-CN" altLang="en-US" dirty="0"/>
              <a:t>？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sz="2400" dirty="0"/>
              <a:t>        分步调重构 </a:t>
            </a:r>
            <a:r>
              <a:rPr lang="en-US" altLang="zh-CN" sz="2400" dirty="0"/>
              <a:t>&amp;&amp;</a:t>
            </a:r>
            <a:r>
              <a:rPr lang="zh-CN" altLang="en-US" sz="2400" dirty="0"/>
              <a:t> 集成代码  </a:t>
            </a:r>
            <a:r>
              <a:rPr lang="en-US" altLang="zh-CN" sz="2400" dirty="0"/>
              <a:t>/</a:t>
            </a:r>
            <a:r>
              <a:rPr lang="zh-CN" altLang="en-US" sz="2400" dirty="0"/>
              <a:t> 频繁同步代码 </a:t>
            </a:r>
            <a:r>
              <a:rPr lang="en-US" altLang="zh-CN" sz="2400" dirty="0"/>
              <a:t>&amp;&amp;</a:t>
            </a:r>
            <a:r>
              <a:rPr lang="zh-CN" altLang="en-US" sz="2400" dirty="0"/>
              <a:t> 手工</a:t>
            </a:r>
            <a:r>
              <a:rPr lang="en-US" altLang="zh-CN" sz="2400" dirty="0"/>
              <a:t>merge</a:t>
            </a:r>
            <a:endParaRPr sz="2400" dirty="0"/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55E8C-85AD-6744-9D19-B103888E5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0" dirty="0"/>
              <a:t>组织函数</a:t>
            </a:r>
            <a:endParaRPr lang="en-CN" b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E76C14-5193-014E-BE24-E47B681F488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>
            <a:normAutofit lnSpcReduction="10000"/>
          </a:bodyPr>
          <a:lstStyle/>
          <a:p>
            <a:r>
              <a:rPr lang="en-US" sz="6000" dirty="0">
                <a:solidFill>
                  <a:schemeClr val="bg2">
                    <a:lumMod val="10000"/>
                  </a:schemeClr>
                </a:solidFill>
              </a:rPr>
              <a:t>Extract Method </a:t>
            </a:r>
            <a:endParaRPr lang="en-CN" sz="6000" dirty="0">
              <a:solidFill>
                <a:schemeClr val="bg2">
                  <a:lumMod val="10000"/>
                </a:schemeClr>
              </a:solidFill>
            </a:endParaRPr>
          </a:p>
          <a:p>
            <a:endParaRPr lang="en-C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406082-2419-4843-8A57-E77473F604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799452742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55E8C-85AD-6744-9D19-B103888E5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0" dirty="0"/>
              <a:t>组织函数</a:t>
            </a:r>
            <a:endParaRPr lang="en-CN" b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E76C14-5193-014E-BE24-E47B681F488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>
            <a:normAutofit lnSpcReduction="10000"/>
          </a:bodyPr>
          <a:lstStyle/>
          <a:p>
            <a:r>
              <a:rPr lang="en-CN" sz="6000" dirty="0">
                <a:solidFill>
                  <a:schemeClr val="bg2">
                    <a:lumMod val="10000"/>
                  </a:schemeClr>
                </a:solidFill>
              </a:rPr>
              <a:t>Inline method</a:t>
            </a:r>
          </a:p>
          <a:p>
            <a:endParaRPr lang="en-C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406082-2419-4843-8A57-E77473F604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764350843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55E8C-85AD-6744-9D19-B103888E5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0" dirty="0"/>
              <a:t>组织函数</a:t>
            </a:r>
            <a:endParaRPr lang="en-CN" b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E76C14-5193-014E-BE24-E47B681F488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>
            <a:normAutofit lnSpcReduction="10000"/>
          </a:bodyPr>
          <a:lstStyle/>
          <a:p>
            <a:r>
              <a:rPr lang="en-US" sz="6000" dirty="0">
                <a:solidFill>
                  <a:schemeClr val="bg2">
                    <a:lumMod val="10000"/>
                  </a:schemeClr>
                </a:solidFill>
              </a:rPr>
              <a:t>Inline Temp</a:t>
            </a:r>
            <a:endParaRPr lang="en-CN" sz="6000" dirty="0">
              <a:solidFill>
                <a:schemeClr val="bg2">
                  <a:lumMod val="10000"/>
                </a:schemeClr>
              </a:solidFill>
            </a:endParaRPr>
          </a:p>
          <a:p>
            <a:endParaRPr lang="en-C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406082-2419-4843-8A57-E77473F604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681600747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55E8C-85AD-6744-9D19-B103888E5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0" dirty="0"/>
              <a:t>组织函数</a:t>
            </a:r>
            <a:endParaRPr lang="en-CN" b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E76C14-5193-014E-BE24-E47B681F488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>
            <a:normAutofit lnSpcReduction="10000"/>
          </a:bodyPr>
          <a:lstStyle/>
          <a:p>
            <a:r>
              <a:rPr lang="en-US" sz="6000" dirty="0">
                <a:solidFill>
                  <a:schemeClr val="bg2">
                    <a:lumMod val="10000"/>
                  </a:schemeClr>
                </a:solidFill>
              </a:rPr>
              <a:t>Replace Temp with Query</a:t>
            </a:r>
            <a:endParaRPr lang="en-CN" sz="6000" dirty="0">
              <a:solidFill>
                <a:schemeClr val="bg2">
                  <a:lumMod val="10000"/>
                </a:schemeClr>
              </a:solidFill>
            </a:endParaRPr>
          </a:p>
          <a:p>
            <a:endParaRPr lang="en-CN" sz="6000" dirty="0">
              <a:solidFill>
                <a:schemeClr val="bg2">
                  <a:lumMod val="10000"/>
                </a:schemeClr>
              </a:solidFill>
            </a:endParaRPr>
          </a:p>
          <a:p>
            <a:endParaRPr lang="en-C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406082-2419-4843-8A57-E77473F604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4000" dirty="0">
                <a:solidFill>
                  <a:schemeClr val="bg2">
                    <a:lumMod val="10000"/>
                  </a:schemeClr>
                </a:solidFill>
              </a:rPr>
              <a:t>code</a:t>
            </a:r>
            <a:r>
              <a:rPr lang="zh-CN" altLang="en-US" sz="4000" dirty="0">
                <a:solidFill>
                  <a:schemeClr val="bg2">
                    <a:lumMod val="10000"/>
                  </a:schemeClr>
                </a:solidFill>
              </a:rPr>
              <a:t>：</a:t>
            </a:r>
            <a:r>
              <a:rPr lang="en-US" sz="4000" dirty="0">
                <a:solidFill>
                  <a:schemeClr val="bg2">
                    <a:lumMod val="10000"/>
                  </a:schemeClr>
                </a:solidFill>
              </a:rPr>
              <a:t> C</a:t>
            </a:r>
            <a:r>
              <a:rPr lang="en-CN" sz="4000" dirty="0">
                <a:solidFill>
                  <a:schemeClr val="bg2">
                    <a:lumMod val="10000"/>
                  </a:schemeClr>
                </a:solidFill>
              </a:rPr>
              <a:t>6_4</a:t>
            </a:r>
          </a:p>
        </p:txBody>
      </p:sp>
    </p:spTree>
    <p:extLst>
      <p:ext uri="{BB962C8B-B14F-4D97-AF65-F5344CB8AC3E}">
        <p14:creationId xmlns:p14="http://schemas.microsoft.com/office/powerpoint/2010/main" val="25737205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55E8C-85AD-6744-9D19-B103888E5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0" dirty="0"/>
              <a:t>组织函数</a:t>
            </a:r>
            <a:endParaRPr lang="en-CN" b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E76C14-5193-014E-BE24-E47B681F488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>
            <a:normAutofit lnSpcReduction="10000"/>
          </a:bodyPr>
          <a:lstStyle/>
          <a:p>
            <a:r>
              <a:rPr lang="en-US" sz="6000" dirty="0">
                <a:solidFill>
                  <a:schemeClr val="bg2">
                    <a:lumMod val="10000"/>
                  </a:schemeClr>
                </a:solidFill>
              </a:rPr>
              <a:t>Introduce Explain Variable</a:t>
            </a:r>
            <a:endParaRPr lang="en-CN" sz="6000" dirty="0">
              <a:solidFill>
                <a:schemeClr val="bg2">
                  <a:lumMod val="10000"/>
                </a:schemeClr>
              </a:solidFill>
            </a:endParaRPr>
          </a:p>
          <a:p>
            <a:endParaRPr lang="en-CN" sz="6000" dirty="0">
              <a:solidFill>
                <a:schemeClr val="bg2">
                  <a:lumMod val="10000"/>
                </a:schemeClr>
              </a:solidFill>
            </a:endParaRPr>
          </a:p>
          <a:p>
            <a:endParaRPr lang="en-C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406082-2419-4843-8A57-E77473F604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CN" sz="4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17086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55E8C-85AD-6744-9D19-B103888E5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0" dirty="0"/>
              <a:t>组织函数</a:t>
            </a:r>
            <a:endParaRPr lang="en-CN" b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E76C14-5193-014E-BE24-E47B681F488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>
            <a:normAutofit lnSpcReduction="10000"/>
          </a:bodyPr>
          <a:lstStyle/>
          <a:p>
            <a:r>
              <a:rPr lang="en-US" sz="6000" dirty="0">
                <a:solidFill>
                  <a:schemeClr val="bg2">
                    <a:lumMod val="10000"/>
                  </a:schemeClr>
                </a:solidFill>
              </a:rPr>
              <a:t>Remove Assignments to Parameter</a:t>
            </a:r>
            <a:endParaRPr lang="en-CN" sz="6000" dirty="0">
              <a:solidFill>
                <a:schemeClr val="bg2">
                  <a:lumMod val="10000"/>
                </a:schemeClr>
              </a:solidFill>
            </a:endParaRPr>
          </a:p>
          <a:p>
            <a:endParaRPr lang="en-CN" sz="6000" dirty="0">
              <a:solidFill>
                <a:schemeClr val="bg2">
                  <a:lumMod val="10000"/>
                </a:schemeClr>
              </a:solidFill>
            </a:endParaRPr>
          </a:p>
          <a:p>
            <a:endParaRPr lang="en-C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406082-2419-4843-8A57-E77473F604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CN" sz="4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8390185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55E8C-85AD-6744-9D19-B103888E5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0" dirty="0"/>
              <a:t>组织函数</a:t>
            </a:r>
            <a:endParaRPr lang="en-CN" b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E76C14-5193-014E-BE24-E47B681F488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>
            <a:normAutofit lnSpcReduction="10000"/>
          </a:bodyPr>
          <a:lstStyle/>
          <a:p>
            <a:r>
              <a:rPr lang="en-US" sz="6000" dirty="0">
                <a:solidFill>
                  <a:schemeClr val="bg2">
                    <a:lumMod val="10000"/>
                  </a:schemeClr>
                </a:solidFill>
              </a:rPr>
              <a:t>Split Temporary Variable</a:t>
            </a:r>
            <a:endParaRPr lang="en-CN" sz="6000" dirty="0">
              <a:solidFill>
                <a:schemeClr val="bg2">
                  <a:lumMod val="10000"/>
                </a:schemeClr>
              </a:solidFill>
            </a:endParaRPr>
          </a:p>
          <a:p>
            <a:endParaRPr lang="en-CN" sz="6000" dirty="0">
              <a:solidFill>
                <a:schemeClr val="bg2">
                  <a:lumMod val="10000"/>
                </a:schemeClr>
              </a:solidFill>
            </a:endParaRPr>
          </a:p>
          <a:p>
            <a:endParaRPr lang="en-C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406082-2419-4843-8A57-E77473F604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CN" sz="4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9567682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55E8C-85AD-6744-9D19-B103888E5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0" dirty="0"/>
              <a:t>组织函数</a:t>
            </a:r>
            <a:endParaRPr lang="en-CN" b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E76C14-5193-014E-BE24-E47B681F488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>
            <a:normAutofit lnSpcReduction="10000"/>
          </a:bodyPr>
          <a:lstStyle/>
          <a:p>
            <a:r>
              <a:rPr lang="en-US" sz="6000" dirty="0">
                <a:solidFill>
                  <a:schemeClr val="bg2">
                    <a:lumMod val="10000"/>
                  </a:schemeClr>
                </a:solidFill>
              </a:rPr>
              <a:t>Replace Method with Method Object</a:t>
            </a:r>
            <a:endParaRPr lang="en-CN" sz="6000" dirty="0">
              <a:solidFill>
                <a:schemeClr val="bg2">
                  <a:lumMod val="10000"/>
                </a:schemeClr>
              </a:solidFill>
            </a:endParaRPr>
          </a:p>
          <a:p>
            <a:endParaRPr lang="en-CN" sz="6000" dirty="0">
              <a:solidFill>
                <a:schemeClr val="bg2">
                  <a:lumMod val="10000"/>
                </a:schemeClr>
              </a:solidFill>
            </a:endParaRPr>
          </a:p>
          <a:p>
            <a:endParaRPr lang="en-C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406082-2419-4843-8A57-E77473F604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CN" sz="4000" dirty="0">
                <a:solidFill>
                  <a:schemeClr val="bg2">
                    <a:lumMod val="10000"/>
                  </a:schemeClr>
                </a:solidFill>
              </a:rPr>
              <a:t>code</a:t>
            </a:r>
            <a:r>
              <a:rPr lang="zh-CN" altLang="en-US" sz="4000" dirty="0">
                <a:solidFill>
                  <a:schemeClr val="bg2">
                    <a:lumMod val="10000"/>
                  </a:schemeClr>
                </a:solidFill>
              </a:rPr>
              <a:t> ： </a:t>
            </a:r>
            <a:r>
              <a:rPr lang="en-US" sz="4000" dirty="0">
                <a:solidFill>
                  <a:schemeClr val="bg2">
                    <a:lumMod val="10000"/>
                  </a:schemeClr>
                </a:solidFill>
              </a:rPr>
              <a:t>C</a:t>
            </a:r>
            <a:r>
              <a:rPr lang="en-CN" sz="4000" dirty="0">
                <a:solidFill>
                  <a:schemeClr val="bg2">
                    <a:lumMod val="10000"/>
                  </a:schemeClr>
                </a:solidFill>
              </a:rPr>
              <a:t>6_</a:t>
            </a:r>
            <a:r>
              <a:rPr lang="en-US" altLang="zh-CN" sz="4000" dirty="0">
                <a:solidFill>
                  <a:schemeClr val="bg2">
                    <a:lumMod val="10000"/>
                  </a:schemeClr>
                </a:solidFill>
              </a:rPr>
              <a:t>8</a:t>
            </a:r>
            <a:endParaRPr lang="en-CN" sz="4000" dirty="0">
              <a:solidFill>
                <a:schemeClr val="bg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3797873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55E8C-85AD-6744-9D19-B103888E5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0" dirty="0"/>
              <a:t>组织函数</a:t>
            </a:r>
            <a:endParaRPr lang="en-CN" b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E76C14-5193-014E-BE24-E47B681F488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>
            <a:normAutofit lnSpcReduction="10000"/>
          </a:bodyPr>
          <a:lstStyle/>
          <a:p>
            <a:r>
              <a:rPr lang="en-US" sz="6000" dirty="0">
                <a:solidFill>
                  <a:schemeClr val="bg2">
                    <a:lumMod val="10000"/>
                  </a:schemeClr>
                </a:solidFill>
              </a:rPr>
              <a:t>Substitute Algorithm</a:t>
            </a:r>
            <a:endParaRPr lang="en-CN" sz="6000" dirty="0">
              <a:solidFill>
                <a:schemeClr val="bg2">
                  <a:lumMod val="10000"/>
                </a:schemeClr>
              </a:solidFill>
            </a:endParaRPr>
          </a:p>
          <a:p>
            <a:endParaRPr lang="en-CN" sz="6000" dirty="0">
              <a:solidFill>
                <a:schemeClr val="bg2">
                  <a:lumMod val="10000"/>
                </a:schemeClr>
              </a:solidFill>
            </a:endParaRPr>
          </a:p>
          <a:p>
            <a:endParaRPr lang="en-C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406082-2419-4843-8A57-E77473F604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CN" sz="4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5062952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396DE-AEDE-7048-AAF2-CB63DD57B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b="0" dirty="0"/>
              <a:t>在对象之间搬移特性</a:t>
            </a:r>
            <a:endParaRPr lang="en-C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1E6888-8D58-7D40-8E9A-194816B99E0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/>
              <a:t>Move Method</a:t>
            </a:r>
            <a:endParaRPr lang="en-C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3524A5-FBEB-6C48-A893-66435D5880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36055485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396DE-AEDE-7048-AAF2-CB63DD57B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b="0" dirty="0"/>
              <a:t>在对象之间搬移特性</a:t>
            </a:r>
            <a:endParaRPr lang="en-C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1E6888-8D58-7D40-8E9A-194816B99E0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/>
              <a:t>Move Field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3524A5-FBEB-6C48-A893-66435D5880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77149397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396DE-AEDE-7048-AAF2-CB63DD57B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b="0" dirty="0"/>
              <a:t>在对象之间搬移特性</a:t>
            </a:r>
            <a:endParaRPr lang="en-C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1E6888-8D58-7D40-8E9A-194816B99E0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 err="1"/>
              <a:t>Extact</a:t>
            </a:r>
            <a:r>
              <a:rPr lang="en-US" dirty="0"/>
              <a:t> Class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3524A5-FBEB-6C48-A893-66435D5880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627509119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CFD3B-FE3E-2645-9DE0-3AED53F85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0" dirty="0"/>
              <a:t>在对象之间搬移特性</a:t>
            </a:r>
            <a:endParaRPr lang="en-C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529567-97F1-5744-BDD4-7E8D179AC02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/>
              <a:t>Inline Class</a:t>
            </a:r>
          </a:p>
          <a:p>
            <a:endParaRPr lang="en-C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DDB6B1-99C4-CB48-9DCD-B9B1F90EBD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44790962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E605E-656B-164F-913B-F5612ED92A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0" dirty="0"/>
              <a:t>在对象之间搬移特性</a:t>
            </a:r>
            <a:endParaRPr lang="en-C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24534B-1CB0-E740-B818-615D3E14D7F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/>
              <a:t>Hide Delegate</a:t>
            </a:r>
            <a:endParaRPr lang="en-US" b="0" dirty="0"/>
          </a:p>
          <a:p>
            <a:endParaRPr lang="en-C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2FEA5F-52CB-1941-A38A-1167E63B9D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035479365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E605E-656B-164F-913B-F5612ED92A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0" dirty="0"/>
              <a:t>在对象之间搬移特性</a:t>
            </a:r>
            <a:endParaRPr lang="en-C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24534B-1CB0-E740-B818-615D3E14D7F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/>
              <a:t>Remove Middle Man</a:t>
            </a:r>
            <a:endParaRPr lang="en-US" b="0" dirty="0"/>
          </a:p>
          <a:p>
            <a:endParaRPr lang="en-C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2FEA5F-52CB-1941-A38A-1167E63B9D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693762756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E605E-656B-164F-913B-F5612ED92A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0" dirty="0"/>
              <a:t>在对象之间搬移特性</a:t>
            </a:r>
            <a:endParaRPr lang="en-C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24534B-1CB0-E740-B818-615D3E14D7F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/>
              <a:t>Introduce </a:t>
            </a:r>
            <a:r>
              <a:rPr lang="en-US" dirty="0" err="1"/>
              <a:t>Forign</a:t>
            </a:r>
            <a:r>
              <a:rPr lang="en-US" dirty="0"/>
              <a:t> Method</a:t>
            </a:r>
            <a:endParaRPr lang="en-US" b="0" dirty="0"/>
          </a:p>
          <a:p>
            <a:endParaRPr lang="en-C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2FEA5F-52CB-1941-A38A-1167E63B9D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CN" sz="4000" dirty="0">
                <a:solidFill>
                  <a:schemeClr val="bg2">
                    <a:lumMod val="10000"/>
                  </a:schemeClr>
                </a:solidFill>
              </a:rPr>
              <a:t>code C7_7</a:t>
            </a:r>
          </a:p>
        </p:txBody>
      </p:sp>
    </p:spTree>
    <p:extLst>
      <p:ext uri="{BB962C8B-B14F-4D97-AF65-F5344CB8AC3E}">
        <p14:creationId xmlns:p14="http://schemas.microsoft.com/office/powerpoint/2010/main" val="2652155382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A41BE-2AAA-FB4B-B88B-3677C23DE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0" dirty="0" err="1"/>
              <a:t>重新组织数据</a:t>
            </a:r>
            <a:endParaRPr lang="en-CN" b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088523-C1D4-874C-A491-0DBEB869ADF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/>
              <a:t>Self Encapsulate Field</a:t>
            </a:r>
            <a:endParaRPr lang="en-US" b="0" dirty="0"/>
          </a:p>
          <a:p>
            <a:endParaRPr lang="en-C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04B8C8-570C-7641-8EC7-CD6C6E58C5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41312974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A41BE-2AAA-FB4B-B88B-3677C23DE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0" dirty="0" err="1"/>
              <a:t>重新组织数据</a:t>
            </a:r>
            <a:endParaRPr lang="en-CN" b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088523-C1D4-874C-A491-0DBEB869ADF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/>
              <a:t>Change Value to Reference</a:t>
            </a:r>
            <a:endParaRPr lang="en-US" b="0" dirty="0"/>
          </a:p>
          <a:p>
            <a:endParaRPr lang="en-C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04B8C8-570C-7641-8EC7-CD6C6E58C5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 dirty="0">
                <a:solidFill>
                  <a:schemeClr val="bg2">
                    <a:lumMod val="10000"/>
                  </a:schemeClr>
                </a:solidFill>
              </a:rPr>
              <a:t>code c8_4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703289843"/>
      </p:ext>
    </p:extLst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A41BE-2AAA-FB4B-B88B-3677C23DE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0" dirty="0" err="1"/>
              <a:t>重新组织数据</a:t>
            </a:r>
            <a:endParaRPr lang="en-CN" b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088523-C1D4-874C-A491-0DBEB869ADF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/>
              <a:t>Change Reference to Value</a:t>
            </a:r>
            <a:endParaRPr lang="en-US" b="0" dirty="0"/>
          </a:p>
          <a:p>
            <a:endParaRPr lang="en-C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04B8C8-570C-7641-8EC7-CD6C6E58C5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>
              <a:solidFill>
                <a:schemeClr val="bg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2190503"/>
      </p:ext>
    </p:extLst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A41BE-2AAA-FB4B-B88B-3677C23DE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0" dirty="0" err="1"/>
              <a:t>重新组织数据</a:t>
            </a:r>
            <a:endParaRPr lang="en-CN" b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088523-C1D4-874C-A491-0DBEB869ADF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/>
              <a:t>Replace Array with Object</a:t>
            </a:r>
            <a:endParaRPr lang="en-US" b="0" dirty="0"/>
          </a:p>
          <a:p>
            <a:endParaRPr lang="en-C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04B8C8-570C-7641-8EC7-CD6C6E58C5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>
              <a:solidFill>
                <a:schemeClr val="bg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4210307"/>
      </p:ext>
    </p:extLst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A41BE-2AAA-FB4B-B88B-3677C23DE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0" dirty="0" err="1"/>
              <a:t>重新组织数据</a:t>
            </a:r>
            <a:endParaRPr lang="en-CN" b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088523-C1D4-874C-A491-0DBEB869ADF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/>
              <a:t>Duplicate Observed Data</a:t>
            </a:r>
            <a:endParaRPr lang="en-US" b="0" dirty="0"/>
          </a:p>
          <a:p>
            <a:endParaRPr lang="en-C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04B8C8-570C-7641-8EC7-CD6C6E58C5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CN" dirty="0">
              <a:solidFill>
                <a:schemeClr val="bg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3501763"/>
      </p:ext>
    </p:extLst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A41BE-2AAA-FB4B-B88B-3677C23DE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0" dirty="0" err="1"/>
              <a:t>重新组织数据</a:t>
            </a:r>
            <a:endParaRPr lang="en-CN" b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088523-C1D4-874C-A491-0DBEB869ADF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/>
              <a:t>Change Unidirectional Association to Bidirectional</a:t>
            </a:r>
          </a:p>
          <a:p>
            <a:endParaRPr lang="en-C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04B8C8-570C-7641-8EC7-CD6C6E58C5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CN" dirty="0">
              <a:solidFill>
                <a:schemeClr val="bg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8911097"/>
      </p:ext>
    </p:extLst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A41BE-2AAA-FB4B-B88B-3677C23DE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0" dirty="0" err="1"/>
              <a:t>重新组织数据</a:t>
            </a:r>
            <a:endParaRPr lang="en-CN" b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088523-C1D4-874C-A491-0DBEB869ADF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/>
              <a:t>Change Bidirectional Association to Unidirectional</a:t>
            </a:r>
            <a:endParaRPr lang="en-US" b="0" dirty="0"/>
          </a:p>
          <a:p>
            <a:endParaRPr lang="en-US" dirty="0"/>
          </a:p>
          <a:p>
            <a:endParaRPr lang="en-C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04B8C8-570C-7641-8EC7-CD6C6E58C5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CN" dirty="0">
              <a:solidFill>
                <a:schemeClr val="bg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1195940"/>
      </p:ext>
    </p:extLst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A41BE-2AAA-FB4B-B88B-3677C23DE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0" dirty="0" err="1"/>
              <a:t>重新组织数据</a:t>
            </a:r>
            <a:endParaRPr lang="en-CN" b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088523-C1D4-874C-A491-0DBEB869ADF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/>
              <a:t>Replace Magic Number with Symbolic Constant</a:t>
            </a:r>
            <a:endParaRPr lang="en-US" b="0" dirty="0"/>
          </a:p>
          <a:p>
            <a:endParaRPr lang="en-US" dirty="0"/>
          </a:p>
          <a:p>
            <a:endParaRPr lang="en-C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04B8C8-570C-7641-8EC7-CD6C6E58C5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CN" dirty="0">
              <a:solidFill>
                <a:schemeClr val="bg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0846989"/>
      </p:ext>
    </p:extLst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A41BE-2AAA-FB4B-B88B-3677C23DE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0" dirty="0" err="1"/>
              <a:t>重新组织数据</a:t>
            </a:r>
            <a:endParaRPr lang="en-CN" b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088523-C1D4-874C-A491-0DBEB869ADF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/>
              <a:t>Encapsulate Field</a:t>
            </a:r>
            <a:endParaRPr lang="en-US" b="0" dirty="0"/>
          </a:p>
          <a:p>
            <a:endParaRPr lang="en-US" dirty="0"/>
          </a:p>
          <a:p>
            <a:endParaRPr lang="en-C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04B8C8-570C-7641-8EC7-CD6C6E58C5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CN" dirty="0">
              <a:solidFill>
                <a:schemeClr val="bg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7631000"/>
      </p:ext>
    </p:extLst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A41BE-2AAA-FB4B-B88B-3677C23DE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0" dirty="0" err="1"/>
              <a:t>重新组织数据</a:t>
            </a:r>
            <a:endParaRPr lang="en-CN" b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088523-C1D4-874C-A491-0DBEB869ADF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/>
              <a:t>Encapsulate Collection</a:t>
            </a:r>
            <a:endParaRPr lang="en-US" b="0" dirty="0"/>
          </a:p>
          <a:p>
            <a:endParaRPr lang="en-US" dirty="0"/>
          </a:p>
          <a:p>
            <a:endParaRPr lang="en-C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04B8C8-570C-7641-8EC7-CD6C6E58C5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CN" dirty="0">
              <a:solidFill>
                <a:schemeClr val="bg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875969"/>
      </p:ext>
    </p:extLst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A41BE-2AAA-FB4B-B88B-3677C23DE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0" dirty="0" err="1"/>
              <a:t>重新组织数据</a:t>
            </a:r>
            <a:endParaRPr lang="en-CN" b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088523-C1D4-874C-A491-0DBEB869ADF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/>
              <a:t>Replace Record with Data Class</a:t>
            </a:r>
            <a:endParaRPr lang="en-US" b="0" dirty="0"/>
          </a:p>
          <a:p>
            <a:endParaRPr lang="en-US" dirty="0"/>
          </a:p>
          <a:p>
            <a:endParaRPr lang="en-C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04B8C8-570C-7641-8EC7-CD6C6E58C5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N" dirty="0">
                <a:solidFill>
                  <a:schemeClr val="bg2">
                    <a:lumMod val="10000"/>
                  </a:schemeClr>
                </a:solidFill>
              </a:rPr>
              <a:t>code c8_12</a:t>
            </a:r>
          </a:p>
        </p:txBody>
      </p:sp>
    </p:spTree>
    <p:extLst>
      <p:ext uri="{BB962C8B-B14F-4D97-AF65-F5344CB8AC3E}">
        <p14:creationId xmlns:p14="http://schemas.microsoft.com/office/powerpoint/2010/main" val="331463142"/>
      </p:ext>
    </p:extLst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A41BE-2AAA-FB4B-B88B-3677C23DE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0" dirty="0" err="1"/>
              <a:t>重新组织数据</a:t>
            </a:r>
            <a:endParaRPr lang="en-CN" b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088523-C1D4-874C-A491-0DBEB869ADF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/>
              <a:t>Replace Type Code with Class</a:t>
            </a:r>
            <a:endParaRPr lang="en-US" b="0" dirty="0"/>
          </a:p>
          <a:p>
            <a:endParaRPr lang="en-US" dirty="0"/>
          </a:p>
          <a:p>
            <a:endParaRPr lang="en-C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04B8C8-570C-7641-8EC7-CD6C6E58C5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N" dirty="0">
                <a:solidFill>
                  <a:schemeClr val="bg2">
                    <a:lumMod val="10000"/>
                  </a:schemeClr>
                </a:solidFill>
              </a:rPr>
              <a:t>code c8_13</a:t>
            </a:r>
          </a:p>
        </p:txBody>
      </p:sp>
    </p:spTree>
    <p:extLst>
      <p:ext uri="{BB962C8B-B14F-4D97-AF65-F5344CB8AC3E}">
        <p14:creationId xmlns:p14="http://schemas.microsoft.com/office/powerpoint/2010/main" val="3897900495"/>
      </p:ext>
    </p:extLst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A41BE-2AAA-FB4B-B88B-3677C23DE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0" dirty="0" err="1"/>
              <a:t>重新组织数据</a:t>
            </a:r>
            <a:endParaRPr lang="en-CN" b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088523-C1D4-874C-A491-0DBEB869ADF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/>
              <a:t>Replace Type Code with Subclasses</a:t>
            </a:r>
            <a:endParaRPr lang="en-US" b="0" dirty="0"/>
          </a:p>
          <a:p>
            <a:endParaRPr lang="en-US" dirty="0"/>
          </a:p>
          <a:p>
            <a:endParaRPr lang="en-C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04B8C8-570C-7641-8EC7-CD6C6E58C5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N" dirty="0">
                <a:solidFill>
                  <a:schemeClr val="bg2">
                    <a:lumMod val="10000"/>
                  </a:schemeClr>
                </a:solidFill>
              </a:rPr>
              <a:t>code c8_1</a:t>
            </a:r>
            <a:r>
              <a:rPr lang="en-US" altLang="zh-CN" dirty="0">
                <a:solidFill>
                  <a:schemeClr val="bg2">
                    <a:lumMod val="10000"/>
                  </a:schemeClr>
                </a:solidFill>
              </a:rPr>
              <a:t>4</a:t>
            </a:r>
            <a:endParaRPr lang="en-CN" dirty="0">
              <a:solidFill>
                <a:schemeClr val="bg2">
                  <a:lumMod val="10000"/>
                </a:schemeClr>
              </a:solidFill>
            </a:endParaRPr>
          </a:p>
          <a:p>
            <a:pPr marL="0" indent="0">
              <a:buNone/>
            </a:pPr>
            <a:endParaRPr lang="en-CN" dirty="0">
              <a:solidFill>
                <a:schemeClr val="bg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9472523"/>
      </p:ext>
    </p:extLst>
  </p:cSld>
  <p:clrMapOvr>
    <a:masterClrMapping/>
  </p:clrMapOvr>
  <p:transition spd="med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A41BE-2AAA-FB4B-B88B-3677C23DE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0" dirty="0" err="1"/>
              <a:t>重新组织数据</a:t>
            </a:r>
            <a:endParaRPr lang="en-CN" b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088523-C1D4-874C-A491-0DBEB869ADF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/>
              <a:t>Replace Type Code with State/Strategy</a:t>
            </a:r>
            <a:endParaRPr lang="en-US" b="0" dirty="0"/>
          </a:p>
          <a:p>
            <a:endParaRPr lang="en-US" dirty="0"/>
          </a:p>
          <a:p>
            <a:endParaRPr lang="en-C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04B8C8-570C-7641-8EC7-CD6C6E58C5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N" dirty="0">
                <a:solidFill>
                  <a:schemeClr val="bg2">
                    <a:lumMod val="10000"/>
                  </a:schemeClr>
                </a:solidFill>
              </a:rPr>
              <a:t>code c8_1</a:t>
            </a:r>
            <a:r>
              <a:rPr lang="en-US" altLang="zh-CN" dirty="0">
                <a:solidFill>
                  <a:schemeClr val="bg2">
                    <a:lumMod val="10000"/>
                  </a:schemeClr>
                </a:solidFill>
              </a:rPr>
              <a:t>5</a:t>
            </a:r>
            <a:endParaRPr lang="en-CN" dirty="0">
              <a:solidFill>
                <a:schemeClr val="bg2">
                  <a:lumMod val="10000"/>
                </a:schemeClr>
              </a:solidFill>
            </a:endParaRPr>
          </a:p>
          <a:p>
            <a:pPr marL="0" indent="0">
              <a:buNone/>
            </a:pPr>
            <a:endParaRPr lang="en-CN" dirty="0">
              <a:solidFill>
                <a:schemeClr val="bg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0625291"/>
      </p:ext>
    </p:extLst>
  </p:cSld>
  <p:clrMapOvr>
    <a:masterClrMapping/>
  </p:clrMapOvr>
  <p:transition spd="med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A41BE-2AAA-FB4B-B88B-3677C23DE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0" dirty="0" err="1"/>
              <a:t>重新组织数据</a:t>
            </a:r>
            <a:endParaRPr lang="en-CN" b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088523-C1D4-874C-A491-0DBEB869ADF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/>
              <a:t>Replace Subclass with Fields</a:t>
            </a:r>
            <a:endParaRPr lang="en-US" b="0" dirty="0"/>
          </a:p>
          <a:p>
            <a:endParaRPr lang="en-US" dirty="0"/>
          </a:p>
          <a:p>
            <a:endParaRPr lang="en-C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04B8C8-570C-7641-8EC7-CD6C6E58C5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CN" dirty="0">
              <a:solidFill>
                <a:schemeClr val="bg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7087046"/>
      </p:ext>
    </p:extLst>
  </p:cSld>
  <p:clrMapOvr>
    <a:masterClrMapping/>
  </p:clrMapOvr>
  <p:transition spd="med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6239E-68D8-8147-90FF-33C2FCA1FB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条件表达式</a:t>
            </a:r>
            <a:br>
              <a:rPr lang="zh-CN" altLang="en-US" b="0" dirty="0"/>
            </a:br>
            <a:endParaRPr lang="en-C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6B7DC9-77B2-744C-B438-2E691E7C3D3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/>
              <a:t>Decompose Conditional</a:t>
            </a:r>
            <a:endParaRPr lang="en-US" b="0" dirty="0"/>
          </a:p>
          <a:p>
            <a:endParaRPr lang="en-C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8E8466-91F1-304E-944B-4ABB18E047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 dirty="0"/>
              <a:t>code 9_1</a:t>
            </a:r>
          </a:p>
        </p:txBody>
      </p:sp>
    </p:spTree>
    <p:extLst>
      <p:ext uri="{BB962C8B-B14F-4D97-AF65-F5344CB8AC3E}">
        <p14:creationId xmlns:p14="http://schemas.microsoft.com/office/powerpoint/2010/main" val="2914204306"/>
      </p:ext>
    </p:extLst>
  </p:cSld>
  <p:clrMapOvr>
    <a:masterClrMapping/>
  </p:clrMapOvr>
  <p:transition spd="med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6239E-68D8-8147-90FF-33C2FCA1FB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条件表达式</a:t>
            </a:r>
            <a:br>
              <a:rPr lang="zh-CN" altLang="en-US" b="0" dirty="0"/>
            </a:br>
            <a:endParaRPr lang="en-C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6B7DC9-77B2-744C-B438-2E691E7C3D3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/>
              <a:t>Consolidate Conditional Expression</a:t>
            </a:r>
            <a:endParaRPr lang="en-US" b="0" dirty="0"/>
          </a:p>
          <a:p>
            <a:endParaRPr lang="en-C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8E8466-91F1-304E-944B-4ABB18E047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 dirty="0"/>
              <a:t>code 9_2</a:t>
            </a:r>
          </a:p>
        </p:txBody>
      </p:sp>
    </p:spTree>
    <p:extLst>
      <p:ext uri="{BB962C8B-B14F-4D97-AF65-F5344CB8AC3E}">
        <p14:creationId xmlns:p14="http://schemas.microsoft.com/office/powerpoint/2010/main" val="1958116074"/>
      </p:ext>
    </p:extLst>
  </p:cSld>
  <p:clrMapOvr>
    <a:masterClrMapping/>
  </p:clrMapOvr>
  <p:transition spd="med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6239E-68D8-8147-90FF-33C2FCA1FB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条件表达式</a:t>
            </a:r>
            <a:br>
              <a:rPr lang="zh-CN" altLang="en-US" b="0" dirty="0"/>
            </a:br>
            <a:endParaRPr lang="en-C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6B7DC9-77B2-744C-B438-2E691E7C3D3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/>
              <a:t>Consolidate Duplicate Conditional Fragments</a:t>
            </a:r>
            <a:endParaRPr lang="en-US" b="0" dirty="0"/>
          </a:p>
          <a:p>
            <a:endParaRPr lang="en-C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8E8466-91F1-304E-944B-4ABB18E047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840771592"/>
      </p:ext>
    </p:extLst>
  </p:cSld>
  <p:clrMapOvr>
    <a:masterClrMapping/>
  </p:clrMapOvr>
  <p:transition spd="med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6239E-68D8-8147-90FF-33C2FCA1FB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条件表达式</a:t>
            </a:r>
            <a:br>
              <a:rPr lang="zh-CN" altLang="en-US" b="0" dirty="0"/>
            </a:br>
            <a:endParaRPr lang="en-C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6B7DC9-77B2-744C-B438-2E691E7C3D3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/>
              <a:t>Remove Control Flag</a:t>
            </a:r>
            <a:endParaRPr lang="en-US" b="0" dirty="0"/>
          </a:p>
          <a:p>
            <a:endParaRPr lang="en-C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8E8466-91F1-304E-944B-4ABB18E047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 dirty="0"/>
              <a:t>code 9_4</a:t>
            </a:r>
          </a:p>
        </p:txBody>
      </p:sp>
    </p:spTree>
    <p:extLst>
      <p:ext uri="{BB962C8B-B14F-4D97-AF65-F5344CB8AC3E}">
        <p14:creationId xmlns:p14="http://schemas.microsoft.com/office/powerpoint/2010/main" val="947579841"/>
      </p:ext>
    </p:extLst>
  </p:cSld>
  <p:clrMapOvr>
    <a:masterClrMapping/>
  </p:clrMapOvr>
  <p:transition spd="med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6239E-68D8-8147-90FF-33C2FCA1FB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条件表达式</a:t>
            </a:r>
            <a:br>
              <a:rPr lang="zh-CN" altLang="en-US" b="0" dirty="0"/>
            </a:br>
            <a:endParaRPr lang="en-C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6B7DC9-77B2-744C-B438-2E691E7C3D3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/>
              <a:t>Replace Nested Conditional with Guard Clauses</a:t>
            </a:r>
            <a:endParaRPr lang="en-US" b="0" dirty="0"/>
          </a:p>
          <a:p>
            <a:endParaRPr lang="en-C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8E8466-91F1-304E-944B-4ABB18E047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 dirty="0"/>
              <a:t>code 9_5</a:t>
            </a:r>
          </a:p>
        </p:txBody>
      </p:sp>
    </p:spTree>
    <p:extLst>
      <p:ext uri="{BB962C8B-B14F-4D97-AF65-F5344CB8AC3E}">
        <p14:creationId xmlns:p14="http://schemas.microsoft.com/office/powerpoint/2010/main" val="152765722"/>
      </p:ext>
    </p:extLst>
  </p:cSld>
  <p:clrMapOvr>
    <a:masterClrMapping/>
  </p:clrMapOvr>
  <p:transition spd="med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6239E-68D8-8147-90FF-33C2FCA1FB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条件表达式</a:t>
            </a:r>
            <a:br>
              <a:rPr lang="zh-CN" altLang="en-US" b="0" dirty="0"/>
            </a:br>
            <a:endParaRPr lang="en-C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6B7DC9-77B2-744C-B438-2E691E7C3D3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/>
              <a:t>Replace Conditional with Polymorphism</a:t>
            </a:r>
          </a:p>
          <a:p>
            <a:endParaRPr lang="en-C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8E8466-91F1-304E-944B-4ABB18E047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 dirty="0"/>
              <a:t>code 9_</a:t>
            </a:r>
            <a:r>
              <a:rPr lang="en-US" altLang="zh-CN" dirty="0"/>
              <a:t>6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517547651"/>
      </p:ext>
    </p:extLst>
  </p:cSld>
  <p:clrMapOvr>
    <a:masterClrMapping/>
  </p:clrMapOvr>
  <p:transition spd="med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6239E-68D8-8147-90FF-33C2FCA1FB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条件表达式</a:t>
            </a:r>
            <a:br>
              <a:rPr lang="zh-CN" altLang="en-US" b="0" dirty="0"/>
            </a:br>
            <a:endParaRPr lang="en-C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6B7DC9-77B2-744C-B438-2E691E7C3D3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/>
              <a:t>Introduce Null Object</a:t>
            </a:r>
            <a:endParaRPr lang="en-US" b="0" dirty="0"/>
          </a:p>
          <a:p>
            <a:endParaRPr lang="en-C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8E8466-91F1-304E-944B-4ABB18E047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 dirty="0"/>
              <a:t>code C9_</a:t>
            </a:r>
            <a:r>
              <a:rPr lang="en-US" altLang="zh-CN" dirty="0"/>
              <a:t>7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4146748742"/>
      </p:ext>
    </p:extLst>
  </p:cSld>
  <p:clrMapOvr>
    <a:masterClrMapping/>
  </p:clrMapOvr>
  <p:transition spd="med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F0E20-8FC6-E74A-9B44-59487F18A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条件表达式</a:t>
            </a:r>
            <a:br>
              <a:rPr lang="zh-CN" altLang="en-US" b="0" dirty="0"/>
            </a:br>
            <a:endParaRPr lang="en-C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F5D785-9EBC-8548-958C-F9C1BE68199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/>
              <a:t>Introduce Assertion</a:t>
            </a:r>
            <a:endParaRPr lang="en-US" b="0" dirty="0"/>
          </a:p>
          <a:p>
            <a:endParaRPr lang="en-C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C2DD65-757D-3944-9D88-AE1CA60D01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319699042"/>
      </p:ext>
    </p:extLst>
  </p:cSld>
  <p:clrMapOvr>
    <a:masterClrMapping/>
  </p:clrMapOvr>
  <p:transition spd="med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90800-EB26-1642-98C6-1EF9BD747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solidFill>
                  <a:schemeClr val="accent6">
                    <a:lumMod val="75000"/>
                  </a:schemeClr>
                </a:solidFill>
              </a:rPr>
              <a:t>函数调用</a:t>
            </a:r>
            <a:br>
              <a:rPr lang="zh-CN" altLang="en-US" b="0" dirty="0">
                <a:solidFill>
                  <a:schemeClr val="accent6">
                    <a:lumMod val="75000"/>
                  </a:schemeClr>
                </a:solidFill>
              </a:rPr>
            </a:br>
            <a:endParaRPr lang="en-CN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8C30D1-CA38-FC43-95A9-BEA8E4EEEC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/>
              <a:t>Rename Method</a:t>
            </a:r>
            <a:endParaRPr lang="en-US" b="0" dirty="0"/>
          </a:p>
          <a:p>
            <a:endParaRPr lang="en-C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80EBE6-BC75-8D41-9796-7E1F53D81A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388697064"/>
      </p:ext>
    </p:extLst>
  </p:cSld>
  <p:clrMapOvr>
    <a:masterClrMapping/>
  </p:clrMapOvr>
  <p:transition spd="med"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90800-EB26-1642-98C6-1EF9BD747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函数调用</a:t>
            </a:r>
            <a:br>
              <a:rPr lang="zh-CN" altLang="en-US" b="0" dirty="0"/>
            </a:br>
            <a:endParaRPr lang="en-C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8C30D1-CA38-FC43-95A9-BEA8E4EEEC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/>
              <a:t>Add Parameter</a:t>
            </a:r>
            <a:endParaRPr lang="en-US" b="0" dirty="0"/>
          </a:p>
          <a:p>
            <a:endParaRPr lang="en-C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80EBE6-BC75-8D41-9796-7E1F53D81A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201633048"/>
      </p:ext>
    </p:extLst>
  </p:cSld>
  <p:clrMapOvr>
    <a:masterClrMapping/>
  </p:clrMapOvr>
  <p:transition spd="med"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90800-EB26-1642-98C6-1EF9BD747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函数调用</a:t>
            </a:r>
            <a:br>
              <a:rPr lang="zh-CN" altLang="en-US" b="0" dirty="0"/>
            </a:br>
            <a:endParaRPr lang="en-C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8C30D1-CA38-FC43-95A9-BEA8E4EEEC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/>
              <a:t>Remove Parameter</a:t>
            </a:r>
            <a:endParaRPr lang="en-US" b="0" dirty="0"/>
          </a:p>
          <a:p>
            <a:endParaRPr lang="en-C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80EBE6-BC75-8D41-9796-7E1F53D81A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183225154"/>
      </p:ext>
    </p:extLst>
  </p:cSld>
  <p:clrMapOvr>
    <a:masterClrMapping/>
  </p:clrMapOvr>
  <p:transition spd="med"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90800-EB26-1642-98C6-1EF9BD747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函数调用</a:t>
            </a:r>
            <a:br>
              <a:rPr lang="zh-CN" altLang="en-US" b="0" dirty="0"/>
            </a:br>
            <a:endParaRPr lang="en-C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8C30D1-CA38-FC43-95A9-BEA8E4EEEC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/>
              <a:t>Separate Query from Modifier</a:t>
            </a:r>
            <a:endParaRPr lang="en-US" b="0" dirty="0"/>
          </a:p>
          <a:p>
            <a:endParaRPr lang="en-C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80EBE6-BC75-8D41-9796-7E1F53D81A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4173925455"/>
      </p:ext>
    </p:extLst>
  </p:cSld>
  <p:clrMapOvr>
    <a:masterClrMapping/>
  </p:clrMapOvr>
  <p:transition spd="med"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90800-EB26-1642-98C6-1EF9BD747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函数调用</a:t>
            </a:r>
            <a:br>
              <a:rPr lang="zh-CN" altLang="en-US" b="0" dirty="0"/>
            </a:br>
            <a:endParaRPr lang="en-C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8C30D1-CA38-FC43-95A9-BEA8E4EEEC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/>
              <a:t>Parameterize Method</a:t>
            </a:r>
            <a:endParaRPr lang="en-US" b="0" dirty="0"/>
          </a:p>
          <a:p>
            <a:endParaRPr lang="en-C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80EBE6-BC75-8D41-9796-7E1F53D81A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765859197"/>
      </p:ext>
    </p:extLst>
  </p:cSld>
  <p:clrMapOvr>
    <a:masterClrMapping/>
  </p:clrMapOvr>
  <p:transition spd="med"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90800-EB26-1642-98C6-1EF9BD747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函数调用</a:t>
            </a:r>
            <a:br>
              <a:rPr lang="zh-CN" altLang="en-US" b="0" dirty="0"/>
            </a:br>
            <a:endParaRPr lang="en-C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8C30D1-CA38-FC43-95A9-BEA8E4EEEC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/>
              <a:t>Replace Parameter with Explicit Methods</a:t>
            </a:r>
            <a:endParaRPr lang="en-US" b="0" dirty="0"/>
          </a:p>
          <a:p>
            <a:endParaRPr lang="en-C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80EBE6-BC75-8D41-9796-7E1F53D81A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 dirty="0"/>
              <a:t>code c10_6</a:t>
            </a:r>
          </a:p>
        </p:txBody>
      </p:sp>
    </p:spTree>
    <p:extLst>
      <p:ext uri="{BB962C8B-B14F-4D97-AF65-F5344CB8AC3E}">
        <p14:creationId xmlns:p14="http://schemas.microsoft.com/office/powerpoint/2010/main" val="111493425"/>
      </p:ext>
    </p:extLst>
  </p:cSld>
  <p:clrMapOvr>
    <a:masterClrMapping/>
  </p:clrMapOvr>
  <p:transition spd="med"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90800-EB26-1642-98C6-1EF9BD747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函数调用</a:t>
            </a:r>
            <a:br>
              <a:rPr lang="zh-CN" altLang="en-US" b="0" dirty="0"/>
            </a:br>
            <a:endParaRPr lang="en-C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8C30D1-CA38-FC43-95A9-BEA8E4EEEC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/>
              <a:t>Preserve Whole Object</a:t>
            </a:r>
            <a:endParaRPr lang="en-US" b="0" dirty="0"/>
          </a:p>
          <a:p>
            <a:endParaRPr lang="en-C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80EBE6-BC75-8D41-9796-7E1F53D81A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404136549"/>
      </p:ext>
    </p:extLst>
  </p:cSld>
  <p:clrMapOvr>
    <a:masterClrMapping/>
  </p:clrMapOvr>
  <p:transition spd="med"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90800-EB26-1642-98C6-1EF9BD747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函数调用</a:t>
            </a:r>
            <a:br>
              <a:rPr lang="zh-CN" altLang="en-US" b="0" dirty="0"/>
            </a:br>
            <a:endParaRPr lang="en-C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8C30D1-CA38-FC43-95A9-BEA8E4EEEC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/>
              <a:t>Replace Parameter with Method</a:t>
            </a:r>
            <a:endParaRPr lang="en-US" b="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80EBE6-BC75-8D41-9796-7E1F53D81A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 dirty="0"/>
              <a:t>code c10_8</a:t>
            </a:r>
          </a:p>
        </p:txBody>
      </p:sp>
    </p:spTree>
    <p:extLst>
      <p:ext uri="{BB962C8B-B14F-4D97-AF65-F5344CB8AC3E}">
        <p14:creationId xmlns:p14="http://schemas.microsoft.com/office/powerpoint/2010/main" val="660260958"/>
      </p:ext>
    </p:extLst>
  </p:cSld>
  <p:clrMapOvr>
    <a:masterClrMapping/>
  </p:clrMapOvr>
  <p:transition spd="med"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90800-EB26-1642-98C6-1EF9BD747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函数调用</a:t>
            </a:r>
            <a:br>
              <a:rPr lang="zh-CN" altLang="en-US" b="0" dirty="0"/>
            </a:br>
            <a:endParaRPr lang="en-C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8C30D1-CA38-FC43-95A9-BEA8E4EEEC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/>
              <a:t>Introduce Parameter Object</a:t>
            </a:r>
            <a:endParaRPr lang="en-US" b="0" dirty="0"/>
          </a:p>
          <a:p>
            <a:endParaRPr lang="en-C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80EBE6-BC75-8D41-9796-7E1F53D81A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881245160"/>
      </p:ext>
    </p:extLst>
  </p:cSld>
  <p:clrMapOvr>
    <a:masterClrMapping/>
  </p:clrMapOvr>
  <p:transition spd="med"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C6E01A-4493-5945-BE51-F3E33779F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函数调用</a:t>
            </a:r>
            <a:endParaRPr lang="en-C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D1C809-FCDE-564B-B8FF-9068C2C9E2B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/>
              <a:t>Remove Setting Method</a:t>
            </a:r>
            <a:endParaRPr lang="en-US" b="0" dirty="0"/>
          </a:p>
          <a:p>
            <a:endParaRPr lang="en-C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BB96AD-FB7D-004F-8C2B-81E76DEAC5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903919707"/>
      </p:ext>
    </p:extLst>
  </p:cSld>
  <p:clrMapOvr>
    <a:masterClrMapping/>
  </p:clrMapOvr>
  <p:transition spd="med"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D98CD-20B9-1C4B-ACA0-C104150B3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函数调用</a:t>
            </a:r>
            <a:endParaRPr lang="en-C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1AC036-CE6B-D549-BC52-FDB810E60E9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/>
              <a:t>Hide Method</a:t>
            </a:r>
            <a:endParaRPr lang="en-US" b="0" dirty="0"/>
          </a:p>
          <a:p>
            <a:endParaRPr lang="en-C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4E215D-7C9D-4347-8234-B6AF61CEE4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923836264"/>
      </p:ext>
    </p:extLst>
  </p:cSld>
  <p:clrMapOvr>
    <a:masterClrMapping/>
  </p:clrMapOvr>
  <p:transition spd="med"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C6BF8-3EAB-3640-A7AB-A1EF13D96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函数调用</a:t>
            </a:r>
            <a:endParaRPr lang="en-C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B59BA9-02F2-D042-A35F-9D948606FBE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/>
              <a:t>Replace Constructor with Factory Method</a:t>
            </a:r>
            <a:endParaRPr lang="en-US" b="0" dirty="0"/>
          </a:p>
          <a:p>
            <a:endParaRPr lang="en-C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4B495F-0507-F147-BC45-AB946FD958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 dirty="0"/>
              <a:t>code c10_12</a:t>
            </a:r>
          </a:p>
        </p:txBody>
      </p:sp>
    </p:spTree>
    <p:extLst>
      <p:ext uri="{BB962C8B-B14F-4D97-AF65-F5344CB8AC3E}">
        <p14:creationId xmlns:p14="http://schemas.microsoft.com/office/powerpoint/2010/main" val="2572507927"/>
      </p:ext>
    </p:extLst>
  </p:cSld>
  <p:clrMapOvr>
    <a:masterClrMapping/>
  </p:clrMapOvr>
  <p:transition spd="med"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C6BF8-3EAB-3640-A7AB-A1EF13D96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函数调用</a:t>
            </a:r>
            <a:endParaRPr lang="en-C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B59BA9-02F2-D042-A35F-9D948606FBE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/>
              <a:t>Encapsulate Downcast</a:t>
            </a:r>
            <a:endParaRPr lang="en-US" b="0" dirty="0"/>
          </a:p>
          <a:p>
            <a:endParaRPr lang="en-C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4B495F-0507-F147-BC45-AB946FD958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 dirty="0"/>
              <a:t>code c10_13</a:t>
            </a:r>
          </a:p>
        </p:txBody>
      </p:sp>
    </p:spTree>
    <p:extLst>
      <p:ext uri="{BB962C8B-B14F-4D97-AF65-F5344CB8AC3E}">
        <p14:creationId xmlns:p14="http://schemas.microsoft.com/office/powerpoint/2010/main" val="2877778723"/>
      </p:ext>
    </p:extLst>
  </p:cSld>
  <p:clrMapOvr>
    <a:masterClrMapping/>
  </p:clrMapOvr>
  <p:transition spd="med"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8B319D-BBF2-584A-B81D-503526D2F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函数调用</a:t>
            </a:r>
            <a:endParaRPr lang="en-C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943473-1F58-0645-A020-323ED351FC0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/>
              <a:t>Replace Error Code with Exception</a:t>
            </a:r>
            <a:endParaRPr lang="en-US" b="0" dirty="0"/>
          </a:p>
          <a:p>
            <a:endParaRPr lang="en-C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52A98E-2D8E-404E-A36D-C7AEC8F38B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CN" dirty="0"/>
          </a:p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507411348"/>
      </p:ext>
    </p:extLst>
  </p:cSld>
  <p:clrMapOvr>
    <a:masterClrMapping/>
  </p:clrMapOvr>
  <p:transition spd="med"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1A93F-C2EA-2A4D-BB8B-57468BA044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函数调用</a:t>
            </a:r>
            <a:endParaRPr lang="en-C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D61DA7-A678-794C-BAE1-90743585DDC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/>
              <a:t>Replace Exception with Test</a:t>
            </a:r>
            <a:endParaRPr lang="en-US" b="0" dirty="0"/>
          </a:p>
          <a:p>
            <a:endParaRPr lang="en-C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E65CB5-04B5-8C4F-B317-CFEB109635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779586151"/>
      </p:ext>
    </p:extLst>
  </p:cSld>
  <p:clrMapOvr>
    <a:masterClrMapping/>
  </p:clrMapOvr>
  <p:transition spd="med"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AAE347-7FC3-2040-8C87-C9CF4FA843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b="0" dirty="0">
                <a:solidFill>
                  <a:schemeClr val="accent6">
                    <a:lumMod val="75000"/>
                  </a:schemeClr>
                </a:solidFill>
              </a:rPr>
              <a:t>继承关系</a:t>
            </a:r>
            <a:endParaRPr lang="en-CN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19C3CE-1486-2E4E-99FE-7376698E011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/>
              <a:t>Pull Up Field</a:t>
            </a:r>
            <a:endParaRPr lang="en-US" b="0" dirty="0"/>
          </a:p>
          <a:p>
            <a:endParaRPr lang="en-C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9ABD5B-CD1F-5B4D-8AC3-8F5B0BC1E7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72158747"/>
      </p:ext>
    </p:extLst>
  </p:cSld>
  <p:clrMapOvr>
    <a:masterClrMapping/>
  </p:clrMapOvr>
  <p:transition spd="med"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EBEA34-813C-A944-B4D2-632776E298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继承关系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834C5F-C95F-024D-BCB9-535D29605B9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/>
              <a:t>Pull Up Method</a:t>
            </a:r>
            <a:endParaRPr lang="en-US" b="0" dirty="0"/>
          </a:p>
          <a:p>
            <a:endParaRPr lang="en-C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3A4F38-A1E3-C34A-942C-0DF68A5BBB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721717979"/>
      </p:ext>
    </p:extLst>
  </p:cSld>
  <p:clrMapOvr>
    <a:masterClrMapping/>
  </p:clrMapOvr>
  <p:transition spd="med"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76005-72FB-3049-A1CA-A6273E560A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继承关系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5C01A8-BD16-4C46-A145-7431F36D379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/>
              <a:t>Pull Up Constructor Body</a:t>
            </a:r>
            <a:endParaRPr lang="en-US" b="0" dirty="0"/>
          </a:p>
          <a:p>
            <a:endParaRPr lang="en-C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429C30-7CFD-F740-A324-D6757D14C6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669327286"/>
      </p:ext>
    </p:extLst>
  </p:cSld>
  <p:clrMapOvr>
    <a:masterClrMapping/>
  </p:clrMapOvr>
  <p:transition spd="med"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61F9F-59B4-A64F-B427-DA8B80B6B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继承关系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C6E0E7-C8ED-B94C-8810-08501BB6505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/>
              <a:t>Push Down Method</a:t>
            </a:r>
            <a:endParaRPr lang="en-US" b="0" dirty="0"/>
          </a:p>
          <a:p>
            <a:endParaRPr lang="en-C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C1DEFB-7DAF-9A45-B6D3-856EEA830B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5034320"/>
      </p:ext>
    </p:extLst>
  </p:cSld>
  <p:clrMapOvr>
    <a:masterClrMapping/>
  </p:clrMapOvr>
  <p:transition spd="med"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F6EE1-32B1-3543-BE1B-AD5BCB03C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继承关系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5BF8A1-FED7-F944-811D-9AFE1CC98E8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/>
              <a:t>Push Down Field</a:t>
            </a:r>
            <a:endParaRPr lang="en-US" b="0" dirty="0"/>
          </a:p>
          <a:p>
            <a:endParaRPr lang="en-C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FFDA6A-E77C-0847-8A59-ECC17ABFE4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312017528"/>
      </p:ext>
    </p:extLst>
  </p:cSld>
  <p:clrMapOvr>
    <a:masterClrMapping/>
  </p:clrMapOvr>
  <p:transition spd="med"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3E1DE-564D-A544-9804-A73F43DFD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继承关系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ECE7D1-7130-6849-8A6F-A21C300A209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/>
              <a:t>Extract Subclass</a:t>
            </a:r>
            <a:endParaRPr lang="en-US" b="0" dirty="0"/>
          </a:p>
          <a:p>
            <a:endParaRPr lang="en-C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07EF21-4333-C24A-98DC-7818546206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850169494"/>
      </p:ext>
    </p:extLst>
  </p:cSld>
  <p:clrMapOvr>
    <a:masterClrMapping/>
  </p:clrMapOvr>
  <p:transition spd="med"/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5382C-00C9-7148-92AD-A391FB579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继承关系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44169E-8EFA-A84D-8795-F38CA2AB96B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/>
              <a:t>Extract Superclass</a:t>
            </a:r>
            <a:endParaRPr lang="en-US" b="0" dirty="0"/>
          </a:p>
          <a:p>
            <a:endParaRPr lang="en-C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2E0D10-F490-8E47-AB8B-FAA164F40B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41192211"/>
      </p:ext>
    </p:extLst>
  </p:cSld>
  <p:clrMapOvr>
    <a:masterClrMapping/>
  </p:clrMapOvr>
  <p:transition spd="med"/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30C02-7E78-634E-9943-0176C496D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继承关系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823A50-B915-DE4F-994F-D17735ED60D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/>
              <a:t>Extract Interface</a:t>
            </a:r>
            <a:endParaRPr lang="en-US" b="0" dirty="0"/>
          </a:p>
          <a:p>
            <a:endParaRPr lang="en-C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56194B-DF0D-CA45-9CE6-CF00B02D5A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N" dirty="0"/>
              <a:t>code c11_8</a:t>
            </a:r>
          </a:p>
        </p:txBody>
      </p:sp>
    </p:spTree>
    <p:extLst>
      <p:ext uri="{BB962C8B-B14F-4D97-AF65-F5344CB8AC3E}">
        <p14:creationId xmlns:p14="http://schemas.microsoft.com/office/powerpoint/2010/main" val="750662857"/>
      </p:ext>
    </p:extLst>
  </p:cSld>
  <p:clrMapOvr>
    <a:masterClrMapping/>
  </p:clrMapOvr>
  <p:transition spd="med"/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34B2C-BB52-6E4B-83C9-2D86C66E9B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继承关系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C61101-4E60-B644-9BB9-73904F45DF2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/>
              <a:t>Collapse Hierarchy</a:t>
            </a:r>
            <a:endParaRPr lang="en-US" b="0" dirty="0"/>
          </a:p>
          <a:p>
            <a:endParaRPr lang="en-C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CCA486-055D-9744-8850-9C9D197910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708880450"/>
      </p:ext>
    </p:extLst>
  </p:cSld>
  <p:clrMapOvr>
    <a:masterClrMapping/>
  </p:clrMapOvr>
  <p:transition spd="med"/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FD1592-027D-FD4F-87A9-C04667D1D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继承关系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77E6C4-ADD2-D74E-A2AF-74340C0480C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/>
              <a:t>Form Template Method</a:t>
            </a:r>
            <a:endParaRPr lang="en-US" b="0" dirty="0"/>
          </a:p>
          <a:p>
            <a:endParaRPr lang="en-C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F31B34-B857-1D45-92D8-79FDAEF065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 dirty="0"/>
              <a:t>code c11_10</a:t>
            </a:r>
          </a:p>
        </p:txBody>
      </p:sp>
    </p:spTree>
    <p:extLst>
      <p:ext uri="{BB962C8B-B14F-4D97-AF65-F5344CB8AC3E}">
        <p14:creationId xmlns:p14="http://schemas.microsoft.com/office/powerpoint/2010/main" val="1261492511"/>
      </p:ext>
    </p:extLst>
  </p:cSld>
  <p:clrMapOvr>
    <a:masterClrMapping/>
  </p:clrMapOvr>
  <p:transition spd="med"/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A94CE-6D1C-4F41-AA95-96D97E211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继承关系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5B50C0-990E-234E-BE19-CE4E4451AEE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/>
              <a:t>Replace Inheritance with Delegation</a:t>
            </a:r>
            <a:endParaRPr lang="en-US" b="0" dirty="0"/>
          </a:p>
          <a:p>
            <a:endParaRPr lang="en-C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C77859-E21F-904E-B445-774B2E2CA9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720042642"/>
      </p:ext>
    </p:extLst>
  </p:cSld>
  <p:clrMapOvr>
    <a:masterClrMapping/>
  </p:clrMapOvr>
  <p:transition spd="med"/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E449D-4BDA-8C4B-BF5E-0F0AF6AFD1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继承关系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DDD136-B300-5849-87EF-6B0C8897223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/>
              <a:t>Replace Delegation with Inheritance</a:t>
            </a:r>
            <a:endParaRPr lang="en-US" b="0" dirty="0"/>
          </a:p>
          <a:p>
            <a:endParaRPr lang="en-C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F5A46D-C133-414D-B186-F9B10CBE0B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127509418"/>
      </p:ext>
    </p:extLst>
  </p:cSld>
  <p:clrMapOvr>
    <a:masterClrMapping/>
  </p:clrMapOvr>
  <p:transition spd="med"/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DB9C6C-31A8-0346-8334-07AC8B0C40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大型重构</a:t>
            </a:r>
            <a:endParaRPr lang="en-C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A10EDF-45F6-EC40-A414-4B9455BC691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/>
              <a:t>Tease Apart Inheritance</a:t>
            </a:r>
            <a:r>
              <a:rPr lang="zh-CN" altLang="en-US" dirty="0"/>
              <a:t> </a:t>
            </a:r>
            <a:r>
              <a:rPr lang="en-US" altLang="zh-CN" dirty="0"/>
              <a:t>-</a:t>
            </a:r>
            <a:r>
              <a:rPr lang="zh-CN" altLang="en-US" dirty="0"/>
              <a:t> </a:t>
            </a:r>
            <a:r>
              <a:rPr lang="en-US" altLang="zh-CN" dirty="0"/>
              <a:t>1</a:t>
            </a:r>
            <a:endParaRPr lang="en-US" b="0" dirty="0"/>
          </a:p>
          <a:p>
            <a:endParaRPr lang="en-C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99BD54-8268-0B4D-BD4E-A6E5B1B8F0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06500" y="3307742"/>
            <a:ext cx="21971000" cy="9196774"/>
          </a:xfrm>
        </p:spPr>
        <p:txBody>
          <a:bodyPr/>
          <a:lstStyle/>
          <a:p>
            <a:endParaRPr lang="en-CN" dirty="0"/>
          </a:p>
        </p:txBody>
      </p:sp>
      <p:pic>
        <p:nvPicPr>
          <p:cNvPr id="8" name="Picture 7" descr="Table&#10;&#10;Description automatically generated">
            <a:extLst>
              <a:ext uri="{FF2B5EF4-FFF2-40B4-BE49-F238E27FC236}">
                <a16:creationId xmlns:a16="http://schemas.microsoft.com/office/drawing/2014/main" id="{782CDEFE-5D3E-604A-AEF3-0FF46341F5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62304" y="3648373"/>
            <a:ext cx="7229982" cy="1688755"/>
          </a:xfrm>
          <a:prstGeom prst="rect">
            <a:avLst/>
          </a:prstGeom>
        </p:spPr>
      </p:pic>
      <p:sp>
        <p:nvSpPr>
          <p:cNvPr id="21" name="Right Arrow 20">
            <a:extLst>
              <a:ext uri="{FF2B5EF4-FFF2-40B4-BE49-F238E27FC236}">
                <a16:creationId xmlns:a16="http://schemas.microsoft.com/office/drawing/2014/main" id="{FDB87FC0-CF10-864C-B19D-57DBCC1A02AD}"/>
              </a:ext>
            </a:extLst>
          </p:cNvPr>
          <p:cNvSpPr/>
          <p:nvPr/>
        </p:nvSpPr>
        <p:spPr>
          <a:xfrm>
            <a:off x="10040112" y="7589520"/>
            <a:ext cx="1481328" cy="237744"/>
          </a:xfrm>
          <a:prstGeom prst="rightArrow">
            <a:avLst/>
          </a:prstGeom>
          <a:solidFill>
            <a:srgbClr val="0000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CN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0A79083F-3FFF-594B-91BF-067A08899F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4908" y="4601204"/>
            <a:ext cx="7668612" cy="6993388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EA061189-F8B1-5B4B-9639-872DCFA8E2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649595" y="5742432"/>
            <a:ext cx="8614359" cy="5874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285712"/>
      </p:ext>
    </p:extLst>
  </p:cSld>
  <p:clrMapOvr>
    <a:masterClrMapping/>
  </p:clrMapOvr>
  <p:transition spd="med"/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DB9C6C-31A8-0346-8334-07AC8B0C40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大型重构</a:t>
            </a:r>
            <a:endParaRPr lang="en-C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A10EDF-45F6-EC40-A414-4B9455BC691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/>
              <a:t>Tease Apart Inheritance</a:t>
            </a:r>
            <a:r>
              <a:rPr lang="zh-CN" altLang="en-US" dirty="0"/>
              <a:t> </a:t>
            </a:r>
            <a:r>
              <a:rPr lang="en-US" altLang="zh-CN" dirty="0"/>
              <a:t>-2</a:t>
            </a:r>
            <a:endParaRPr lang="en-US" b="0" dirty="0"/>
          </a:p>
          <a:p>
            <a:endParaRPr lang="en-CN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EBB8BB8A-0DE4-C443-9BB5-4AC6C4A6B6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68386" y="4937761"/>
            <a:ext cx="10749024" cy="4279392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99BD54-8268-0B4D-BD4E-A6E5B1B8F0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06500" y="3307742"/>
            <a:ext cx="21971000" cy="9196774"/>
          </a:xfrm>
        </p:spPr>
        <p:txBody>
          <a:bodyPr/>
          <a:lstStyle/>
          <a:p>
            <a:endParaRPr lang="en-CN" dirty="0"/>
          </a:p>
        </p:txBody>
      </p:sp>
      <p:sp>
        <p:nvSpPr>
          <p:cNvPr id="7" name="Right Arrow 6">
            <a:extLst>
              <a:ext uri="{FF2B5EF4-FFF2-40B4-BE49-F238E27FC236}">
                <a16:creationId xmlns:a16="http://schemas.microsoft.com/office/drawing/2014/main" id="{81E32297-E03E-E94B-9B07-F514A0BE8C52}"/>
              </a:ext>
            </a:extLst>
          </p:cNvPr>
          <p:cNvSpPr/>
          <p:nvPr/>
        </p:nvSpPr>
        <p:spPr>
          <a:xfrm>
            <a:off x="1353312" y="6638544"/>
            <a:ext cx="829607" cy="219456"/>
          </a:xfrm>
          <a:prstGeom prst="rightArrow">
            <a:avLst/>
          </a:prstGeom>
          <a:solidFill>
            <a:srgbClr val="0000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CN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Right Arrow 8">
            <a:extLst>
              <a:ext uri="{FF2B5EF4-FFF2-40B4-BE49-F238E27FC236}">
                <a16:creationId xmlns:a16="http://schemas.microsoft.com/office/drawing/2014/main" id="{FD39F3CC-6A79-FB49-94BF-00FEF9F7CC2C}"/>
              </a:ext>
            </a:extLst>
          </p:cNvPr>
          <p:cNvSpPr/>
          <p:nvPr/>
        </p:nvSpPr>
        <p:spPr>
          <a:xfrm>
            <a:off x="11814048" y="7077456"/>
            <a:ext cx="950976" cy="274320"/>
          </a:xfrm>
          <a:prstGeom prst="rightArrow">
            <a:avLst/>
          </a:prstGeom>
          <a:solidFill>
            <a:srgbClr val="0000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CN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B379BB1-C868-CB45-B785-1ACB36CBD2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9496" y="5305473"/>
            <a:ext cx="9547242" cy="4826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9708102"/>
      </p:ext>
    </p:extLst>
  </p:cSld>
  <p:clrMapOvr>
    <a:masterClrMapping/>
  </p:clrMapOvr>
  <p:transition spd="med"/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DB9C6C-31A8-0346-8334-07AC8B0C40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大型重构</a:t>
            </a:r>
            <a:endParaRPr lang="en-C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A10EDF-45F6-EC40-A414-4B9455BC691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/>
              <a:t>Tease Apart Inheritance</a:t>
            </a:r>
            <a:r>
              <a:rPr lang="zh-CN" altLang="en-US" dirty="0"/>
              <a:t> </a:t>
            </a:r>
            <a:r>
              <a:rPr lang="en-US" altLang="zh-CN" dirty="0"/>
              <a:t>-3</a:t>
            </a:r>
            <a:endParaRPr lang="en-C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99BD54-8268-0B4D-BD4E-A6E5B1B8F0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06500" y="3307742"/>
            <a:ext cx="21971000" cy="9196774"/>
          </a:xfrm>
        </p:spPr>
        <p:txBody>
          <a:bodyPr/>
          <a:lstStyle/>
          <a:p>
            <a:endParaRPr lang="en-CN" dirty="0"/>
          </a:p>
        </p:txBody>
      </p:sp>
      <p:sp>
        <p:nvSpPr>
          <p:cNvPr id="5" name="Right Arrow 4">
            <a:extLst>
              <a:ext uri="{FF2B5EF4-FFF2-40B4-BE49-F238E27FC236}">
                <a16:creationId xmlns:a16="http://schemas.microsoft.com/office/drawing/2014/main" id="{0A121217-8740-9648-976C-A2B2A8C2E8D9}"/>
              </a:ext>
            </a:extLst>
          </p:cNvPr>
          <p:cNvSpPr/>
          <p:nvPr/>
        </p:nvSpPr>
        <p:spPr>
          <a:xfrm>
            <a:off x="1342564" y="6858000"/>
            <a:ext cx="669116" cy="219456"/>
          </a:xfrm>
          <a:prstGeom prst="rightArrow">
            <a:avLst/>
          </a:prstGeom>
          <a:solidFill>
            <a:srgbClr val="0000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CN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740165A-BE49-7243-A9E1-B1AAF8CE3E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9617" y="5277665"/>
            <a:ext cx="11566321" cy="3813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1232393"/>
      </p:ext>
    </p:extLst>
  </p:cSld>
  <p:clrMapOvr>
    <a:masterClrMapping/>
  </p:clrMapOvr>
  <p:transition spd="med"/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DB9C6C-31A8-0346-8334-07AC8B0C40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大型重构</a:t>
            </a:r>
            <a:endParaRPr lang="en-C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A10EDF-45F6-EC40-A414-4B9455BC691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/>
              <a:t>Tease Apart Inheritance</a:t>
            </a:r>
            <a:r>
              <a:rPr lang="zh-CN" altLang="en-US" dirty="0"/>
              <a:t> </a:t>
            </a:r>
            <a:r>
              <a:rPr lang="en-US" altLang="zh-CN" dirty="0"/>
              <a:t>-4</a:t>
            </a:r>
            <a:endParaRPr lang="en-US" b="0" dirty="0"/>
          </a:p>
          <a:p>
            <a:endParaRPr lang="en-C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99BD54-8268-0B4D-BD4E-A6E5B1B8F0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06500" y="3307742"/>
            <a:ext cx="21971000" cy="9196774"/>
          </a:xfrm>
        </p:spPr>
        <p:txBody>
          <a:bodyPr/>
          <a:lstStyle/>
          <a:p>
            <a:pPr marL="0" indent="0">
              <a:buNone/>
            </a:pPr>
            <a:endParaRPr lang="en-CN" dirty="0"/>
          </a:p>
          <a:p>
            <a:pPr marL="0" indent="0">
              <a:buNone/>
            </a:pPr>
            <a:endParaRPr lang="en-CN" dirty="0"/>
          </a:p>
          <a:p>
            <a:pPr marL="0" indent="0">
              <a:buNone/>
            </a:pPr>
            <a:endParaRPr lang="en-CN" dirty="0"/>
          </a:p>
          <a:p>
            <a:pPr marL="0" indent="0">
              <a:buNone/>
            </a:pPr>
            <a:r>
              <a:rPr lang="en-CN" dirty="0"/>
              <a:t>			         </a:t>
            </a:r>
            <a:r>
              <a:rPr lang="en-CN" sz="8000" dirty="0"/>
              <a:t>VS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93E6B67-9A10-214D-8F67-317F6E5283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6500" y="4409435"/>
            <a:ext cx="7668612" cy="699338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FF9C9B7-BA65-7C4D-9208-88D9CE2B54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1370" y="5921080"/>
            <a:ext cx="12042630" cy="3970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048513"/>
      </p:ext>
    </p:extLst>
  </p:cSld>
  <p:clrMapOvr>
    <a:masterClrMapping/>
  </p:clrMapOvr>
  <p:transition spd="med"/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DB9C6C-31A8-0346-8334-07AC8B0C40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大型重构</a:t>
            </a:r>
            <a:endParaRPr lang="en-C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A10EDF-45F6-EC40-A414-4B9455BC691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/>
              <a:t>Convert Procedural Design to Objects</a:t>
            </a:r>
            <a:endParaRPr lang="en-C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4A90BE9-CA3E-624A-B455-A9157CCE42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0" y="5906419"/>
            <a:ext cx="7390384" cy="33419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656D2FB-F7DE-9041-904E-FD4DF63B4C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49073" y="6022665"/>
            <a:ext cx="9580898" cy="3225729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99BD54-8268-0B4D-BD4E-A6E5B1B8F0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11" name="Right Arrow 10">
            <a:extLst>
              <a:ext uri="{FF2B5EF4-FFF2-40B4-BE49-F238E27FC236}">
                <a16:creationId xmlns:a16="http://schemas.microsoft.com/office/drawing/2014/main" id="{DAFF16CA-6839-174B-A784-BB6706E4CCFC}"/>
              </a:ext>
            </a:extLst>
          </p:cNvPr>
          <p:cNvSpPr/>
          <p:nvPr/>
        </p:nvSpPr>
        <p:spPr>
          <a:xfrm>
            <a:off x="10582656" y="7315200"/>
            <a:ext cx="1609344" cy="256032"/>
          </a:xfrm>
          <a:prstGeom prst="rightArrow">
            <a:avLst/>
          </a:prstGeom>
          <a:solidFill>
            <a:srgbClr val="0000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CN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2675434080"/>
      </p:ext>
    </p:extLst>
  </p:cSld>
  <p:clrMapOvr>
    <a:masterClrMapping/>
  </p:clrMapOvr>
  <p:transition spd="med"/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DB9C6C-31A8-0346-8334-07AC8B0C40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大型重构</a:t>
            </a:r>
            <a:endParaRPr lang="en-C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A10EDF-45F6-EC40-A414-4B9455BC691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/>
              <a:t>Separate Domain from Presentation</a:t>
            </a:r>
            <a:endParaRPr lang="en-US" b="0" dirty="0"/>
          </a:p>
          <a:p>
            <a:endParaRPr lang="en-C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99BD54-8268-0B4D-BD4E-A6E5B1B8F0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990573666"/>
      </p:ext>
    </p:extLst>
  </p:cSld>
  <p:clrMapOvr>
    <a:masterClrMapping/>
  </p:clrMapOvr>
  <p:transition spd="med"/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DB9C6C-31A8-0346-8334-07AC8B0C40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大型重构</a:t>
            </a:r>
            <a:endParaRPr lang="en-C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A10EDF-45F6-EC40-A414-4B9455BC691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/>
              <a:t>Extract Hierarchy</a:t>
            </a:r>
            <a:endParaRPr lang="en-US" b="0" dirty="0"/>
          </a:p>
          <a:p>
            <a:endParaRPr lang="en-C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99BD54-8268-0B4D-BD4E-A6E5B1B8F0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188870739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518</TotalTime>
  <Words>921</Words>
  <Application>Microsoft Macintosh PowerPoint</Application>
  <PresentationFormat>Custom</PresentationFormat>
  <Paragraphs>262</Paragraphs>
  <Slides>79</Slides>
  <Notes>57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79</vt:i4>
      </vt:variant>
    </vt:vector>
  </HeadingPairs>
  <TitlesOfParts>
    <vt:vector size="83" baseType="lpstr">
      <vt:lpstr>Arial</vt:lpstr>
      <vt:lpstr>Helvetica Neue</vt:lpstr>
      <vt:lpstr>Helvetica Neue Medium</vt:lpstr>
      <vt:lpstr>21_BasicWhite</vt:lpstr>
      <vt:lpstr>Refactoring</vt:lpstr>
      <vt:lpstr>Ref</vt:lpstr>
      <vt:lpstr>QA</vt:lpstr>
      <vt:lpstr>工具</vt:lpstr>
      <vt:lpstr>重构与性能</vt:lpstr>
      <vt:lpstr>难题</vt:lpstr>
      <vt:lpstr>组织函数</vt:lpstr>
      <vt:lpstr>组织函数</vt:lpstr>
      <vt:lpstr>组织函数</vt:lpstr>
      <vt:lpstr>组织函数</vt:lpstr>
      <vt:lpstr>组织函数</vt:lpstr>
      <vt:lpstr>组织函数</vt:lpstr>
      <vt:lpstr>组织函数</vt:lpstr>
      <vt:lpstr>组织函数</vt:lpstr>
      <vt:lpstr>组织函数</vt:lpstr>
      <vt:lpstr>在对象之间搬移特性</vt:lpstr>
      <vt:lpstr>在对象之间搬移特性</vt:lpstr>
      <vt:lpstr>在对象之间搬移特性</vt:lpstr>
      <vt:lpstr>在对象之间搬移特性</vt:lpstr>
      <vt:lpstr>在对象之间搬移特性</vt:lpstr>
      <vt:lpstr>在对象之间搬移特性</vt:lpstr>
      <vt:lpstr>在对象之间搬移特性</vt:lpstr>
      <vt:lpstr>重新组织数据</vt:lpstr>
      <vt:lpstr>重新组织数据</vt:lpstr>
      <vt:lpstr>重新组织数据</vt:lpstr>
      <vt:lpstr>重新组织数据</vt:lpstr>
      <vt:lpstr>重新组织数据</vt:lpstr>
      <vt:lpstr>重新组织数据</vt:lpstr>
      <vt:lpstr>重新组织数据</vt:lpstr>
      <vt:lpstr>重新组织数据</vt:lpstr>
      <vt:lpstr>重新组织数据</vt:lpstr>
      <vt:lpstr>重新组织数据</vt:lpstr>
      <vt:lpstr>重新组织数据</vt:lpstr>
      <vt:lpstr>重新组织数据</vt:lpstr>
      <vt:lpstr>重新组织数据</vt:lpstr>
      <vt:lpstr>重新组织数据</vt:lpstr>
      <vt:lpstr>重新组织数据</vt:lpstr>
      <vt:lpstr>条件表达式 </vt:lpstr>
      <vt:lpstr>条件表达式 </vt:lpstr>
      <vt:lpstr>条件表达式 </vt:lpstr>
      <vt:lpstr>条件表达式 </vt:lpstr>
      <vt:lpstr>条件表达式 </vt:lpstr>
      <vt:lpstr>条件表达式 </vt:lpstr>
      <vt:lpstr>条件表达式 </vt:lpstr>
      <vt:lpstr>条件表达式 </vt:lpstr>
      <vt:lpstr>函数调用 </vt:lpstr>
      <vt:lpstr>函数调用 </vt:lpstr>
      <vt:lpstr>函数调用 </vt:lpstr>
      <vt:lpstr>函数调用 </vt:lpstr>
      <vt:lpstr>函数调用 </vt:lpstr>
      <vt:lpstr>函数调用 </vt:lpstr>
      <vt:lpstr>函数调用 </vt:lpstr>
      <vt:lpstr>函数调用 </vt:lpstr>
      <vt:lpstr>函数调用 </vt:lpstr>
      <vt:lpstr>函数调用</vt:lpstr>
      <vt:lpstr>函数调用</vt:lpstr>
      <vt:lpstr>函数调用</vt:lpstr>
      <vt:lpstr>函数调用</vt:lpstr>
      <vt:lpstr>函数调用</vt:lpstr>
      <vt:lpstr>函数调用</vt:lpstr>
      <vt:lpstr>继承关系</vt:lpstr>
      <vt:lpstr>继承关系</vt:lpstr>
      <vt:lpstr>继承关系</vt:lpstr>
      <vt:lpstr>继承关系</vt:lpstr>
      <vt:lpstr>继承关系</vt:lpstr>
      <vt:lpstr>继承关系</vt:lpstr>
      <vt:lpstr>继承关系</vt:lpstr>
      <vt:lpstr>继承关系</vt:lpstr>
      <vt:lpstr>继承关系</vt:lpstr>
      <vt:lpstr>继承关系</vt:lpstr>
      <vt:lpstr>继承关系</vt:lpstr>
      <vt:lpstr>继承关系</vt:lpstr>
      <vt:lpstr>大型重构</vt:lpstr>
      <vt:lpstr>大型重构</vt:lpstr>
      <vt:lpstr>大型重构</vt:lpstr>
      <vt:lpstr>大型重构</vt:lpstr>
      <vt:lpstr>大型重构</vt:lpstr>
      <vt:lpstr>大型重构</vt:lpstr>
      <vt:lpstr>大型重构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Refactoring</dc:title>
  <cp:lastModifiedBy>kf</cp:lastModifiedBy>
  <cp:revision>269</cp:revision>
  <dcterms:modified xsi:type="dcterms:W3CDTF">2021-05-18T10:46:42Z</dcterms:modified>
</cp:coreProperties>
</file>