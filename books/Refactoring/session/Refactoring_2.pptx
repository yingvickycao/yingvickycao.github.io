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8"/>
  </p:notesMasterIdLst>
  <p:sldIdLst>
    <p:sldId id="256" r:id="rId2"/>
    <p:sldId id="260" r:id="rId3"/>
    <p:sldId id="338" r:id="rId4"/>
    <p:sldId id="280" r:id="rId5"/>
    <p:sldId id="257" r:id="rId6"/>
    <p:sldId id="258" r:id="rId7"/>
    <p:sldId id="259" r:id="rId8"/>
    <p:sldId id="264" r:id="rId9"/>
    <p:sldId id="265" r:id="rId10"/>
    <p:sldId id="266" r:id="rId11"/>
    <p:sldId id="267" r:id="rId12"/>
    <p:sldId id="268" r:id="rId13"/>
    <p:sldId id="272" r:id="rId14"/>
    <p:sldId id="269" r:id="rId15"/>
    <p:sldId id="270" r:id="rId16"/>
    <p:sldId id="271" r:id="rId17"/>
    <p:sldId id="273" r:id="rId18"/>
    <p:sldId id="274" r:id="rId19"/>
    <p:sldId id="276" r:id="rId20"/>
    <p:sldId id="277" r:id="rId21"/>
    <p:sldId id="279" r:id="rId22"/>
    <p:sldId id="281" r:id="rId23"/>
    <p:sldId id="283" r:id="rId24"/>
    <p:sldId id="284" r:id="rId25"/>
    <p:sldId id="285" r:id="rId26"/>
    <p:sldId id="286" r:id="rId27"/>
    <p:sldId id="288" r:id="rId28"/>
    <p:sldId id="289" r:id="rId29"/>
    <p:sldId id="291" r:id="rId30"/>
    <p:sldId id="292" r:id="rId31"/>
    <p:sldId id="295" r:id="rId32"/>
    <p:sldId id="296" r:id="rId33"/>
    <p:sldId id="298" r:id="rId34"/>
    <p:sldId id="299" r:id="rId35"/>
    <p:sldId id="300" r:id="rId36"/>
    <p:sldId id="301" r:id="rId37"/>
    <p:sldId id="302" r:id="rId38"/>
    <p:sldId id="303" r:id="rId39"/>
    <p:sldId id="304" r:id="rId40"/>
    <p:sldId id="305" r:id="rId41"/>
    <p:sldId id="306" r:id="rId42"/>
    <p:sldId id="307" r:id="rId43"/>
    <p:sldId id="312" r:id="rId44"/>
    <p:sldId id="308" r:id="rId45"/>
    <p:sldId id="309" r:id="rId46"/>
    <p:sldId id="310" r:id="rId47"/>
    <p:sldId id="313" r:id="rId48"/>
    <p:sldId id="314" r:id="rId49"/>
    <p:sldId id="316" r:id="rId50"/>
    <p:sldId id="315" r:id="rId51"/>
    <p:sldId id="317" r:id="rId52"/>
    <p:sldId id="319" r:id="rId53"/>
    <p:sldId id="322" r:id="rId54"/>
    <p:sldId id="324" r:id="rId55"/>
    <p:sldId id="325" r:id="rId56"/>
    <p:sldId id="326" r:id="rId57"/>
    <p:sldId id="327" r:id="rId58"/>
    <p:sldId id="328" r:id="rId59"/>
    <p:sldId id="329" r:id="rId60"/>
    <p:sldId id="331" r:id="rId61"/>
    <p:sldId id="335" r:id="rId62"/>
    <p:sldId id="336" r:id="rId63"/>
    <p:sldId id="337" r:id="rId64"/>
    <p:sldId id="332" r:id="rId65"/>
    <p:sldId id="333" r:id="rId66"/>
    <p:sldId id="334" r:id="rId67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2"/>
    <p:restoredTop sz="94655"/>
  </p:normalViewPr>
  <p:slideViewPr>
    <p:cSldViewPr snapToGrid="0" snapToObjects="1">
      <p:cViewPr varScale="1">
        <p:scale>
          <a:sx n="76" d="100"/>
          <a:sy n="76" d="100"/>
        </p:scale>
        <p:origin x="248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9" name="Shape 14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922433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6_1</a:t>
            </a:r>
          </a:p>
        </p:txBody>
      </p:sp>
    </p:spTree>
    <p:extLst>
      <p:ext uri="{BB962C8B-B14F-4D97-AF65-F5344CB8AC3E}">
        <p14:creationId xmlns:p14="http://schemas.microsoft.com/office/powerpoint/2010/main" val="181911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N" dirty="0"/>
              <a:t>code 6_2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35955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N" dirty="0"/>
              <a:t>code 6_3</a:t>
            </a:r>
          </a:p>
          <a:p>
            <a:r>
              <a:rPr lang="en-CN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3370726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6_5</a:t>
            </a:r>
          </a:p>
        </p:txBody>
      </p:sp>
    </p:spTree>
    <p:extLst>
      <p:ext uri="{BB962C8B-B14F-4D97-AF65-F5344CB8AC3E}">
        <p14:creationId xmlns:p14="http://schemas.microsoft.com/office/powerpoint/2010/main" val="4145036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6_6</a:t>
            </a:r>
          </a:p>
        </p:txBody>
      </p:sp>
    </p:spTree>
    <p:extLst>
      <p:ext uri="{BB962C8B-B14F-4D97-AF65-F5344CB8AC3E}">
        <p14:creationId xmlns:p14="http://schemas.microsoft.com/office/powerpoint/2010/main" val="1538252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6_7</a:t>
            </a:r>
          </a:p>
        </p:txBody>
      </p:sp>
    </p:spTree>
    <p:extLst>
      <p:ext uri="{BB962C8B-B14F-4D97-AF65-F5344CB8AC3E}">
        <p14:creationId xmlns:p14="http://schemas.microsoft.com/office/powerpoint/2010/main" val="34386446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6_9</a:t>
            </a:r>
          </a:p>
        </p:txBody>
      </p:sp>
    </p:spTree>
    <p:extLst>
      <p:ext uri="{BB962C8B-B14F-4D97-AF65-F5344CB8AC3E}">
        <p14:creationId xmlns:p14="http://schemas.microsoft.com/office/powerpoint/2010/main" val="42829753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code 7_1  </a:t>
            </a: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code 7_2 </a:t>
            </a: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将旧函数变成一个单纯的委托函数（</a:t>
            </a:r>
            <a:r>
              <a:rPr lang="en-US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delegating method），</a:t>
            </a:r>
            <a:r>
              <a:rPr lang="zh-CN" altLang="en-US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或是将旧函数完全移除。</a:t>
            </a:r>
            <a:endParaRPr lang="en-CN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165487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7_3 </a:t>
            </a:r>
          </a:p>
          <a:p>
            <a:r>
              <a:rPr lang="en-CN" dirty="0"/>
              <a:t>class</a:t>
            </a:r>
            <a:r>
              <a:rPr lang="zh-CN" altLang="en-US" dirty="0"/>
              <a:t> 是</a:t>
            </a:r>
            <a:r>
              <a:rPr lang="en-CN" dirty="0"/>
              <a:t>对事物的抽象</a:t>
            </a:r>
          </a:p>
        </p:txBody>
      </p:sp>
    </p:spTree>
    <p:extLst>
      <p:ext uri="{BB962C8B-B14F-4D97-AF65-F5344CB8AC3E}">
        <p14:creationId xmlns:p14="http://schemas.microsoft.com/office/powerpoint/2010/main" val="25193018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7_4</a:t>
            </a:r>
          </a:p>
        </p:txBody>
      </p:sp>
    </p:spTree>
    <p:extLst>
      <p:ext uri="{BB962C8B-B14F-4D97-AF65-F5344CB8AC3E}">
        <p14:creationId xmlns:p14="http://schemas.microsoft.com/office/powerpoint/2010/main" val="25574431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MVC = View -&gt; Controller -&gt; Model, </a:t>
            </a:r>
            <a:r>
              <a:rPr lang="zh-CN" altLang="en-US" dirty="0"/>
              <a:t> </a:t>
            </a:r>
            <a:r>
              <a:rPr lang="en-US" altLang="zh-CN" dirty="0"/>
              <a:t>code 7_5, code 7_6</a:t>
            </a:r>
            <a:endParaRPr lang="en-CN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13055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6771053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8_1</a:t>
            </a:r>
          </a:p>
          <a:p>
            <a:r>
              <a:rPr lang="en-CN" dirty="0"/>
              <a:t>add set and get</a:t>
            </a:r>
          </a:p>
        </p:txBody>
      </p:sp>
    </p:spTree>
    <p:extLst>
      <p:ext uri="{BB962C8B-B14F-4D97-AF65-F5344CB8AC3E}">
        <p14:creationId xmlns:p14="http://schemas.microsoft.com/office/powerpoint/2010/main" val="2724325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b="0" i="0" dirty="0">
                <a:effectLst/>
                <a:latin typeface="+mn-lt"/>
                <a:ea typeface="+mn-ea"/>
                <a:cs typeface="+mn-cs"/>
                <a:sym typeface="Helvetica Neue"/>
              </a:rPr>
              <a:t>value objects : </a:t>
            </a:r>
            <a:r>
              <a:rPr lang="en-US" sz="2200" b="0" i="0" dirty="0" err="1">
                <a:effectLst/>
                <a:latin typeface="+mn-lt"/>
                <a:ea typeface="+mn-ea"/>
                <a:cs typeface="+mn-cs"/>
                <a:sym typeface="Helvetica Neue"/>
              </a:rPr>
              <a:t>内容相同</a:t>
            </a:r>
            <a:r>
              <a:rPr lang="zh-CN" altLang="en-US" sz="2200" b="0" i="0" dirty="0">
                <a:effectLst/>
                <a:latin typeface="+mn-lt"/>
                <a:ea typeface="+mn-ea"/>
                <a:cs typeface="+mn-cs"/>
                <a:sym typeface="Helvetica Neue"/>
              </a:rPr>
              <a:t>，实例</a:t>
            </a:r>
            <a:r>
              <a:rPr lang="en-US" altLang="zh-CN" sz="2200" b="0" i="0" dirty="0">
                <a:effectLst/>
                <a:latin typeface="+mn-lt"/>
                <a:ea typeface="+mn-ea"/>
                <a:cs typeface="+mn-cs"/>
                <a:sym typeface="Helvetica Neue"/>
              </a:rPr>
              <a:t>N</a:t>
            </a:r>
            <a:r>
              <a:rPr lang="zh-CN" altLang="en-US" sz="2200" b="0" i="0" dirty="0">
                <a:effectLst/>
                <a:latin typeface="+mn-lt"/>
                <a:ea typeface="+mn-ea"/>
                <a:cs typeface="+mn-cs"/>
                <a:sym typeface="Helvetica Neue"/>
              </a:rPr>
              <a:t>可以有个</a:t>
            </a:r>
            <a:endParaRPr lang="en-US" sz="2200" b="0" i="0" dirty="0">
              <a:effectLst/>
              <a:latin typeface="+mn-lt"/>
              <a:ea typeface="+mn-ea"/>
              <a:cs typeface="+mn-cs"/>
              <a:sym typeface="Helvetica Neue"/>
            </a:endParaRPr>
          </a:p>
          <a:p>
            <a:r>
              <a:rPr lang="en-US" sz="2200" b="0" i="0" dirty="0">
                <a:effectLst/>
                <a:latin typeface="+mn-lt"/>
                <a:ea typeface="+mn-ea"/>
                <a:cs typeface="+mn-cs"/>
                <a:sym typeface="Helvetica Neue"/>
              </a:rPr>
              <a:t>reference object</a:t>
            </a:r>
            <a:r>
              <a:rPr lang="zh-CN" altLang="en-US" sz="2200" b="0" i="0" dirty="0">
                <a:effectLst/>
                <a:latin typeface="+mn-lt"/>
                <a:ea typeface="+mn-ea"/>
                <a:cs typeface="+mn-cs"/>
                <a:sym typeface="Helvetica Neue"/>
              </a:rPr>
              <a:t>：同一个对象</a:t>
            </a:r>
            <a:endParaRPr lang="en-CN" dirty="0"/>
          </a:p>
          <a:p>
            <a:r>
              <a:rPr lang="en-CN" dirty="0"/>
              <a:t>京东app</a:t>
            </a:r>
            <a:r>
              <a:rPr lang="zh-CN" altLang="en-US" dirty="0"/>
              <a:t>：多个订单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个收件人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0471031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8_5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7924617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r>
              <a:rPr lang="zh-CN" altLang="en-US" dirty="0"/>
              <a:t> 份数据，不同 </a:t>
            </a:r>
            <a:r>
              <a:rPr lang="en-US" altLang="zh-CN" dirty="0"/>
              <a:t>UI</a:t>
            </a:r>
            <a:r>
              <a:rPr lang="zh-CN" altLang="en-US" dirty="0"/>
              <a:t>。观察者模式</a:t>
            </a:r>
            <a:endParaRPr lang="en-US" altLang="zh-CN" dirty="0"/>
          </a:p>
          <a:p>
            <a:r>
              <a:rPr lang="en-US" altLang="zh-CN" dirty="0"/>
              <a:t>code 8_6</a:t>
            </a:r>
          </a:p>
        </p:txBody>
      </p:sp>
    </p:spTree>
    <p:extLst>
      <p:ext uri="{BB962C8B-B14F-4D97-AF65-F5344CB8AC3E}">
        <p14:creationId xmlns:p14="http://schemas.microsoft.com/office/powerpoint/2010/main" val="1185509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8_7, code 8_8</a:t>
            </a:r>
          </a:p>
          <a:p>
            <a:r>
              <a:rPr lang="en-CN" dirty="0"/>
              <a:t>viewgroup , child view</a:t>
            </a:r>
          </a:p>
        </p:txBody>
      </p:sp>
    </p:spTree>
    <p:extLst>
      <p:ext uri="{BB962C8B-B14F-4D97-AF65-F5344CB8AC3E}">
        <p14:creationId xmlns:p14="http://schemas.microsoft.com/office/powerpoint/2010/main" val="16451084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8_9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81247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8_10</a:t>
            </a:r>
          </a:p>
          <a:p>
            <a:r>
              <a:rPr lang="en-CN" dirty="0"/>
              <a:t>code 8_11</a:t>
            </a:r>
          </a:p>
        </p:txBody>
      </p:sp>
    </p:spTree>
    <p:extLst>
      <p:ext uri="{BB962C8B-B14F-4D97-AF65-F5344CB8AC3E}">
        <p14:creationId xmlns:p14="http://schemas.microsoft.com/office/powerpoint/2010/main" val="15347413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8_12</a:t>
            </a:r>
          </a:p>
          <a:p>
            <a:r>
              <a:rPr lang="en-CN" dirty="0"/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33447763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修改前</a:t>
            </a:r>
            <a:r>
              <a:rPr lang="zh-CN" altLang="en-US" dirty="0"/>
              <a:t> </a:t>
            </a:r>
            <a:r>
              <a:rPr lang="en-US" altLang="zh-CN" dirty="0"/>
              <a:t>vs</a:t>
            </a:r>
            <a:r>
              <a:rPr lang="zh-CN" altLang="en-US" dirty="0"/>
              <a:t> 修改后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656879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8_16</a:t>
            </a:r>
          </a:p>
          <a:p>
            <a:r>
              <a:rPr lang="en-CN" dirty="0"/>
              <a:t>子类的差异很小</a:t>
            </a:r>
            <a:r>
              <a:rPr lang="zh-CN" altLang="en-US" dirty="0"/>
              <a:t>，差异仅仅返回常量的函数上。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8499838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4389813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N" dirty="0"/>
              <a:t>code 9_3</a:t>
            </a:r>
          </a:p>
        </p:txBody>
      </p:sp>
    </p:spTree>
    <p:extLst>
      <p:ext uri="{BB962C8B-B14F-4D97-AF65-F5344CB8AC3E}">
        <p14:creationId xmlns:p14="http://schemas.microsoft.com/office/powerpoint/2010/main" val="35015597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  <a:p>
            <a:r>
              <a:rPr lang="en-CN" dirty="0"/>
              <a:t> 卫语句</a:t>
            </a:r>
            <a:r>
              <a:rPr lang="zh-CN" altLang="en-US" dirty="0"/>
              <a:t>：</a:t>
            </a:r>
            <a:r>
              <a:rPr lang="en-US" altLang="zh-CN" dirty="0"/>
              <a:t>return</a:t>
            </a:r>
            <a:r>
              <a:rPr lang="zh-CN" altLang="en-US" dirty="0"/>
              <a:t> 语句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704441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0228210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Null Object </a:t>
            </a:r>
            <a:r>
              <a:rPr lang="zh-CN" altLang="en-US" dirty="0"/>
              <a:t>模式” </a:t>
            </a:r>
            <a:r>
              <a:rPr lang="en-US" altLang="zh-CN" dirty="0"/>
              <a:t>: </a:t>
            </a:r>
            <a:r>
              <a:rPr lang="en-US" dirty="0" err="1"/>
              <a:t>NullCustomer</a:t>
            </a:r>
            <a:endParaRPr lang="en-US" dirty="0"/>
          </a:p>
          <a:p>
            <a:pPr marL="0" marR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Special Case </a:t>
            </a:r>
            <a:r>
              <a:rPr lang="zh-CN" altLang="en-US" dirty="0"/>
              <a:t>模式 </a:t>
            </a:r>
            <a:r>
              <a:rPr lang="en-US" altLang="zh-CN" dirty="0"/>
              <a:t>: </a:t>
            </a:r>
            <a:r>
              <a:rPr lang="en-US" dirty="0" err="1"/>
              <a:t>NullCustomer</a:t>
            </a:r>
            <a:r>
              <a:rPr lang="en-US" dirty="0"/>
              <a:t>, </a:t>
            </a:r>
            <a:r>
              <a:rPr lang="en-US" dirty="0" err="1"/>
              <a:t>UnknowCustomer</a:t>
            </a:r>
            <a:r>
              <a:rPr lang="en-US" dirty="0"/>
              <a:t>, </a:t>
            </a:r>
            <a:r>
              <a:rPr lang="en-US" dirty="0" err="1"/>
              <a:t>NoCustomer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4808043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C9_8</a:t>
            </a: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使用断言，而不是注释。当某个条件为真时，这段代码才能正常运行。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3613745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c10_1</a:t>
            </a:r>
          </a:p>
        </p:txBody>
      </p:sp>
    </p:spTree>
    <p:extLst>
      <p:ext uri="{BB962C8B-B14F-4D97-AF65-F5344CB8AC3E}">
        <p14:creationId xmlns:p14="http://schemas.microsoft.com/office/powerpoint/2010/main" val="22027929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7162941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c10_4</a:t>
            </a:r>
          </a:p>
          <a:p>
            <a:r>
              <a:rPr lang="zh-CN" altLang="en-US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规则：任何有返回值的函数，都不应该有看得到的副作用。 </a:t>
            </a:r>
          </a:p>
          <a:p>
            <a:r>
              <a:rPr lang="zh-CN" altLang="en-US" sz="2200" b="0" dirty="0">
                <a:effectLst/>
                <a:latin typeface="+mn-lt"/>
                <a:ea typeface="+mn-ea"/>
                <a:cs typeface="+mn-cs"/>
                <a:sym typeface="Helvetica Neue"/>
              </a:rPr>
              <a:t>并不绝对遵守，但总是尽量遵守。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7759913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c10_5</a:t>
            </a:r>
          </a:p>
        </p:txBody>
      </p:sp>
    </p:spTree>
    <p:extLst>
      <p:ext uri="{BB962C8B-B14F-4D97-AF65-F5344CB8AC3E}">
        <p14:creationId xmlns:p14="http://schemas.microsoft.com/office/powerpoint/2010/main" val="5417971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c10_5</a:t>
            </a:r>
          </a:p>
        </p:txBody>
      </p:sp>
    </p:spTree>
    <p:extLst>
      <p:ext uri="{BB962C8B-B14F-4D97-AF65-F5344CB8AC3E}">
        <p14:creationId xmlns:p14="http://schemas.microsoft.com/office/powerpoint/2010/main" val="14030434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c10_7</a:t>
            </a:r>
          </a:p>
        </p:txBody>
      </p:sp>
    </p:spTree>
    <p:extLst>
      <p:ext uri="{BB962C8B-B14F-4D97-AF65-F5344CB8AC3E}">
        <p14:creationId xmlns:p14="http://schemas.microsoft.com/office/powerpoint/2010/main" val="29709553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c10_9</a:t>
            </a:r>
          </a:p>
        </p:txBody>
      </p:sp>
    </p:spTree>
    <p:extLst>
      <p:ext uri="{BB962C8B-B14F-4D97-AF65-F5344CB8AC3E}">
        <p14:creationId xmlns:p14="http://schemas.microsoft.com/office/powerpoint/2010/main" val="20469333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c10_10</a:t>
            </a:r>
          </a:p>
        </p:txBody>
      </p:sp>
    </p:spTree>
    <p:extLst>
      <p:ext uri="{BB962C8B-B14F-4D97-AF65-F5344CB8AC3E}">
        <p14:creationId xmlns:p14="http://schemas.microsoft.com/office/powerpoint/2010/main" val="16615346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c10_11</a:t>
            </a:r>
          </a:p>
        </p:txBody>
      </p:sp>
    </p:spTree>
    <p:extLst>
      <p:ext uri="{BB962C8B-B14F-4D97-AF65-F5344CB8AC3E}">
        <p14:creationId xmlns:p14="http://schemas.microsoft.com/office/powerpoint/2010/main" val="18578001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c10_1</a:t>
            </a:r>
            <a:r>
              <a:rPr lang="en-US" altLang="zh-CN" dirty="0"/>
              <a:t>4</a:t>
            </a:r>
          </a:p>
          <a:p>
            <a:r>
              <a:rPr lang="en-CN" dirty="0"/>
              <a:t>pulished</a:t>
            </a:r>
            <a:r>
              <a:rPr lang="zh-CN" altLang="en-US" dirty="0"/>
              <a:t> 函数 </a:t>
            </a:r>
            <a:r>
              <a:rPr lang="en-US" altLang="zh-CN" dirty="0"/>
              <a:t>/</a:t>
            </a:r>
            <a:r>
              <a:rPr lang="zh-CN" altLang="en-US" dirty="0"/>
              <a:t> </a:t>
            </a:r>
            <a:r>
              <a:rPr lang="en-CN" dirty="0"/>
              <a:t>意料之外的错误</a:t>
            </a:r>
          </a:p>
        </p:txBody>
      </p:sp>
    </p:spTree>
    <p:extLst>
      <p:ext uri="{BB962C8B-B14F-4D97-AF65-F5344CB8AC3E}">
        <p14:creationId xmlns:p14="http://schemas.microsoft.com/office/powerpoint/2010/main" val="39825319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c11_1</a:t>
            </a:r>
          </a:p>
        </p:txBody>
      </p:sp>
    </p:spTree>
    <p:extLst>
      <p:ext uri="{BB962C8B-B14F-4D97-AF65-F5344CB8AC3E}">
        <p14:creationId xmlns:p14="http://schemas.microsoft.com/office/powerpoint/2010/main" val="31768818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c11_4</a:t>
            </a:r>
          </a:p>
        </p:txBody>
      </p:sp>
    </p:spTree>
    <p:extLst>
      <p:ext uri="{BB962C8B-B14F-4D97-AF65-F5344CB8AC3E}">
        <p14:creationId xmlns:p14="http://schemas.microsoft.com/office/powerpoint/2010/main" val="401531493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c11_6</a:t>
            </a:r>
          </a:p>
        </p:txBody>
      </p:sp>
    </p:spTree>
    <p:extLst>
      <p:ext uri="{BB962C8B-B14F-4D97-AF65-F5344CB8AC3E}">
        <p14:creationId xmlns:p14="http://schemas.microsoft.com/office/powerpoint/2010/main" val="29065026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c11_7</a:t>
            </a:r>
          </a:p>
        </p:txBody>
      </p:sp>
    </p:spTree>
    <p:extLst>
      <p:ext uri="{BB962C8B-B14F-4D97-AF65-F5344CB8AC3E}">
        <p14:creationId xmlns:p14="http://schemas.microsoft.com/office/powerpoint/2010/main" val="122284622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c11_8</a:t>
            </a:r>
          </a:p>
        </p:txBody>
      </p:sp>
    </p:spTree>
    <p:extLst>
      <p:ext uri="{BB962C8B-B14F-4D97-AF65-F5344CB8AC3E}">
        <p14:creationId xmlns:p14="http://schemas.microsoft.com/office/powerpoint/2010/main" val="8672281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c11_9</a:t>
            </a:r>
          </a:p>
        </p:txBody>
      </p:sp>
    </p:spTree>
    <p:extLst>
      <p:ext uri="{BB962C8B-B14F-4D97-AF65-F5344CB8AC3E}">
        <p14:creationId xmlns:p14="http://schemas.microsoft.com/office/powerpoint/2010/main" val="26378268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c11_11</a:t>
            </a:r>
          </a:p>
        </p:txBody>
      </p:sp>
    </p:spTree>
    <p:extLst>
      <p:ext uri="{BB962C8B-B14F-4D97-AF65-F5344CB8AC3E}">
        <p14:creationId xmlns:p14="http://schemas.microsoft.com/office/powerpoint/2010/main" val="154180069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12_1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0179210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46781028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12_2</a:t>
            </a:r>
          </a:p>
        </p:txBody>
      </p:sp>
    </p:spTree>
    <p:extLst>
      <p:ext uri="{BB962C8B-B14F-4D97-AF65-F5344CB8AC3E}">
        <p14:creationId xmlns:p14="http://schemas.microsoft.com/office/powerpoint/2010/main" val="266688699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12_3</a:t>
            </a:r>
          </a:p>
        </p:txBody>
      </p:sp>
    </p:spTree>
    <p:extLst>
      <p:ext uri="{BB962C8B-B14F-4D97-AF65-F5344CB8AC3E}">
        <p14:creationId xmlns:p14="http://schemas.microsoft.com/office/powerpoint/2010/main" val="1326495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660384004_1290x1720.jpg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8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Agenda Subtitle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Fact information</a:t>
            </a:r>
          </a:p>
        </p:txBody>
      </p:sp>
      <p:sp>
        <p:nvSpPr>
          <p:cNvPr id="10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Attribution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Image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5" name="Image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Image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Image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ingVickyCao/Refactoring" TargetMode="External"/><Relationship Id="rId2" Type="http://schemas.openxmlformats.org/officeDocument/2006/relationships/hyperlink" Target="https://www.kancloud.cn/sstd521/refactor/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YingVickyCao/YingVickyCao.github.io/blob/master/books/Refactoring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Vicky, 2021/5/17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r>
              <a:t>Vicky, 2021/5/17</a:t>
            </a:r>
          </a:p>
        </p:txBody>
      </p:sp>
      <p:sp>
        <p:nvSpPr>
          <p:cNvPr id="152" name="Refactoring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rgbClr val="002060"/>
                </a:solidFill>
              </a:rPr>
              <a:t>Refactoring</a:t>
            </a:r>
          </a:p>
        </p:txBody>
      </p:sp>
      <p:sp>
        <p:nvSpPr>
          <p:cNvPr id="153" name="Improve the design of existing code 【Martin  Flower】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rgbClr val="002060"/>
                </a:solidFill>
              </a:rPr>
              <a:t>Improve the design of existing code </a:t>
            </a:r>
            <a:endParaRPr lang="en-US" dirty="0">
              <a:solidFill>
                <a:srgbClr val="002060"/>
              </a:solidFill>
            </a:endParaRPr>
          </a:p>
          <a:p>
            <a:r>
              <a:rPr lang="en-US" sz="4000" dirty="0"/>
              <a:t>by Martin  Flower</a:t>
            </a:r>
          </a:p>
        </p:txBody>
      </p:sp>
      <p:sp>
        <p:nvSpPr>
          <p:cNvPr id="154" name="Session part 2"/>
          <p:cNvSpPr txBox="1"/>
          <p:nvPr/>
        </p:nvSpPr>
        <p:spPr>
          <a:xfrm>
            <a:off x="18378928" y="6397878"/>
            <a:ext cx="4603561" cy="9202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 defTabSz="825500">
              <a:defRPr sz="5500">
                <a:solidFill>
                  <a:srgbClr val="000000"/>
                </a:solidFill>
              </a:defRPr>
            </a:lvl1pPr>
          </a:lstStyle>
          <a:p>
            <a:r>
              <a:rPr dirty="0"/>
              <a:t>Session part 2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zh-CN" dirty="0"/>
              <a:t>Ref</a:t>
            </a:r>
            <a:endParaRPr dirty="0"/>
          </a:p>
        </p:txBody>
      </p:sp>
      <p:sp>
        <p:nvSpPr>
          <p:cNvPr id="163" name="Slide bullet text"/>
          <p:cNvSpPr txBox="1">
            <a:spLocks noGrp="1"/>
          </p:cNvSpPr>
          <p:nvPr>
            <p:ph type="body" idx="1"/>
          </p:nvPr>
        </p:nvSpPr>
        <p:spPr>
          <a:xfrm>
            <a:off x="1206500" y="2642464"/>
            <a:ext cx="21971000" cy="9862052"/>
          </a:xfrm>
          <a:prstGeom prst="rect">
            <a:avLst/>
          </a:prstGeom>
        </p:spPr>
        <p:txBody>
          <a:bodyPr/>
          <a:lstStyle/>
          <a:p>
            <a:r>
              <a:rPr lang="en-US" altLang="zh-CN" sz="3200" dirty="0"/>
              <a:t>Online book : </a:t>
            </a:r>
            <a:r>
              <a:rPr lang="en-US" altLang="zh-CN" sz="3200" dirty="0">
                <a:hlinkClick r:id="rId2"/>
              </a:rPr>
              <a:t>https://www.kancloud.cn/sstd521/refactor/</a:t>
            </a:r>
            <a:endParaRPr lang="en-US" altLang="zh-CN" sz="3200" dirty="0"/>
          </a:p>
          <a:p>
            <a:r>
              <a:rPr lang="en-US" altLang="zh-CN" sz="3200" dirty="0"/>
              <a:t>Code : </a:t>
            </a:r>
            <a:r>
              <a:rPr lang="en-US" altLang="zh-CN" sz="3200" dirty="0">
                <a:hlinkClick r:id="rId3"/>
              </a:rPr>
              <a:t>https://github.com/YingVickyCao/Refactoring</a:t>
            </a:r>
            <a:endParaRPr lang="en-US" altLang="zh-CN" sz="3200" dirty="0"/>
          </a:p>
          <a:p>
            <a:r>
              <a:rPr lang="en-US" altLang="zh-CN" sz="3200" dirty="0"/>
              <a:t>Book memo : </a:t>
            </a:r>
            <a:r>
              <a:rPr lang="en-US" altLang="zh-CN" sz="3200" dirty="0">
                <a:hlinkClick r:id="rId4"/>
              </a:rPr>
              <a:t>https://github.com/YingVickyCao/YingVickyCao.github.io/blob/master/books/Refactoring/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610068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AC00-8BDF-DA4E-87D9-39CCC24EB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33D92-A75C-3341-8540-CF73A5FD014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200698-870A-9347-9847-015B4C5E49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r>
              <a:rPr lang="zh-CN" altLang="en-US" dirty="0"/>
              <a:t> </a:t>
            </a:r>
            <a:r>
              <a:rPr lang="en-CN" dirty="0"/>
              <a:t>QA</a:t>
            </a:r>
          </a:p>
          <a:p>
            <a:r>
              <a:rPr lang="en-US" altLang="zh-CN" dirty="0"/>
              <a:t>2</a:t>
            </a:r>
            <a:r>
              <a:rPr lang="zh-CN" altLang="en-US" dirty="0"/>
              <a:t> </a:t>
            </a:r>
            <a:r>
              <a:rPr lang="en-CN" dirty="0"/>
              <a:t>工具</a:t>
            </a:r>
          </a:p>
          <a:p>
            <a:r>
              <a:rPr lang="en-US" altLang="zh-CN" dirty="0"/>
              <a:t>3</a:t>
            </a:r>
            <a:r>
              <a:rPr lang="zh-CN" altLang="en-US" dirty="0"/>
              <a:t> 重构与性能</a:t>
            </a:r>
            <a:endParaRPr lang="en-CN" dirty="0"/>
          </a:p>
          <a:p>
            <a:r>
              <a:rPr lang="en-US" altLang="zh-CN" dirty="0"/>
              <a:t>4</a:t>
            </a:r>
            <a:r>
              <a:rPr lang="zh-CN" altLang="en-US" dirty="0"/>
              <a:t> </a:t>
            </a:r>
            <a:r>
              <a:rPr lang="en-CN" dirty="0"/>
              <a:t>难题</a:t>
            </a:r>
          </a:p>
          <a:p>
            <a:r>
              <a:rPr lang="en-US" altLang="zh-CN" dirty="0"/>
              <a:t>5</a:t>
            </a:r>
            <a:r>
              <a:rPr lang="zh-CN" altLang="en-US" dirty="0"/>
              <a:t> </a:t>
            </a:r>
            <a:r>
              <a:rPr lang="en-CN" dirty="0"/>
              <a:t>重构手法</a:t>
            </a:r>
          </a:p>
        </p:txBody>
      </p:sp>
    </p:spTree>
    <p:extLst>
      <p:ext uri="{BB962C8B-B14F-4D97-AF65-F5344CB8AC3E}">
        <p14:creationId xmlns:p14="http://schemas.microsoft.com/office/powerpoint/2010/main" val="60858292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zh-CN" dirty="0"/>
              <a:t>QA</a:t>
            </a:r>
            <a:endParaRPr dirty="0"/>
          </a:p>
        </p:txBody>
      </p:sp>
      <p:sp>
        <p:nvSpPr>
          <p:cNvPr id="163" name="Slide bullet text"/>
          <p:cNvSpPr txBox="1">
            <a:spLocks noGrp="1"/>
          </p:cNvSpPr>
          <p:nvPr>
            <p:ph type="body" idx="1"/>
          </p:nvPr>
        </p:nvSpPr>
        <p:spPr>
          <a:xfrm>
            <a:off x="1206500" y="2642464"/>
            <a:ext cx="21971000" cy="9862052"/>
          </a:xfrm>
          <a:prstGeom prst="rect">
            <a:avLst/>
          </a:prstGeom>
        </p:spPr>
        <p:txBody>
          <a:bodyPr/>
          <a:lstStyle/>
          <a:p>
            <a:r>
              <a:rPr lang="en-CN" dirty="0"/>
              <a:t>重构适合JS吗</a:t>
            </a:r>
            <a:r>
              <a:rPr lang="zh-CN" altLang="en-US" dirty="0"/>
              <a:t>？任何语言</a:t>
            </a:r>
            <a:endParaRPr lang="en-US" altLang="zh-CN" dirty="0"/>
          </a:p>
          <a:p>
            <a:r>
              <a:rPr lang="zh-CN" altLang="en-US" dirty="0"/>
              <a:t>如何检测是否引入了新</a:t>
            </a:r>
            <a:r>
              <a:rPr lang="en-US" altLang="zh-CN" dirty="0"/>
              <a:t>bug</a:t>
            </a:r>
            <a:r>
              <a:rPr lang="zh-CN" altLang="en-US" dirty="0"/>
              <a:t>？ </a:t>
            </a:r>
            <a:r>
              <a:rPr lang="en-US" altLang="zh-CN" sz="3200" dirty="0"/>
              <a:t>Unit Test , UI Test</a:t>
            </a:r>
          </a:p>
          <a:p>
            <a:r>
              <a:rPr lang="zh-CN" altLang="en-US" dirty="0"/>
              <a:t>重构有哪些方法？</a:t>
            </a:r>
            <a:r>
              <a:rPr lang="zh-CN" altLang="en-US" sz="3200" dirty="0"/>
              <a:t>经验</a:t>
            </a:r>
            <a:endParaRPr lang="en-US" altLang="zh-CN" sz="3200" dirty="0"/>
          </a:p>
          <a:p>
            <a:r>
              <a:rPr lang="en-US" altLang="zh-CN" dirty="0"/>
              <a:t>When</a:t>
            </a:r>
            <a:r>
              <a:rPr lang="zh-CN" altLang="en-US" dirty="0"/>
              <a:t> 重构？</a:t>
            </a:r>
            <a:r>
              <a:rPr lang="zh-CN" altLang="en-US" sz="3200" dirty="0"/>
              <a:t>时间。可读性</a:t>
            </a:r>
            <a:r>
              <a:rPr lang="en-US" altLang="zh-CN" sz="3200" dirty="0"/>
              <a:t>/</a:t>
            </a:r>
            <a:r>
              <a:rPr lang="zh-CN" altLang="en-US" sz="3200" dirty="0"/>
              <a:t>读代码</a:t>
            </a:r>
            <a:r>
              <a:rPr lang="en-US" altLang="zh-CN" sz="3200" dirty="0"/>
              <a:t>/</a:t>
            </a:r>
            <a:r>
              <a:rPr lang="zh-CN" altLang="en-US" sz="3200" dirty="0"/>
              <a:t>难以扩展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3455893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工具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145738">
              <a:defRPr sz="7480" spc="-149"/>
            </a:lvl1pPr>
          </a:lstStyle>
          <a:p>
            <a:r>
              <a:rPr dirty="0" err="1"/>
              <a:t>工具</a:t>
            </a:r>
            <a:endParaRPr dirty="0"/>
          </a:p>
        </p:txBody>
      </p:sp>
      <p:sp>
        <p:nvSpPr>
          <p:cNvPr id="157" name="自动化提示工具：IDEA Lint…"/>
          <p:cNvSpPr txBox="1">
            <a:spLocks noGrp="1"/>
          </p:cNvSpPr>
          <p:nvPr>
            <p:ph type="body" idx="1"/>
          </p:nvPr>
        </p:nvSpPr>
        <p:spPr>
          <a:xfrm>
            <a:off x="1206500" y="2642464"/>
            <a:ext cx="21971000" cy="9862052"/>
          </a:xfrm>
          <a:prstGeom prst="rect">
            <a:avLst/>
          </a:prstGeom>
        </p:spPr>
        <p:txBody>
          <a:bodyPr>
            <a:normAutofit fontScale="92500" lnSpcReduction="20000"/>
          </a:bodyPr>
          <a:lstStyle/>
          <a:p>
            <a:pPr marL="524255" indent="-524255" defTabSz="2096971">
              <a:spcBef>
                <a:spcPts val="3800"/>
              </a:spcBef>
              <a:defRPr sz="4128"/>
            </a:pPr>
            <a:r>
              <a:rPr dirty="0" err="1"/>
              <a:t>自动化提示工具</a:t>
            </a:r>
            <a:r>
              <a:rPr lang="zh-CN" altLang="en-US" dirty="0"/>
              <a:t> </a:t>
            </a:r>
            <a:r>
              <a:rPr dirty="0"/>
              <a:t>：IDEA Lint</a:t>
            </a:r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dirty="0" err="1"/>
              <a:t>自动化重构工具</a:t>
            </a:r>
            <a:r>
              <a:rPr lang="zh-CN" altLang="en-US" dirty="0"/>
              <a:t> </a:t>
            </a:r>
            <a:r>
              <a:rPr dirty="0"/>
              <a:t>：IDEA -&gt; Refactor</a:t>
            </a:r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dirty="0" err="1"/>
              <a:t>两顶帽子</a:t>
            </a:r>
            <a:r>
              <a:rPr lang="zh-CN" altLang="en-US" dirty="0"/>
              <a:t> </a:t>
            </a:r>
            <a:r>
              <a:rPr dirty="0"/>
              <a:t>：Modify / Refactoring</a:t>
            </a:r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dirty="0"/>
              <a:t>Diff tool</a:t>
            </a:r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dirty="0"/>
              <a:t>Unit Test : assert, most important</a:t>
            </a:r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dirty="0"/>
              <a:t>UI Test : </a:t>
            </a:r>
            <a:r>
              <a:rPr dirty="0" err="1"/>
              <a:t>边界条件</a:t>
            </a:r>
            <a:r>
              <a:rPr lang="zh-CN" altLang="en-US" dirty="0"/>
              <a:t> </a:t>
            </a:r>
            <a:r>
              <a:rPr dirty="0"/>
              <a:t>, all </a:t>
            </a:r>
            <a:r>
              <a:rPr lang="en-US" dirty="0"/>
              <a:t>c</a:t>
            </a:r>
            <a:r>
              <a:rPr dirty="0"/>
              <a:t>ases</a:t>
            </a:r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dirty="0"/>
              <a:t>Two refactor branch : master, current</a:t>
            </a:r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dirty="0" err="1"/>
              <a:t>小步调重构，频繁测试</a:t>
            </a:r>
            <a:endParaRPr dirty="0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lang="zh-CN" altLang="en-US" sz="4128" dirty="0"/>
              <a:t>安全重构：控制</a:t>
            </a:r>
            <a:r>
              <a:rPr dirty="0" err="1"/>
              <a:t>节奏</a:t>
            </a:r>
            <a:r>
              <a:rPr lang="zh-CN" altLang="en-US" dirty="0"/>
              <a:t>（</a:t>
            </a:r>
            <a:r>
              <a:rPr dirty="0" err="1"/>
              <a:t>小目标，开始</a:t>
            </a:r>
            <a:r>
              <a:rPr dirty="0"/>
              <a:t>, </a:t>
            </a:r>
            <a:r>
              <a:rPr dirty="0" err="1"/>
              <a:t>前进</a:t>
            </a:r>
            <a:r>
              <a:rPr dirty="0"/>
              <a:t> / </a:t>
            </a:r>
            <a:r>
              <a:rPr dirty="0" err="1"/>
              <a:t>停止，等待</a:t>
            </a:r>
            <a:r>
              <a:rPr dirty="0"/>
              <a:t>， </a:t>
            </a:r>
            <a:r>
              <a:rPr dirty="0" err="1"/>
              <a:t>集成</a:t>
            </a:r>
            <a:r>
              <a:rPr dirty="0"/>
              <a:t> / </a:t>
            </a:r>
            <a:r>
              <a:rPr lang="en-CN" dirty="0"/>
              <a:t>撤销</a:t>
            </a:r>
            <a:r>
              <a:rPr lang="zh-CN" altLang="en-US" dirty="0"/>
              <a:t>）</a:t>
            </a:r>
            <a:endParaRPr lang="en-US" altLang="zh-CN" dirty="0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lang="zh-CN" altLang="en-US" dirty="0"/>
              <a:t>代码复审</a:t>
            </a:r>
            <a:endParaRPr lang="en-US" altLang="zh-CN" dirty="0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rPr lang="en-CN" dirty="0"/>
              <a:t>结对重构</a:t>
            </a:r>
            <a:endParaRPr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重构与性能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145738">
              <a:defRPr sz="7480" spc="-149"/>
            </a:lvl1pPr>
          </a:lstStyle>
          <a:p>
            <a:r>
              <a:rPr dirty="0" err="1"/>
              <a:t>重构与性能</a:t>
            </a:r>
            <a:endParaRPr dirty="0"/>
          </a:p>
        </p:txBody>
      </p:sp>
      <p:sp>
        <p:nvSpPr>
          <p:cNvPr id="160" name="多数重构提高性能，少数反而降低性能…"/>
          <p:cNvSpPr txBox="1">
            <a:spLocks noGrp="1"/>
          </p:cNvSpPr>
          <p:nvPr>
            <p:ph type="body" idx="1"/>
          </p:nvPr>
        </p:nvSpPr>
        <p:spPr>
          <a:xfrm>
            <a:off x="1206500" y="2642464"/>
            <a:ext cx="21971000" cy="9862052"/>
          </a:xfrm>
          <a:prstGeom prst="rect">
            <a:avLst/>
          </a:prstGeom>
        </p:spPr>
        <p:txBody>
          <a:bodyPr/>
          <a:lstStyle/>
          <a:p>
            <a:r>
              <a:t>多数重构提高性能，少数反而降低性能</a:t>
            </a:r>
          </a:p>
          <a:p>
            <a:r>
              <a:t>重构能使得性能提高更容易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CN" dirty="0"/>
              <a:t>难题</a:t>
            </a:r>
            <a:endParaRPr dirty="0"/>
          </a:p>
        </p:txBody>
      </p:sp>
      <p:sp>
        <p:nvSpPr>
          <p:cNvPr id="163" name="Slide bullet text"/>
          <p:cNvSpPr txBox="1">
            <a:spLocks noGrp="1"/>
          </p:cNvSpPr>
          <p:nvPr>
            <p:ph type="body" idx="1"/>
          </p:nvPr>
        </p:nvSpPr>
        <p:spPr>
          <a:xfrm>
            <a:off x="1206500" y="2642464"/>
            <a:ext cx="21971000" cy="986205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CN" dirty="0"/>
              <a:t>数据库</a:t>
            </a:r>
          </a:p>
          <a:p>
            <a:r>
              <a:rPr lang="en-CN" dirty="0"/>
              <a:t>pulished</a:t>
            </a:r>
            <a:r>
              <a:rPr lang="zh-CN" altLang="en-US" dirty="0"/>
              <a:t> 接口</a:t>
            </a:r>
            <a:endParaRPr lang="en-US" altLang="zh-CN" dirty="0"/>
          </a:p>
          <a:p>
            <a:r>
              <a:rPr lang="en-CN" dirty="0"/>
              <a:t>适合</a:t>
            </a:r>
            <a:r>
              <a:rPr lang="zh-CN" altLang="en-US" dirty="0"/>
              <a:t>“单进程”软件，不适合并发和</a:t>
            </a:r>
            <a:r>
              <a:rPr lang="zh-CN" altLang="en-CN" dirty="0"/>
              <a:t>分布式</a:t>
            </a:r>
            <a:r>
              <a:rPr lang="zh-CN" altLang="en-US" dirty="0"/>
              <a:t>程序设计。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sz="2400" dirty="0"/>
              <a:t>   它们需要不同的重构技术。</a:t>
            </a:r>
            <a:endParaRPr lang="en-US" altLang="zh-CN" sz="2400" dirty="0"/>
          </a:p>
          <a:p>
            <a:r>
              <a:rPr lang="en-CN" dirty="0"/>
              <a:t>反射</a:t>
            </a:r>
          </a:p>
          <a:p>
            <a:r>
              <a:rPr lang="en-CN" dirty="0"/>
              <a:t>如何设计代码结构</a:t>
            </a:r>
            <a:r>
              <a:rPr lang="zh-CN" altLang="en-US" dirty="0"/>
              <a:t>，能做到尽量少或不重构？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sz="2400" dirty="0"/>
              <a:t>    </a:t>
            </a:r>
            <a:r>
              <a:rPr lang="en-CN" sz="2400" dirty="0"/>
              <a:t>不能</a:t>
            </a:r>
            <a:r>
              <a:rPr lang="zh-CN" altLang="en-US" sz="2400" dirty="0"/>
              <a:t>。 模块划分。</a:t>
            </a:r>
            <a:endParaRPr lang="en-CN" sz="2400" dirty="0"/>
          </a:p>
          <a:p>
            <a:r>
              <a:rPr lang="en-CN" dirty="0"/>
              <a:t>大型重构</a:t>
            </a:r>
            <a:r>
              <a:rPr lang="zh-CN" altLang="en-US" dirty="0"/>
              <a:t>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sz="2400" dirty="0"/>
              <a:t>        分步调重构 </a:t>
            </a:r>
            <a:r>
              <a:rPr lang="en-US" altLang="zh-CN" sz="2400" dirty="0"/>
              <a:t>&amp;&amp;</a:t>
            </a:r>
            <a:r>
              <a:rPr lang="zh-CN" altLang="en-US" sz="2400" dirty="0"/>
              <a:t> 集成代码  </a:t>
            </a:r>
            <a:r>
              <a:rPr lang="en-US" altLang="zh-CN" sz="2400" dirty="0"/>
              <a:t>/</a:t>
            </a:r>
            <a:r>
              <a:rPr lang="zh-CN" altLang="en-US" sz="2400" dirty="0"/>
              <a:t> 频繁同步代码 </a:t>
            </a:r>
            <a:r>
              <a:rPr lang="en-US" altLang="zh-CN" sz="2400" dirty="0"/>
              <a:t>&amp;&amp;</a:t>
            </a:r>
            <a:r>
              <a:rPr lang="zh-CN" altLang="en-US" sz="2400" dirty="0"/>
              <a:t> 手工</a:t>
            </a:r>
            <a:r>
              <a:rPr lang="en-US" altLang="zh-CN" sz="2400" dirty="0"/>
              <a:t>merge</a:t>
            </a:r>
            <a:endParaRPr sz="24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accent1"/>
                </a:solidFill>
              </a:rPr>
              <a:t>组织函数</a:t>
            </a:r>
            <a:endParaRPr lang="en-CN" dirty="0">
              <a:solidFill>
                <a:schemeClr val="accent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US" sz="6000" dirty="0">
                <a:solidFill>
                  <a:schemeClr val="bg2">
                    <a:lumMod val="10000"/>
                  </a:schemeClr>
                </a:solidFill>
              </a:rPr>
              <a:t>Extract Method </a:t>
            </a:r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799452742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组织函数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CN" sz="6000" dirty="0">
                <a:solidFill>
                  <a:schemeClr val="bg2">
                    <a:lumMod val="10000"/>
                  </a:schemeClr>
                </a:solidFill>
              </a:rPr>
              <a:t>Inline method</a:t>
            </a: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764350843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组织函数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US" sz="6000" dirty="0">
                <a:solidFill>
                  <a:schemeClr val="bg2">
                    <a:lumMod val="10000"/>
                  </a:schemeClr>
                </a:solidFill>
              </a:rPr>
              <a:t>Inline Temp</a:t>
            </a:r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68160074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组织函数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US" sz="6000" dirty="0">
                <a:solidFill>
                  <a:schemeClr val="bg2">
                    <a:lumMod val="10000"/>
                  </a:schemeClr>
                </a:solidFill>
              </a:rPr>
              <a:t>Replace Temp with Query</a:t>
            </a:r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4000" dirty="0">
                <a:solidFill>
                  <a:schemeClr val="bg2">
                    <a:lumMod val="10000"/>
                  </a:schemeClr>
                </a:solidFill>
              </a:rPr>
              <a:t>code</a:t>
            </a:r>
            <a:r>
              <a:rPr lang="zh-CN" altLang="en-US" sz="4000" dirty="0">
                <a:solidFill>
                  <a:schemeClr val="bg2">
                    <a:lumMod val="10000"/>
                  </a:schemeClr>
                </a:solidFill>
              </a:rPr>
              <a:t>：</a:t>
            </a:r>
            <a:r>
              <a:rPr lang="en-US" sz="4000" dirty="0">
                <a:solidFill>
                  <a:schemeClr val="bg2">
                    <a:lumMod val="10000"/>
                  </a:schemeClr>
                </a:solidFill>
              </a:rPr>
              <a:t> C</a:t>
            </a:r>
            <a:r>
              <a:rPr lang="en-CN" sz="4000" dirty="0">
                <a:solidFill>
                  <a:schemeClr val="bg2">
                    <a:lumMod val="10000"/>
                  </a:schemeClr>
                </a:solidFill>
              </a:rPr>
              <a:t>6_4</a:t>
            </a:r>
          </a:p>
        </p:txBody>
      </p:sp>
    </p:spTree>
    <p:extLst>
      <p:ext uri="{BB962C8B-B14F-4D97-AF65-F5344CB8AC3E}">
        <p14:creationId xmlns:p14="http://schemas.microsoft.com/office/powerpoint/2010/main" val="2573720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组织函数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US" sz="6000" dirty="0">
                <a:solidFill>
                  <a:schemeClr val="bg2">
                    <a:lumMod val="10000"/>
                  </a:schemeClr>
                </a:solidFill>
              </a:rPr>
              <a:t>Introduce Explain Variable</a:t>
            </a:r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CN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17086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组织函数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US" sz="6000" dirty="0">
                <a:solidFill>
                  <a:schemeClr val="bg2">
                    <a:lumMod val="10000"/>
                  </a:schemeClr>
                </a:solidFill>
              </a:rPr>
              <a:t>Split Temporary Variable</a:t>
            </a:r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CN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9567682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组织函数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US" sz="6000" dirty="0">
                <a:solidFill>
                  <a:schemeClr val="bg2">
                    <a:lumMod val="10000"/>
                  </a:schemeClr>
                </a:solidFill>
              </a:rPr>
              <a:t>Remove Assignments to Parameter</a:t>
            </a:r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CN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390185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组织函数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US" sz="6000" dirty="0">
                <a:solidFill>
                  <a:schemeClr val="bg2">
                    <a:lumMod val="10000"/>
                  </a:schemeClr>
                </a:solidFill>
              </a:rPr>
              <a:t>Replace Method with Method Object</a:t>
            </a:r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N" sz="4000" dirty="0">
                <a:solidFill>
                  <a:schemeClr val="bg2">
                    <a:lumMod val="10000"/>
                  </a:schemeClr>
                </a:solidFill>
              </a:rPr>
              <a:t>code</a:t>
            </a:r>
            <a:r>
              <a:rPr lang="zh-CN" altLang="en-US" sz="4000" dirty="0">
                <a:solidFill>
                  <a:schemeClr val="bg2">
                    <a:lumMod val="10000"/>
                  </a:schemeClr>
                </a:solidFill>
              </a:rPr>
              <a:t> ： </a:t>
            </a:r>
            <a:r>
              <a:rPr lang="en-US" sz="4000" dirty="0">
                <a:solidFill>
                  <a:schemeClr val="bg2">
                    <a:lumMod val="10000"/>
                  </a:schemeClr>
                </a:solidFill>
              </a:rPr>
              <a:t>C</a:t>
            </a:r>
            <a:r>
              <a:rPr lang="en-CN" sz="4000" dirty="0">
                <a:solidFill>
                  <a:schemeClr val="bg2">
                    <a:lumMod val="10000"/>
                  </a:schemeClr>
                </a:solidFill>
              </a:rPr>
              <a:t>6_</a:t>
            </a:r>
            <a:r>
              <a:rPr lang="en-US" altLang="zh-CN" sz="4000" dirty="0">
                <a:solidFill>
                  <a:schemeClr val="bg2">
                    <a:lumMod val="10000"/>
                  </a:schemeClr>
                </a:solidFill>
              </a:rPr>
              <a:t>8</a:t>
            </a:r>
            <a:endParaRPr lang="en-CN" sz="4000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3797873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5E8C-85AD-6744-9D19-B103888E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组织函数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76C14-5193-014E-BE24-E47B681F48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r>
              <a:rPr lang="en-US" sz="6000" dirty="0">
                <a:solidFill>
                  <a:schemeClr val="bg2">
                    <a:lumMod val="10000"/>
                  </a:schemeClr>
                </a:solidFill>
              </a:rPr>
              <a:t>Substitute Algorithm</a:t>
            </a:r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sz="6000" dirty="0">
              <a:solidFill>
                <a:schemeClr val="bg2">
                  <a:lumMod val="10000"/>
                </a:schemeClr>
              </a:solidFill>
            </a:endParaRP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406082-2419-4843-8A57-E77473F60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CN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5062952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96DE-AEDE-7048-AAF2-CB63DD57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在对象之间搬移特性</a:t>
            </a:r>
            <a:r>
              <a:rPr lang="en-US" altLang="zh-CN" dirty="0">
                <a:solidFill>
                  <a:schemeClr val="accent1"/>
                </a:solidFill>
              </a:rPr>
              <a:t> (Optional)</a:t>
            </a:r>
            <a:endParaRPr lang="en-CN" dirty="0">
              <a:solidFill>
                <a:schemeClr val="accent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1E6888-8D58-7D40-8E9A-194816B99E0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2"/>
            <a:ext cx="21971000" cy="4942238"/>
          </a:xfrm>
        </p:spPr>
        <p:txBody>
          <a:bodyPr>
            <a:normAutofit/>
          </a:bodyPr>
          <a:lstStyle/>
          <a:p>
            <a:r>
              <a:rPr lang="en-US" dirty="0"/>
              <a:t>Move Method</a:t>
            </a:r>
          </a:p>
          <a:p>
            <a:r>
              <a:rPr lang="en-US" dirty="0"/>
              <a:t>Move Field</a:t>
            </a: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3524A5-FBEB-6C48-A893-66435D588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3605548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96DE-AEDE-7048-AAF2-CB63DD57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在对象之间搬移特性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1E6888-8D58-7D40-8E9A-194816B99E0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Extact</a:t>
            </a:r>
            <a:r>
              <a:rPr lang="en-US" dirty="0"/>
              <a:t> Class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3524A5-FBEB-6C48-A893-66435D588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627509119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CFD3B-FE3E-2645-9DE0-3AED53F85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在对象之间搬移特性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29567-97F1-5744-BDD4-7E8D179AC02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Inline Class</a:t>
            </a: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DB6B1-99C4-CB48-9DCD-B9B1F90EB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44790962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605E-656B-164F-913B-F5612ED92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在对象之间搬移特性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4534B-1CB0-E740-B818-615D3E14D7F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2"/>
            <a:ext cx="21971000" cy="4987208"/>
          </a:xfrm>
        </p:spPr>
        <p:txBody>
          <a:bodyPr/>
          <a:lstStyle/>
          <a:p>
            <a:r>
              <a:rPr lang="en-US" dirty="0"/>
              <a:t>Hide Delegate</a:t>
            </a:r>
            <a:endParaRPr lang="en-US" b="0" dirty="0"/>
          </a:p>
          <a:p>
            <a:r>
              <a:rPr lang="en-US" dirty="0"/>
              <a:t>Remove Middle Man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2FEA5F-52CB-1941-A38A-1167E63B9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  <a:p>
            <a:r>
              <a:rPr lang="en-CN" dirty="0"/>
              <a:t>View </a:t>
            </a:r>
            <a:r>
              <a:rPr lang="en-US" altLang="zh-CN" dirty="0"/>
              <a:t>-----</a:t>
            </a:r>
            <a:r>
              <a:rPr lang="en-CN" dirty="0"/>
              <a:t> Controller </a:t>
            </a:r>
            <a:r>
              <a:rPr lang="en-US" altLang="zh-CN" dirty="0"/>
              <a:t>-----</a:t>
            </a:r>
            <a:r>
              <a:rPr lang="en-CN" dirty="0"/>
              <a:t> Model</a:t>
            </a:r>
          </a:p>
          <a:p>
            <a:r>
              <a:rPr lang="en-CN" dirty="0"/>
              <a:t>View </a:t>
            </a:r>
            <a:r>
              <a:rPr lang="en-US" altLang="zh-CN" dirty="0"/>
              <a:t>-----</a:t>
            </a:r>
            <a:r>
              <a:rPr lang="en-CN" dirty="0"/>
              <a:t> Model</a:t>
            </a:r>
            <a:r>
              <a:rPr lang="zh-CN" altLang="en-US" dirty="0"/>
              <a:t> ，</a:t>
            </a:r>
            <a:r>
              <a:rPr lang="en-US" altLang="zh-CN" dirty="0"/>
              <a:t>and </a:t>
            </a:r>
            <a:r>
              <a:rPr lang="en-CN" dirty="0"/>
              <a:t>Controller</a:t>
            </a:r>
            <a:r>
              <a:rPr lang="zh-CN" altLang="en-US" dirty="0"/>
              <a:t> </a:t>
            </a:r>
            <a:r>
              <a:rPr lang="en-US" altLang="zh-CN" dirty="0"/>
              <a:t>----</a:t>
            </a:r>
            <a:r>
              <a:rPr lang="zh-CN" altLang="en-US" dirty="0"/>
              <a:t> </a:t>
            </a:r>
            <a:r>
              <a:rPr lang="en-US" altLang="zh-CN" dirty="0"/>
              <a:t>Model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035479365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605E-656B-164F-913B-F5612ED92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在对象之间搬移特性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4534B-1CB0-E740-B818-615D3E14D7F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Introduce </a:t>
            </a:r>
            <a:r>
              <a:rPr lang="en-US" dirty="0" err="1"/>
              <a:t>Forign</a:t>
            </a:r>
            <a:r>
              <a:rPr lang="en-US" dirty="0"/>
              <a:t> Method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2FEA5F-52CB-1941-A38A-1167E63B9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CN" sz="4000" dirty="0">
                <a:solidFill>
                  <a:schemeClr val="bg2">
                    <a:lumMod val="10000"/>
                  </a:schemeClr>
                </a:solidFill>
              </a:rPr>
              <a:t>code C7_7</a:t>
            </a:r>
          </a:p>
        </p:txBody>
      </p:sp>
    </p:spTree>
    <p:extLst>
      <p:ext uri="{BB962C8B-B14F-4D97-AF65-F5344CB8AC3E}">
        <p14:creationId xmlns:p14="http://schemas.microsoft.com/office/powerpoint/2010/main" val="2652155382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重新组织数据</a:t>
            </a:r>
            <a:endParaRPr lang="en-CN" dirty="0">
              <a:solidFill>
                <a:schemeClr val="accent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Self Encapsulate Field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4B8C8-570C-7641-8EC7-CD6C6E58C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41312974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1"/>
            <a:ext cx="21971000" cy="4755971"/>
          </a:xfrm>
        </p:spPr>
        <p:txBody>
          <a:bodyPr>
            <a:normAutofit/>
          </a:bodyPr>
          <a:lstStyle/>
          <a:p>
            <a:r>
              <a:rPr lang="en-US" dirty="0"/>
              <a:t>Change Value to Reference      				</a:t>
            </a:r>
            <a:r>
              <a:rPr lang="en-CN" sz="4800" b="0" dirty="0">
                <a:solidFill>
                  <a:schemeClr val="bg2">
                    <a:lumMod val="10000"/>
                  </a:schemeClr>
                </a:solidFill>
              </a:rPr>
              <a:t>code c8_3</a:t>
            </a:r>
            <a:endParaRPr lang="en-US" sz="4800" b="0" dirty="0"/>
          </a:p>
          <a:p>
            <a:endParaRPr lang="en-US" b="0" dirty="0"/>
          </a:p>
          <a:p>
            <a:r>
              <a:rPr lang="en-US" dirty="0"/>
              <a:t>Change Reference to Value					</a:t>
            </a:r>
            <a:r>
              <a:rPr lang="en-CN" sz="4800" b="0" dirty="0">
                <a:solidFill>
                  <a:schemeClr val="bg2">
                    <a:lumMod val="10000"/>
                  </a:schemeClr>
                </a:solidFill>
              </a:rPr>
              <a:t>code c8_4</a:t>
            </a:r>
            <a:endParaRPr lang="en-US" sz="4800" b="0" dirty="0"/>
          </a:p>
          <a:p>
            <a:endParaRPr lang="en-US" b="0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703289843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Array with Object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4B8C8-570C-7641-8EC7-CD6C6E58C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4210307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Duplicate Observed Data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4B8C8-570C-7641-8EC7-CD6C6E58C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(1) Java Observable </a:t>
            </a:r>
          </a:p>
          <a:p>
            <a:pPr marL="0" indent="0">
              <a:buNone/>
            </a:pPr>
            <a:r>
              <a:rPr lang="en-US" altLang="zh-CN" dirty="0"/>
              <a:t>(2) </a:t>
            </a:r>
            <a:r>
              <a:rPr lang="zh-CN" altLang="en-US" dirty="0"/>
              <a:t>事件监听 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(3) </a:t>
            </a:r>
            <a:r>
              <a:rPr lang="zh-CN" altLang="en-US" dirty="0"/>
              <a:t>广播 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(4) Event</a:t>
            </a:r>
            <a:r>
              <a:rPr lang="zh-CN" altLang="en-US" dirty="0"/>
              <a:t> </a:t>
            </a:r>
            <a:r>
              <a:rPr lang="en-US" altLang="zh-CN" dirty="0"/>
              <a:t>Bus</a:t>
            </a:r>
            <a:r>
              <a:rPr lang="zh-CN" altLang="en-US" dirty="0"/>
              <a:t> 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(5) </a:t>
            </a:r>
            <a:r>
              <a:rPr lang="en-US" altLang="zh-CN" dirty="0" err="1"/>
              <a:t>RxJava</a:t>
            </a:r>
            <a:endParaRPr lang="en-CN" dirty="0"/>
          </a:p>
          <a:p>
            <a:pPr marL="0" indent="0">
              <a:buNone/>
            </a:pPr>
            <a:endParaRPr lang="en-CN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501763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1"/>
            <a:ext cx="21971000" cy="4162749"/>
          </a:xfrm>
        </p:spPr>
        <p:txBody>
          <a:bodyPr>
            <a:normAutofit/>
          </a:bodyPr>
          <a:lstStyle/>
          <a:p>
            <a:r>
              <a:rPr lang="en-US" dirty="0"/>
              <a:t>Change Unidirectional Association to Bidirectional</a:t>
            </a:r>
          </a:p>
          <a:p>
            <a:r>
              <a:rPr lang="en-US" dirty="0"/>
              <a:t>Change Bidirectional Association to Unidirectional</a:t>
            </a:r>
            <a:endParaRPr lang="en-US" b="0" dirty="0"/>
          </a:p>
          <a:p>
            <a:endParaRPr lang="en-US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4B8C8-570C-7641-8EC7-CD6C6E58C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CN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911097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Magic Number with Symbolic Constant</a:t>
            </a:r>
            <a:endParaRPr lang="en-US" b="0" dirty="0"/>
          </a:p>
          <a:p>
            <a:endParaRPr lang="en-US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4B8C8-570C-7641-8EC7-CD6C6E58C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CN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4299627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1"/>
            <a:ext cx="21971000" cy="3158409"/>
          </a:xfrm>
        </p:spPr>
        <p:txBody>
          <a:bodyPr>
            <a:normAutofit/>
          </a:bodyPr>
          <a:lstStyle/>
          <a:p>
            <a:r>
              <a:rPr lang="en-US" dirty="0"/>
              <a:t>Encapsulate Field</a:t>
            </a:r>
          </a:p>
          <a:p>
            <a:r>
              <a:rPr lang="en-US" dirty="0"/>
              <a:t>Encapsulate Collection</a:t>
            </a:r>
            <a:endParaRPr lang="en-US" b="0" dirty="0"/>
          </a:p>
          <a:p>
            <a:endParaRPr lang="en-US" b="0" dirty="0"/>
          </a:p>
          <a:p>
            <a:endParaRPr lang="en-US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4B8C8-570C-7641-8EC7-CD6C6E58C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CN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7631000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Record with Data Class</a:t>
            </a:r>
            <a:endParaRPr lang="en-US" b="0" dirty="0"/>
          </a:p>
          <a:p>
            <a:endParaRPr lang="en-US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4B8C8-570C-7641-8EC7-CD6C6E58C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CN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63142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2"/>
            <a:ext cx="21971000" cy="4485038"/>
          </a:xfrm>
        </p:spPr>
        <p:txBody>
          <a:bodyPr>
            <a:normAutofit/>
          </a:bodyPr>
          <a:lstStyle/>
          <a:p>
            <a:r>
              <a:rPr lang="en-US" dirty="0"/>
              <a:t>Replace Type Code with Class 					</a:t>
            </a:r>
            <a:r>
              <a:rPr lang="en-CN" sz="4800" b="0" dirty="0">
                <a:solidFill>
                  <a:schemeClr val="bg2">
                    <a:lumMod val="10000"/>
                  </a:schemeClr>
                </a:solidFill>
              </a:rPr>
              <a:t>code c8_13</a:t>
            </a:r>
          </a:p>
          <a:p>
            <a:endParaRPr lang="en-CN" sz="4800" b="0" dirty="0">
              <a:solidFill>
                <a:schemeClr val="bg2">
                  <a:lumMod val="10000"/>
                </a:schemeClr>
              </a:solidFill>
            </a:endParaRPr>
          </a:p>
          <a:p>
            <a:r>
              <a:rPr lang="en-US" dirty="0"/>
              <a:t>Replace Type Code with Subclasses</a:t>
            </a:r>
            <a:r>
              <a:rPr lang="en-US" sz="4800" dirty="0"/>
              <a:t>	         </a:t>
            </a:r>
            <a:r>
              <a:rPr lang="en-CN" sz="4800" b="0" dirty="0">
                <a:solidFill>
                  <a:schemeClr val="bg2">
                    <a:lumMod val="10000"/>
                  </a:schemeClr>
                </a:solidFill>
              </a:rPr>
              <a:t>code c8_1</a:t>
            </a:r>
            <a:r>
              <a:rPr lang="en-US" altLang="zh-CN" sz="4800" b="0" dirty="0">
                <a:solidFill>
                  <a:schemeClr val="bg2">
                    <a:lumMod val="10000"/>
                  </a:schemeClr>
                </a:solidFill>
              </a:rPr>
              <a:t>4</a:t>
            </a:r>
          </a:p>
          <a:p>
            <a:endParaRPr lang="en-US" altLang="zh-CN" sz="4800" b="0" dirty="0">
              <a:solidFill>
                <a:schemeClr val="bg2">
                  <a:lumMod val="10000"/>
                </a:schemeClr>
              </a:solidFill>
            </a:endParaRPr>
          </a:p>
          <a:p>
            <a:r>
              <a:rPr lang="en-US" dirty="0"/>
              <a:t>Replace Type Code with State/Strategy	</a:t>
            </a:r>
            <a:r>
              <a:rPr lang="en-US" sz="4800" dirty="0"/>
              <a:t>	</a:t>
            </a:r>
            <a:r>
              <a:rPr lang="en-CN" sz="4800" b="0" dirty="0">
                <a:solidFill>
                  <a:schemeClr val="bg2">
                    <a:lumMod val="10000"/>
                  </a:schemeClr>
                </a:solidFill>
              </a:rPr>
              <a:t>code c8_1</a:t>
            </a:r>
            <a:r>
              <a:rPr lang="en-US" altLang="zh-CN" sz="4800" b="0" dirty="0">
                <a:solidFill>
                  <a:schemeClr val="bg2">
                    <a:lumMod val="10000"/>
                  </a:schemeClr>
                </a:solidFill>
              </a:rPr>
              <a:t>5</a:t>
            </a:r>
            <a:endParaRPr lang="en-US" dirty="0"/>
          </a:p>
          <a:p>
            <a:endParaRPr lang="en-CN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DD13054-6A43-F342-A2FF-CB532B8BADE5}"/>
              </a:ext>
            </a:extLst>
          </p:cNvPr>
          <p:cNvSpPr txBox="1">
            <a:spLocks/>
          </p:cNvSpPr>
          <p:nvPr/>
        </p:nvSpPr>
        <p:spPr>
          <a:xfrm>
            <a:off x="864226" y="7637015"/>
            <a:ext cx="21971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tIns="45719" rIns="45719" bIns="45719">
            <a:norm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500" b="1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hangingPunct="1"/>
            <a:endParaRPr lang="en-US" dirty="0"/>
          </a:p>
          <a:p>
            <a:pPr hangingPunct="1"/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897900495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A41BE-2AAA-FB4B-B88B-3677C23D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重新组织数据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88523-C1D4-874C-A491-0DBEB869AD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Subclass with Fields</a:t>
            </a:r>
            <a:endParaRPr lang="en-US" b="0" dirty="0"/>
          </a:p>
          <a:p>
            <a:endParaRPr lang="en-US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4B8C8-570C-7641-8EC7-CD6C6E58C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CN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087046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239E-68D8-8147-90FF-33C2FCA1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条件表达式</a:t>
            </a:r>
            <a:endParaRPr lang="en-CN" dirty="0">
              <a:solidFill>
                <a:schemeClr val="accent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B7DC9-77B2-744C-B438-2E691E7C3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1"/>
            <a:ext cx="21971000" cy="5026905"/>
          </a:xfrm>
        </p:spPr>
        <p:txBody>
          <a:bodyPr>
            <a:normAutofit/>
          </a:bodyPr>
          <a:lstStyle/>
          <a:p>
            <a:r>
              <a:rPr lang="en-US" dirty="0"/>
              <a:t>Decompose Conditional									</a:t>
            </a:r>
            <a:r>
              <a:rPr lang="en-CN" sz="4800" dirty="0"/>
              <a:t>code 9_1</a:t>
            </a:r>
          </a:p>
          <a:p>
            <a:endParaRPr lang="en-US" dirty="0"/>
          </a:p>
          <a:p>
            <a:r>
              <a:rPr lang="en-US" dirty="0"/>
              <a:t>Consolidate Conditional Expression				</a:t>
            </a:r>
            <a:r>
              <a:rPr lang="en-CN" sz="4800" dirty="0"/>
              <a:t>code 9_2</a:t>
            </a:r>
            <a:endParaRPr lang="en-US" sz="4800" b="0" dirty="0"/>
          </a:p>
          <a:p>
            <a:endParaRPr lang="en-US" b="0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914204306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239E-68D8-8147-90FF-33C2FCA1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条件表达式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B7DC9-77B2-744C-B438-2E691E7C3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Consolidate Duplicate Conditional Fragments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8E8466-91F1-304E-944B-4ABB18E0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9_3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840771592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239E-68D8-8147-90FF-33C2FCA1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条件表达式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B7DC9-77B2-744C-B438-2E691E7C3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Remove Control Flag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8E8466-91F1-304E-944B-4ABB18E0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9_4</a:t>
            </a:r>
          </a:p>
        </p:txBody>
      </p:sp>
    </p:spTree>
    <p:extLst>
      <p:ext uri="{BB962C8B-B14F-4D97-AF65-F5344CB8AC3E}">
        <p14:creationId xmlns:p14="http://schemas.microsoft.com/office/powerpoint/2010/main" val="947579841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239E-68D8-8147-90FF-33C2FCA1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条件表达式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B7DC9-77B2-744C-B438-2E691E7C3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Nested Conditional with Guard Clauses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8E8466-91F1-304E-944B-4ABB18E0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9_5</a:t>
            </a:r>
          </a:p>
        </p:txBody>
      </p:sp>
    </p:spTree>
    <p:extLst>
      <p:ext uri="{BB962C8B-B14F-4D97-AF65-F5344CB8AC3E}">
        <p14:creationId xmlns:p14="http://schemas.microsoft.com/office/powerpoint/2010/main" val="152765722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239E-68D8-8147-90FF-33C2FCA1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条件表达式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B7DC9-77B2-744C-B438-2E691E7C3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Conditional with Polymorphism</a:t>
            </a:r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8E8466-91F1-304E-944B-4ABB18E0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9_</a:t>
            </a:r>
            <a:r>
              <a:rPr lang="en-US" altLang="zh-CN" dirty="0"/>
              <a:t>6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517547651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239E-68D8-8147-90FF-33C2FCA1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条件表达式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B7DC9-77B2-744C-B438-2E691E7C3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Introduce Null Object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8E8466-91F1-304E-944B-4ABB18E0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C9_</a:t>
            </a:r>
            <a:r>
              <a:rPr lang="en-US" altLang="zh-CN" dirty="0"/>
              <a:t>7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146748742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F0E20-8FC6-E74A-9B44-59487F18A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条件表达式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5D785-9EBC-8548-958C-F9C1BE6819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Introduce Assertion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C2DD65-757D-3944-9D88-AE1CA60D01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319699042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0800-EB26-1642-98C6-1EF9BD74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函数调用</a:t>
            </a:r>
            <a:endParaRPr lang="en-CN" dirty="0">
              <a:solidFill>
                <a:schemeClr val="accent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C30D1-CA38-FC43-95A9-BEA8E4EEEC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Rename Method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0EBE6-BC75-8D41-9796-7E1F53D8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388697064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0800-EB26-1642-98C6-1EF9BD74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C30D1-CA38-FC43-95A9-BEA8E4EEEC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2"/>
            <a:ext cx="21971000" cy="1875542"/>
          </a:xfrm>
        </p:spPr>
        <p:txBody>
          <a:bodyPr>
            <a:normAutofit/>
          </a:bodyPr>
          <a:lstStyle/>
          <a:p>
            <a:r>
              <a:rPr lang="en-US" dirty="0"/>
              <a:t>Add Parameter</a:t>
            </a:r>
          </a:p>
          <a:p>
            <a:r>
              <a:rPr lang="en-US" dirty="0"/>
              <a:t>Remove Parameter</a:t>
            </a:r>
            <a:endParaRPr lang="en-US" b="0" dirty="0"/>
          </a:p>
          <a:p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0EBE6-BC75-8D41-9796-7E1F53D8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201633048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0800-EB26-1642-98C6-1EF9BD74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C30D1-CA38-FC43-95A9-BEA8E4EEEC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Separate Query from Modifier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0EBE6-BC75-8D41-9796-7E1F53D8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173925455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0800-EB26-1642-98C6-1EF9BD74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C30D1-CA38-FC43-95A9-BEA8E4EEEC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Parameterize Method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0EBE6-BC75-8D41-9796-7E1F53D8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765859197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0800-EB26-1642-98C6-1EF9BD74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/>
              <a:t>函数调用</a:t>
            </a:r>
            <a:br>
              <a:rPr lang="zh-CN" altLang="en-US" b="0" dirty="0"/>
            </a:b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C30D1-CA38-FC43-95A9-BEA8E4EEEC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Parameter with Explicit Methods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0EBE6-BC75-8D41-9796-7E1F53D8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c10_6</a:t>
            </a:r>
          </a:p>
        </p:txBody>
      </p:sp>
    </p:spTree>
    <p:extLst>
      <p:ext uri="{BB962C8B-B14F-4D97-AF65-F5344CB8AC3E}">
        <p14:creationId xmlns:p14="http://schemas.microsoft.com/office/powerpoint/2010/main" val="111493425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0800-EB26-1642-98C6-1EF9BD74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C30D1-CA38-FC43-95A9-BEA8E4EEEC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Preserve Whole Object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0EBE6-BC75-8D41-9796-7E1F53D8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404136549"/>
      </p:ext>
    </p:extLst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0800-EB26-1642-98C6-1EF9BD74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C30D1-CA38-FC43-95A9-BEA8E4EEEC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Parameter with Method</a:t>
            </a:r>
            <a:endParaRPr lang="en-US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0EBE6-BC75-8D41-9796-7E1F53D8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c10_8</a:t>
            </a:r>
          </a:p>
        </p:txBody>
      </p:sp>
    </p:spTree>
    <p:extLst>
      <p:ext uri="{BB962C8B-B14F-4D97-AF65-F5344CB8AC3E}">
        <p14:creationId xmlns:p14="http://schemas.microsoft.com/office/powerpoint/2010/main" val="660260958"/>
      </p:ext>
    </p:extLst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0800-EB26-1642-98C6-1EF9BD74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C30D1-CA38-FC43-95A9-BEA8E4EEEC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Introduce Parameter Object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80EBE6-BC75-8D41-9796-7E1F53D81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1245160"/>
      </p:ext>
    </p:extLst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6E01A-4493-5945-BE51-F3E33779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D1C809-FCDE-564B-B8FF-9068C2C9E2B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Remove Setting Method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B96AD-FB7D-004F-8C2B-81E76DEAC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903919707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D98CD-20B9-1C4B-ACA0-C104150B3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AC036-CE6B-D549-BC52-FDB810E60E9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Hide Method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E215D-7C9D-4347-8234-B6AF61CEE4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923836264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C6BF8-3EAB-3640-A7AB-A1EF13D96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B59BA9-02F2-D042-A35F-9D948606FBE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Replace Constructor with Factory Method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4B495F-0507-F147-BC45-AB946FD95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c10_12</a:t>
            </a:r>
          </a:p>
        </p:txBody>
      </p:sp>
    </p:spTree>
    <p:extLst>
      <p:ext uri="{BB962C8B-B14F-4D97-AF65-F5344CB8AC3E}">
        <p14:creationId xmlns:p14="http://schemas.microsoft.com/office/powerpoint/2010/main" val="2572507927"/>
      </p:ext>
    </p:extLst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C6BF8-3EAB-3640-A7AB-A1EF13D96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B59BA9-02F2-D042-A35F-9D948606FBE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Encapsulate Downcast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4B495F-0507-F147-BC45-AB946FD95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c10_13</a:t>
            </a:r>
          </a:p>
        </p:txBody>
      </p:sp>
    </p:spTree>
    <p:extLst>
      <p:ext uri="{BB962C8B-B14F-4D97-AF65-F5344CB8AC3E}">
        <p14:creationId xmlns:p14="http://schemas.microsoft.com/office/powerpoint/2010/main" val="2877778723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B319D-BBF2-584A-B81D-503526D2F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函数调用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43473-1F58-0645-A020-323ED351FC0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2"/>
            <a:ext cx="21971000" cy="4927248"/>
          </a:xfrm>
        </p:spPr>
        <p:txBody>
          <a:bodyPr/>
          <a:lstStyle/>
          <a:p>
            <a:r>
              <a:rPr lang="en-US" dirty="0"/>
              <a:t>Replace Error Code with Exception			</a:t>
            </a:r>
            <a:r>
              <a:rPr lang="en-CN" sz="4800" dirty="0"/>
              <a:t>code c10_14</a:t>
            </a:r>
          </a:p>
          <a:p>
            <a:r>
              <a:rPr lang="en-US" dirty="0"/>
              <a:t>Replace Exception with Test						</a:t>
            </a:r>
            <a:r>
              <a:rPr lang="en-CN" sz="4800" dirty="0"/>
              <a:t>code c10_14</a:t>
            </a:r>
          </a:p>
          <a:p>
            <a:endParaRPr lang="en-US" b="0" dirty="0"/>
          </a:p>
          <a:p>
            <a:endParaRPr lang="en-CN" dirty="0"/>
          </a:p>
          <a:p>
            <a:endParaRPr lang="en-US" b="0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507411348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AE347-7FC3-2040-8C87-C9CF4FA84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继承关系</a:t>
            </a:r>
            <a:r>
              <a:rPr lang="en-US" altLang="zh-CN" dirty="0">
                <a:solidFill>
                  <a:schemeClr val="accent1"/>
                </a:solidFill>
              </a:rPr>
              <a:t> (Optional)</a:t>
            </a:r>
            <a:endParaRPr lang="en-CN" dirty="0">
              <a:solidFill>
                <a:schemeClr val="accent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9C3CE-1486-2E4E-99FE-7376698E011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2"/>
            <a:ext cx="21971000" cy="5661766"/>
          </a:xfrm>
        </p:spPr>
        <p:txBody>
          <a:bodyPr/>
          <a:lstStyle/>
          <a:p>
            <a:r>
              <a:rPr lang="en-US" dirty="0"/>
              <a:t>Pull Up Field</a:t>
            </a:r>
          </a:p>
          <a:p>
            <a:r>
              <a:rPr lang="en-US" dirty="0"/>
              <a:t>Pull Up Method</a:t>
            </a:r>
          </a:p>
          <a:p>
            <a:r>
              <a:rPr lang="en-US" dirty="0"/>
              <a:t>Pull Up Constructor Body</a:t>
            </a:r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9ABD5B-CD1F-5B4D-8AC3-8F5B0BC1E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7215874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61F9F-59B4-A64F-B427-DA8B80B6B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继承关系</a:t>
            </a:r>
            <a:r>
              <a:rPr lang="en-CN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(Optional)</a:t>
            </a:r>
            <a:endParaRPr lang="en-CN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C6E0E7-C8ED-B94C-8810-08501BB6505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1"/>
            <a:ext cx="21971000" cy="3758015"/>
          </a:xfrm>
        </p:spPr>
        <p:txBody>
          <a:bodyPr>
            <a:normAutofit/>
          </a:bodyPr>
          <a:lstStyle/>
          <a:p>
            <a:r>
              <a:rPr lang="en-US" dirty="0"/>
              <a:t>Push Down Method</a:t>
            </a:r>
          </a:p>
          <a:p>
            <a:r>
              <a:rPr lang="en-US" dirty="0"/>
              <a:t>Push Down Field</a:t>
            </a:r>
            <a:endParaRPr lang="en-US" b="0" dirty="0"/>
          </a:p>
          <a:p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C1DEFB-7DAF-9A45-B6D3-856EEA830B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05034320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3E1DE-564D-A544-9804-A73F43DFD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继承关系 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CE7D1-7130-6849-8A6F-A21C300A209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Extract Subclass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07EF21-4333-C24A-98DC-781854620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50169494"/>
      </p:ext>
    </p:extLst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5382C-00C9-7148-92AD-A391FB579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继承关系 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44169E-8EFA-A84D-8795-F38CA2AB96B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Extract Superclass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2E0D10-F490-8E47-AB8B-FAA164F40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41192211"/>
      </p:ext>
    </p:extLst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30C02-7E78-634E-9943-0176C496D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继承关系 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23A50-B915-DE4F-994F-D17735ED60D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Extract Interface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6194B-DF0D-CA45-9CE6-CF00B02D5A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N" dirty="0"/>
              <a:t>code c11_8</a:t>
            </a:r>
          </a:p>
        </p:txBody>
      </p:sp>
    </p:spTree>
    <p:extLst>
      <p:ext uri="{BB962C8B-B14F-4D97-AF65-F5344CB8AC3E}">
        <p14:creationId xmlns:p14="http://schemas.microsoft.com/office/powerpoint/2010/main" val="750662857"/>
      </p:ext>
    </p:extLst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34B2C-BB52-6E4B-83C9-2D86C66E9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继承关系 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C61101-4E60-B644-9BB9-73904F45DF2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Collapse Hierarchy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CCA486-055D-9744-8850-9C9D19791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708880450"/>
      </p:ext>
    </p:extLst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D1592-027D-FD4F-87A9-C04667D1D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继承关系 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77E6C4-ADD2-D74E-A2AF-74340C0480C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Form Template Method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F31B34-B857-1D45-92D8-79FDAEF06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code c11_10</a:t>
            </a:r>
          </a:p>
        </p:txBody>
      </p:sp>
    </p:spTree>
    <p:extLst>
      <p:ext uri="{BB962C8B-B14F-4D97-AF65-F5344CB8AC3E}">
        <p14:creationId xmlns:p14="http://schemas.microsoft.com/office/powerpoint/2010/main" val="1261492511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A94CE-6D1C-4F41-AA95-96D97E211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继承关系 </a:t>
            </a:r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B50C0-990E-234E-BE19-CE4E4451AEE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06500" y="2372961"/>
            <a:ext cx="21971000" cy="5423502"/>
          </a:xfrm>
        </p:spPr>
        <p:txBody>
          <a:bodyPr>
            <a:normAutofit/>
          </a:bodyPr>
          <a:lstStyle/>
          <a:p>
            <a:r>
              <a:rPr lang="en-US" dirty="0"/>
              <a:t>Replace Inheritance with Delegation</a:t>
            </a:r>
          </a:p>
          <a:p>
            <a:r>
              <a:rPr lang="en-US" dirty="0"/>
              <a:t>Replace Delegation with Inheritance</a:t>
            </a:r>
            <a:endParaRPr lang="en-US" b="0" dirty="0"/>
          </a:p>
          <a:p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77859-E21F-904E-B445-774B2E2CA9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720042642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B9C6C-31A8-0346-8334-07AC8B0C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大型重构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10EDF-45F6-EC40-A414-4B9455BC691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Tease Apart Inheritance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9BD54-8268-0B4D-BD4E-A6E5B1B8F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6500" y="3307742"/>
            <a:ext cx="21971000" cy="9196774"/>
          </a:xfrm>
        </p:spPr>
        <p:txBody>
          <a:bodyPr/>
          <a:lstStyle/>
          <a:p>
            <a:endParaRPr lang="en-CN" dirty="0"/>
          </a:p>
        </p:txBody>
      </p:sp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782CDEFE-5D3E-604A-AEF3-0FF46341F5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2304" y="3648373"/>
            <a:ext cx="7229982" cy="1688755"/>
          </a:xfrm>
          <a:prstGeom prst="rect">
            <a:avLst/>
          </a:prstGeom>
        </p:spPr>
      </p:pic>
      <p:sp>
        <p:nvSpPr>
          <p:cNvPr id="21" name="Right Arrow 20">
            <a:extLst>
              <a:ext uri="{FF2B5EF4-FFF2-40B4-BE49-F238E27FC236}">
                <a16:creationId xmlns:a16="http://schemas.microsoft.com/office/drawing/2014/main" id="{FDB87FC0-CF10-864C-B19D-57DBCC1A02AD}"/>
              </a:ext>
            </a:extLst>
          </p:cNvPr>
          <p:cNvSpPr/>
          <p:nvPr/>
        </p:nvSpPr>
        <p:spPr>
          <a:xfrm>
            <a:off x="10040112" y="7589520"/>
            <a:ext cx="1481328" cy="237744"/>
          </a:xfrm>
          <a:prstGeom prst="rightArrow">
            <a:avLst/>
          </a:prstGeom>
          <a:solidFill>
            <a:srgbClr val="00000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CN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79083F-3FFF-594B-91BF-067A08899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4908" y="4601204"/>
            <a:ext cx="7668612" cy="699338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A061189-F8B1-5B4B-9639-872DCFA8E2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49595" y="5742432"/>
            <a:ext cx="8614359" cy="5874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285712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B9C6C-31A8-0346-8334-07AC8B0C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大型重构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10EDF-45F6-EC40-A414-4B9455BC691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Tease Apart Inheritance</a:t>
            </a:r>
            <a:r>
              <a:rPr lang="zh-CN" altLang="en-US" dirty="0"/>
              <a:t> </a:t>
            </a:r>
            <a:r>
              <a:rPr lang="en-US" altLang="zh-CN" dirty="0"/>
              <a:t>-2</a:t>
            </a:r>
            <a:endParaRPr lang="en-US" b="0" dirty="0"/>
          </a:p>
          <a:p>
            <a:endParaRPr lang="en-CN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BB8BB8A-0DE4-C443-9BB5-4AC6C4A6B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8386" y="4937761"/>
            <a:ext cx="10749024" cy="4279392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9BD54-8268-0B4D-BD4E-A6E5B1B8F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6500" y="3307742"/>
            <a:ext cx="21971000" cy="9196774"/>
          </a:xfrm>
        </p:spPr>
        <p:txBody>
          <a:bodyPr/>
          <a:lstStyle/>
          <a:p>
            <a:endParaRPr lang="en-CN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1E32297-E03E-E94B-9B07-F514A0BE8C52}"/>
              </a:ext>
            </a:extLst>
          </p:cNvPr>
          <p:cNvSpPr/>
          <p:nvPr/>
        </p:nvSpPr>
        <p:spPr>
          <a:xfrm>
            <a:off x="1353312" y="6638544"/>
            <a:ext cx="829607" cy="219456"/>
          </a:xfrm>
          <a:prstGeom prst="rightArrow">
            <a:avLst/>
          </a:prstGeom>
          <a:solidFill>
            <a:srgbClr val="00000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CN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FD39F3CC-6A79-FB49-94BF-00FEF9F7CC2C}"/>
              </a:ext>
            </a:extLst>
          </p:cNvPr>
          <p:cNvSpPr/>
          <p:nvPr/>
        </p:nvSpPr>
        <p:spPr>
          <a:xfrm>
            <a:off x="11814048" y="7077456"/>
            <a:ext cx="950976" cy="274320"/>
          </a:xfrm>
          <a:prstGeom prst="rightArrow">
            <a:avLst/>
          </a:prstGeom>
          <a:solidFill>
            <a:srgbClr val="00000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CN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B379BB1-C868-CB45-B785-1ACB36CBD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9496" y="5305473"/>
            <a:ext cx="9547242" cy="482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708102"/>
      </p:ext>
    </p:extLst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B9C6C-31A8-0346-8334-07AC8B0C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大型重构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10EDF-45F6-EC40-A414-4B9455BC691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Tease Apart Inheritance</a:t>
            </a:r>
            <a:r>
              <a:rPr lang="zh-CN" altLang="en-US" dirty="0"/>
              <a:t> </a:t>
            </a:r>
            <a:r>
              <a:rPr lang="en-US" altLang="zh-CN" dirty="0"/>
              <a:t>-3</a:t>
            </a:r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9BD54-8268-0B4D-BD4E-A6E5B1B8F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6500" y="3307742"/>
            <a:ext cx="21971000" cy="9196774"/>
          </a:xfrm>
        </p:spPr>
        <p:txBody>
          <a:bodyPr/>
          <a:lstStyle/>
          <a:p>
            <a:endParaRPr lang="en-CN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0A121217-8740-9648-976C-A2B2A8C2E8D9}"/>
              </a:ext>
            </a:extLst>
          </p:cNvPr>
          <p:cNvSpPr/>
          <p:nvPr/>
        </p:nvSpPr>
        <p:spPr>
          <a:xfrm>
            <a:off x="1342564" y="6858000"/>
            <a:ext cx="669116" cy="219456"/>
          </a:xfrm>
          <a:prstGeom prst="rightArrow">
            <a:avLst/>
          </a:prstGeom>
          <a:solidFill>
            <a:srgbClr val="00000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CN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40165A-BE49-7243-A9E1-B1AAF8CE3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9617" y="5277665"/>
            <a:ext cx="11566321" cy="381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232393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B9C6C-31A8-0346-8334-07AC8B0C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大型重构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10EDF-45F6-EC40-A414-4B9455BC691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Tease Apart Inheritance</a:t>
            </a:r>
            <a:r>
              <a:rPr lang="zh-CN" altLang="en-US" dirty="0"/>
              <a:t> </a:t>
            </a:r>
            <a:r>
              <a:rPr lang="en-US" altLang="zh-CN" dirty="0"/>
              <a:t>-4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9BD54-8268-0B4D-BD4E-A6E5B1B8F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6500" y="3307742"/>
            <a:ext cx="21971000" cy="9196774"/>
          </a:xfrm>
        </p:spPr>
        <p:txBody>
          <a:bodyPr/>
          <a:lstStyle/>
          <a:p>
            <a:pPr marL="0" indent="0">
              <a:buNone/>
            </a:pPr>
            <a:endParaRPr lang="en-CN" dirty="0"/>
          </a:p>
          <a:p>
            <a:pPr marL="0" indent="0">
              <a:buNone/>
            </a:pPr>
            <a:endParaRPr lang="en-CN" dirty="0"/>
          </a:p>
          <a:p>
            <a:pPr marL="0" indent="0">
              <a:buNone/>
            </a:pPr>
            <a:endParaRPr lang="en-CN" dirty="0"/>
          </a:p>
          <a:p>
            <a:pPr marL="0" indent="0">
              <a:buNone/>
            </a:pPr>
            <a:r>
              <a:rPr lang="en-CN" dirty="0"/>
              <a:t>			         </a:t>
            </a:r>
            <a:r>
              <a:rPr lang="en-CN" sz="8000" dirty="0"/>
              <a:t>VS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3E6B67-9A10-214D-8F67-317F6E528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500" y="4409435"/>
            <a:ext cx="7668612" cy="69933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FF9C9B7-BA65-7C4D-9208-88D9CE2B5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1370" y="5921080"/>
            <a:ext cx="12042630" cy="397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8513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B9C6C-31A8-0346-8334-07AC8B0C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大型重构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10EDF-45F6-EC40-A414-4B9455BC691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Convert Procedural Design to Objects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90BE9-CA3E-624A-B455-A9157CCE4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906419"/>
            <a:ext cx="7390384" cy="3341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656D2FB-F7DE-9041-904E-FD4DF63B4C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9073" y="6022665"/>
            <a:ext cx="9580898" cy="3225729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9BD54-8268-0B4D-BD4E-A6E5B1B8F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DAFF16CA-6839-174B-A784-BB6706E4CCFC}"/>
              </a:ext>
            </a:extLst>
          </p:cNvPr>
          <p:cNvSpPr/>
          <p:nvPr/>
        </p:nvSpPr>
        <p:spPr>
          <a:xfrm>
            <a:off x="10582656" y="7315200"/>
            <a:ext cx="1609344" cy="256032"/>
          </a:xfrm>
          <a:prstGeom prst="rightArrow">
            <a:avLst/>
          </a:prstGeom>
          <a:solidFill>
            <a:srgbClr val="000000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CN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675434080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B9C6C-31A8-0346-8334-07AC8B0C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大型重构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10EDF-45F6-EC40-A414-4B9455BC691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Separate Domain from Presentation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9BD54-8268-0B4D-BD4E-A6E5B1B8F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990573666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B9C6C-31A8-0346-8334-07AC8B0C4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大型重构</a:t>
            </a:r>
            <a:r>
              <a:rPr lang="en-US" altLang="zh-CN" dirty="0"/>
              <a:t> (Optional)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10EDF-45F6-EC40-A414-4B9455BC691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Extract Hierarchy</a:t>
            </a:r>
            <a:endParaRPr lang="en-US" b="0" dirty="0"/>
          </a:p>
          <a:p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9BD54-8268-0B4D-BD4E-A6E5B1B8F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18887073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1254</TotalTime>
  <Words>1054</Words>
  <Application>Microsoft Macintosh PowerPoint</Application>
  <PresentationFormat>Custom</PresentationFormat>
  <Paragraphs>273</Paragraphs>
  <Slides>66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Helvetica Neue</vt:lpstr>
      <vt:lpstr>Helvetica Neue Medium</vt:lpstr>
      <vt:lpstr>21_BasicWhite</vt:lpstr>
      <vt:lpstr>Refactoring</vt:lpstr>
      <vt:lpstr>Ref</vt:lpstr>
      <vt:lpstr>Content</vt:lpstr>
      <vt:lpstr>QA</vt:lpstr>
      <vt:lpstr>工具</vt:lpstr>
      <vt:lpstr>重构与性能</vt:lpstr>
      <vt:lpstr>难题</vt:lpstr>
      <vt:lpstr>组织函数</vt:lpstr>
      <vt:lpstr>组织函数</vt:lpstr>
      <vt:lpstr>组织函数</vt:lpstr>
      <vt:lpstr>组织函数</vt:lpstr>
      <vt:lpstr>组织函数</vt:lpstr>
      <vt:lpstr>组织函数</vt:lpstr>
      <vt:lpstr>组织函数</vt:lpstr>
      <vt:lpstr>组织函数</vt:lpstr>
      <vt:lpstr>组织函数</vt:lpstr>
      <vt:lpstr>在对象之间搬移特性 (Optional)</vt:lpstr>
      <vt:lpstr>在对象之间搬移特性 (Optional)</vt:lpstr>
      <vt:lpstr>在对象之间搬移特性 (Optional)</vt:lpstr>
      <vt:lpstr>在对象之间搬移特性 (Optional)</vt:lpstr>
      <vt:lpstr>在对象之间搬移特性 (Optional)</vt:lpstr>
      <vt:lpstr>重新组织数据</vt:lpstr>
      <vt:lpstr>重新组织数据</vt:lpstr>
      <vt:lpstr>重新组织数据</vt:lpstr>
      <vt:lpstr>重新组织数据</vt:lpstr>
      <vt:lpstr>重新组织数据</vt:lpstr>
      <vt:lpstr>重新组织数据</vt:lpstr>
      <vt:lpstr>重新组织数据</vt:lpstr>
      <vt:lpstr>重新组织数据</vt:lpstr>
      <vt:lpstr>重新组织数据</vt:lpstr>
      <vt:lpstr>重新组织数据</vt:lpstr>
      <vt:lpstr>条件表达式</vt:lpstr>
      <vt:lpstr>条件表达式</vt:lpstr>
      <vt:lpstr>条件表达式</vt:lpstr>
      <vt:lpstr>条件表达式</vt:lpstr>
      <vt:lpstr>条件表达式</vt:lpstr>
      <vt:lpstr>条件表达式</vt:lpstr>
      <vt:lpstr>条件表达式</vt:lpstr>
      <vt:lpstr>函数调用</vt:lpstr>
      <vt:lpstr>函数调用</vt:lpstr>
      <vt:lpstr>函数调用</vt:lpstr>
      <vt:lpstr>函数调用</vt:lpstr>
      <vt:lpstr>函数调用 </vt:lpstr>
      <vt:lpstr>函数调用</vt:lpstr>
      <vt:lpstr>函数调用</vt:lpstr>
      <vt:lpstr>函数调用</vt:lpstr>
      <vt:lpstr>函数调用</vt:lpstr>
      <vt:lpstr>函数调用</vt:lpstr>
      <vt:lpstr>函数调用</vt:lpstr>
      <vt:lpstr>函数调用</vt:lpstr>
      <vt:lpstr>函数调用</vt:lpstr>
      <vt:lpstr>继承关系 (Optional)</vt:lpstr>
      <vt:lpstr>继承关系 (Optional)</vt:lpstr>
      <vt:lpstr>继承关系 (Optional)</vt:lpstr>
      <vt:lpstr>继承关系 (Optional)</vt:lpstr>
      <vt:lpstr>继承关系 (Optional)</vt:lpstr>
      <vt:lpstr>继承关系 (Optional)</vt:lpstr>
      <vt:lpstr>继承关系 (Optional)</vt:lpstr>
      <vt:lpstr>继承关系 (Optional)</vt:lpstr>
      <vt:lpstr>大型重构 (Optional)</vt:lpstr>
      <vt:lpstr>大型重构 (Optional)</vt:lpstr>
      <vt:lpstr>大型重构 (Optional)</vt:lpstr>
      <vt:lpstr>大型重构 (Optional)</vt:lpstr>
      <vt:lpstr>大型重构 (Optional)</vt:lpstr>
      <vt:lpstr>大型重构 (Optional)</vt:lpstr>
      <vt:lpstr>大型重构 (Optional)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</dc:title>
  <cp:lastModifiedBy>kf</cp:lastModifiedBy>
  <cp:revision>388</cp:revision>
  <dcterms:modified xsi:type="dcterms:W3CDTF">2021-06-03T13:36:51Z</dcterms:modified>
</cp:coreProperties>
</file>