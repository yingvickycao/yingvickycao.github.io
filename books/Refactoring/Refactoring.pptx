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2" r:id="rId5"/>
    <p:sldId id="274" r:id="rId6"/>
    <p:sldId id="263" r:id="rId7"/>
    <p:sldId id="266" r:id="rId8"/>
    <p:sldId id="267" r:id="rId9"/>
    <p:sldId id="268" r:id="rId10"/>
    <p:sldId id="275" r:id="rId11"/>
    <p:sldId id="276" r:id="rId12"/>
    <p:sldId id="269" r:id="rId13"/>
    <p:sldId id="270" r:id="rId14"/>
    <p:sldId id="271" r:id="rId15"/>
    <p:sldId id="272" r:id="rId16"/>
    <p:sldId id="265" r:id="rId17"/>
    <p:sldId id="260" r:id="rId18"/>
    <p:sldId id="277" r:id="rId19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31"/>
    <p:restoredTop sz="94733"/>
  </p:normalViewPr>
  <p:slideViewPr>
    <p:cSldViewPr snapToGrid="0" snapToObjects="1">
      <p:cViewPr varScale="1">
        <p:scale>
          <a:sx n="117" d="100"/>
          <a:sy n="117" d="100"/>
        </p:scale>
        <p:origin x="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7383F5-6C25-4144-BB9C-7D6DC74B2771}" type="datetimeFigureOut">
              <a:rPr lang="en-CN" smtClean="0"/>
              <a:t>2020/7/30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577713-C50F-0A49-B6B5-BF3553DE71B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10389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933C0-A38E-D84F-A756-631AD78F6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437F2E-375E-0342-A57F-1E26AB7340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D7580-7641-D543-8107-3CBF36EA7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2020/7/30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EB274-E2A7-BC45-93C7-BDA9360CA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5A3E1-B41A-844B-B82D-7B2F93815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42689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79787-0D03-2645-9639-DD6F129E9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8A130-6E4C-2148-9A8D-B55194B81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34B7F-13FA-5F44-AC32-1BAAE84DF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2020/7/30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E7DBF-E5A8-8D4B-90F0-DB1EC1F26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8F358-304D-BF4F-BFC5-F602D355D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95536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600C3-C97B-6745-AE6D-75668804F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74EC2-AC21-C14E-AFB9-05206E1AD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D63D5-B6DD-7D4C-937A-A57CA8C92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2020/7/30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E78C9-DF9C-8E42-A982-8743645FF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D1AD2-F776-C249-8F4E-457B9776A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76163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95ACA-07D4-DE4A-8B26-A5B91EA8D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22D45-57E2-6542-8F32-20EAA80779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23CB33-9F96-2D48-A777-3568BC4A90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55AD6-6C2B-0841-A15D-A66D27775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2020/7/30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47254C-ED60-D349-BB57-B6A02F71C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F89CAE-45E8-C044-9F3A-80D4301E1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59783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3A67F-387F-FA45-B620-DA35D167B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36AC8-6AC8-D746-A45C-6294E8FED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C3628-BA27-1E4D-AED8-A40C9F5CD6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E9AD60-D6FE-7A40-A1C7-13DE375CB3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73B5B9-A03C-5D4A-8331-1B354E3EA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B92426-4DAA-CF45-9528-F1B9A2025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2020/7/30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4AB5FF-09B8-DE41-940F-270B10290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66D13F-700B-4E4A-95B4-103622EAD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03766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3DD39-03ED-434D-B85B-0C6D52425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ED734-7165-564A-B72D-CCC009FBF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2020/7/30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E29CF7-6EA2-FA46-8177-E3019100B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5EF33E-3ACD-DE49-8E2C-657AE43A0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0788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525C67-F307-1C47-9353-E055E1A1E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2020/7/30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31D758-E9C7-C54D-9227-87A171020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7ED29-822D-7648-9850-0C83C386A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25563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7AB41-4A4E-354B-BC08-E3074B040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D2793-34B2-5B4A-A00F-C46EBED33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D97A21-5BF3-2B46-A0E6-9D6756F1F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1BAB7A-57CE-E740-A61A-2B9D9C986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2020/7/30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09DC29-4064-4442-9836-9AFFF3BFA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14248-D9E1-B144-A415-ABF57BE8D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75256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1918D-084A-0B4D-AB4F-04E084A43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99FDD8-B03D-4A42-B1F8-EC932341B7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365CAD-B047-4B43-A733-D7B971679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189950-81D0-2143-82BA-66A18ADDB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2020/7/30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CC5CB3-CB2B-3841-A44F-92265CC99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B4EEEC-AEE2-2F41-B8EE-EAE632EEA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76936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286E2-B094-E44F-943B-31C45897F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6459E5-8873-C44B-8027-8DE1BA05A4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624DB-C877-BA45-80F5-99A42CE1C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2020/7/30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E8BD5-AB73-1945-BB46-6D594C590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759E6-11D6-5B4C-BB6C-AC8A8D87C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8601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F50848-5555-1446-A961-13FAB2EFEA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1903C5-97A4-7547-9727-148106E670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C98F1-3F27-804E-A482-34999685E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EC24-67D7-F647-A9BD-542708036C5D}" type="datetimeFigureOut">
              <a:rPr lang="en-CN" smtClean="0"/>
              <a:t>2020/7/30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693C1-9613-5046-B65F-5F05A2DC6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6D075-898A-FA4E-BAA8-A1C8B7D16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54628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2C023C-A709-6C4E-BA26-83FFA4BAC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06CE1-CD8F-D848-9B8A-F82751D35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AB01A-71D4-8142-8B4F-55B6172F0E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81EC24-67D7-F647-A9BD-542708036C5D}" type="datetimeFigureOut">
              <a:rPr lang="en-CN" smtClean="0"/>
              <a:t>2020/7/30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61908-F454-3C47-A952-01BCCB6203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D04C9-6219-524C-A628-9E570D401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D076B-0095-FB49-9114-F58B457BDF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95958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ee.com/YingVickyCao/Refactoring-Improving-the-Design-of-Existing-Code" TargetMode="External"/><Relationship Id="rId2" Type="http://schemas.openxmlformats.org/officeDocument/2006/relationships/hyperlink" Target="https://gitee.com/YingVickyCao/YingVickyCao.github.io/tree/master/books/refactoring_improve_the_design_of_existing_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refactoring.guru/smells/parallel-inheritance-hierarchie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59796-662F-284C-96D6-D6D5468CF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Refactoring</a:t>
            </a:r>
            <a:br>
              <a:rPr lang="en-US" dirty="0"/>
            </a:br>
            <a:endParaRPr lang="en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39CD77-DD5E-B44C-8C2D-EE92A0D900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Improve the design of existing code</a:t>
            </a:r>
            <a:endParaRPr lang="en-US" dirty="0"/>
          </a:p>
          <a:p>
            <a:r>
              <a:rPr lang="en-US" b="1" dirty="0"/>
              <a:t>Martin  Flower</a:t>
            </a:r>
            <a:endParaRPr lang="en-US" dirty="0"/>
          </a:p>
          <a:p>
            <a:endParaRPr lang="en-CN" dirty="0"/>
          </a:p>
          <a:p>
            <a:r>
              <a:rPr lang="en-US" sz="1200" dirty="0"/>
              <a:t>Vicky, 2020/7/30</a:t>
            </a:r>
          </a:p>
          <a:p>
            <a:endParaRPr lang="en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473818-D72B-0D49-86B3-EE0981C81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82" y="1122363"/>
            <a:ext cx="2019300" cy="2647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0B7224-8D4D-7A45-BC29-046C475DF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9681" y="1122363"/>
            <a:ext cx="2056637" cy="27867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92E119-DC5B-884A-9DA9-7545A9EE37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921" y="4638387"/>
            <a:ext cx="1564821" cy="1984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95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7C12F-99C1-554D-8F06-72B743ABD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use this book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15E23-173C-C147-90BE-128F6023C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Code first, then read summary</a:t>
            </a:r>
          </a:p>
          <a:p>
            <a:r>
              <a:rPr lang="en-US" sz="1600" dirty="0"/>
              <a:t>Search the project code, the practice refactoring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600" dirty="0">
                <a:hlinkClick r:id="rId2"/>
              </a:rPr>
              <a:t>Memo</a:t>
            </a:r>
          </a:p>
          <a:p>
            <a:pPr marL="0" indent="0">
              <a:buNone/>
            </a:pPr>
            <a:r>
              <a:rPr lang="en-US" sz="1600" dirty="0"/>
              <a:t> </a:t>
            </a:r>
            <a:r>
              <a:rPr lang="en-US" sz="1600" dirty="0" err="1"/>
              <a:t>gitee</a:t>
            </a:r>
            <a:r>
              <a:rPr lang="en-US" sz="1600" dirty="0"/>
              <a:t> / </a:t>
            </a:r>
            <a:r>
              <a:rPr lang="en-US" sz="1600" dirty="0" err="1"/>
              <a:t>github</a:t>
            </a:r>
            <a:endParaRPr lang="en-US" sz="1600" dirty="0">
              <a:hlinkClick r:id="rId2"/>
            </a:endParaRPr>
          </a:p>
          <a:p>
            <a:pPr marL="0" indent="0">
              <a:buNone/>
            </a:pPr>
            <a:r>
              <a:rPr lang="en-US" sz="1400" dirty="0">
                <a:hlinkClick r:id="rId2"/>
              </a:rPr>
              <a:t>https://gitee.com/YingVickyCao/YingVickyCao.github.io/tree/master/books/refactoring_improve_the_design_of_existing_code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hlinkClick r:id="rId3"/>
              </a:rPr>
              <a:t>Code</a:t>
            </a:r>
          </a:p>
          <a:p>
            <a:pPr marL="0" indent="0">
              <a:buNone/>
            </a:pPr>
            <a:r>
              <a:rPr lang="en-US" sz="1400" dirty="0">
                <a:hlinkClick r:id="rId3"/>
              </a:rPr>
              <a:t>https://gitee.com/YingVickyCao/Refactoring-Improving-the-Design-of-Existing-Code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63770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F850F-CF42-6543-AAE5-AFAEAB8CC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约定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97BC8-91B4-6447-8783-56ADEC9E8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类  </a:t>
            </a:r>
            <a:r>
              <a:rPr lang="en-US" altLang="zh-CN" dirty="0"/>
              <a:t>&lt;= 1000 </a:t>
            </a:r>
            <a:r>
              <a:rPr lang="zh-CN" altLang="en-US" dirty="0"/>
              <a:t>行</a:t>
            </a:r>
          </a:p>
          <a:p>
            <a:r>
              <a:rPr lang="zh-CN" altLang="en-US" dirty="0"/>
              <a:t>函数  </a:t>
            </a:r>
            <a:r>
              <a:rPr lang="en-US" altLang="zh-CN" dirty="0"/>
              <a:t>&lt;= 50</a:t>
            </a:r>
            <a:r>
              <a:rPr lang="zh-CN" altLang="en-US" dirty="0"/>
              <a:t>行</a:t>
            </a:r>
            <a:r>
              <a:rPr lang="en-US" altLang="zh-CN" dirty="0"/>
              <a:t>, </a:t>
            </a:r>
            <a:r>
              <a:rPr lang="zh-CN" altLang="en-US" dirty="0"/>
              <a:t>最长</a:t>
            </a:r>
            <a:r>
              <a:rPr lang="en-US" altLang="zh-CN" dirty="0"/>
              <a:t>100</a:t>
            </a:r>
            <a:r>
              <a:rPr lang="zh-CN" altLang="en-US" dirty="0"/>
              <a:t>行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977857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50234-D0A9-5A41-83F7-C576F472B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QA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C8D41-78F7-FD42-A3E9-A7DFA22A8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1.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为什么需要重构？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r>
              <a:rPr lang="en-US" altLang="zh-CN" dirty="0">
                <a:solidFill>
                  <a:srgbClr val="FF0000"/>
                </a:solidFill>
                <a:effectLst/>
              </a:rPr>
              <a:t>2.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什么时候需要重构？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r>
              <a:rPr lang="en-US" altLang="zh-CN" dirty="0">
                <a:solidFill>
                  <a:srgbClr val="FF0000"/>
                </a:solidFill>
                <a:effectLst/>
              </a:rPr>
              <a:t>3.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重构有</a:t>
            </a:r>
            <a:r>
              <a:rPr lang="zh-CN" altLang="en-US" dirty="0">
                <a:solidFill>
                  <a:srgbClr val="FF0000"/>
                </a:solidFill>
              </a:rPr>
              <a:t>哪些方法？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  <a:effectLst/>
              </a:rPr>
              <a:t>4.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如何检测重构以后是否引入新的</a:t>
            </a:r>
            <a:r>
              <a:rPr lang="en-US" dirty="0">
                <a:solidFill>
                  <a:srgbClr val="FF0000"/>
                </a:solidFill>
                <a:effectLst/>
              </a:rPr>
              <a:t>bug？ </a:t>
            </a:r>
          </a:p>
          <a:p>
            <a:r>
              <a:rPr lang="en-US" dirty="0">
                <a:solidFill>
                  <a:srgbClr val="FF0000"/>
                </a:solidFill>
                <a:effectLst/>
              </a:rPr>
              <a:t>5.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平时开发中需要如何设计代码结构，做到以后尽量少或者小的重构？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+</a:t>
            </a:r>
          </a:p>
          <a:p>
            <a:r>
              <a:rPr lang="en-US" altLang="zh-CN" dirty="0">
                <a:solidFill>
                  <a:srgbClr val="FF0000"/>
                </a:solidFill>
                <a:effectLst/>
              </a:rPr>
              <a:t>6.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 重构 在</a:t>
            </a:r>
            <a:r>
              <a:rPr lang="en-US" altLang="zh-CN" dirty="0">
                <a:solidFill>
                  <a:srgbClr val="FF0000"/>
                </a:solidFill>
              </a:rPr>
              <a:t>JS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中能用吗？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7.</a:t>
            </a:r>
            <a:r>
              <a:rPr lang="zh-CN" altLang="en-US" dirty="0">
                <a:solidFill>
                  <a:srgbClr val="FF0000"/>
                </a:solidFill>
              </a:rPr>
              <a:t>  项目架构非常</a:t>
            </a:r>
            <a:r>
              <a:rPr lang="en-US" altLang="zh-CN" dirty="0">
                <a:solidFill>
                  <a:srgbClr val="FF0000"/>
                </a:solidFill>
              </a:rPr>
              <a:t>common</a:t>
            </a:r>
            <a:r>
              <a:rPr lang="zh-CN" altLang="en-US" dirty="0">
                <a:solidFill>
                  <a:srgbClr val="FF0000"/>
                </a:solidFill>
              </a:rPr>
              <a:t>，不能一下子改完，该如何着手重构？</a:t>
            </a:r>
            <a:endParaRPr lang="zh-CN" altLang="en-US" dirty="0"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83467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178D5-738A-FF4A-8BDF-233E84511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Read Example togeter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1449DC7-E7E7-A54E-A38C-80EEC1928E8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901688"/>
          <a:ext cx="10515600" cy="41992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2417">
                  <a:extLst>
                    <a:ext uri="{9D8B030D-6E8A-4147-A177-3AD203B41FA5}">
                      <a16:colId xmlns:a16="http://schemas.microsoft.com/office/drawing/2014/main" val="2885986515"/>
                    </a:ext>
                  </a:extLst>
                </a:gridCol>
                <a:gridCol w="5204537">
                  <a:extLst>
                    <a:ext uri="{9D8B030D-6E8A-4147-A177-3AD203B41FA5}">
                      <a16:colId xmlns:a16="http://schemas.microsoft.com/office/drawing/2014/main" val="893374954"/>
                    </a:ext>
                  </a:extLst>
                </a:gridCol>
                <a:gridCol w="4618646">
                  <a:extLst>
                    <a:ext uri="{9D8B030D-6E8A-4147-A177-3AD203B41FA5}">
                      <a16:colId xmlns:a16="http://schemas.microsoft.com/office/drawing/2014/main" val="516633318"/>
                    </a:ext>
                  </a:extLst>
                </a:gridCol>
              </a:tblGrid>
              <a:tr h="213154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Version</a:t>
                      </a:r>
                      <a:endParaRPr lang="en-US" sz="1300" b="1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761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Modify</a:t>
                      </a:r>
                      <a:endParaRPr lang="en-US" sz="1300" b="1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761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Tool</a:t>
                      </a:r>
                      <a:endParaRPr lang="en-US" sz="1300" b="1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7613" marB="0" anchor="b"/>
                </a:tc>
                <a:extLst>
                  <a:ext uri="{0D108BD9-81ED-4DB2-BD59-A6C34878D82A}">
                    <a16:rowId xmlns:a16="http://schemas.microsoft.com/office/drawing/2014/main" val="252071684"/>
                  </a:ext>
                </a:extLst>
              </a:tr>
              <a:tr h="286235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v1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Customer - switch -&gt; method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Extract Method(110)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extLst>
                  <a:ext uri="{0D108BD9-81ED-4DB2-BD59-A6C34878D82A}">
                    <a16:rowId xmlns:a16="http://schemas.microsoft.com/office/drawing/2014/main" val="1877649923"/>
                  </a:ext>
                </a:extLst>
              </a:tr>
              <a:tr h="286235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v2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Customer - move amountFor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Move Method(142)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extLst>
                  <a:ext uri="{0D108BD9-81ED-4DB2-BD59-A6C34878D82A}">
                    <a16:rowId xmlns:a16="http://schemas.microsoft.com/office/drawing/2014/main" val="912342628"/>
                  </a:ext>
                </a:extLst>
              </a:tr>
              <a:tr h="286235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v3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Customer - thisAmount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Replace tmp with query(120)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extLst>
                  <a:ext uri="{0D108BD9-81ED-4DB2-BD59-A6C34878D82A}">
                    <a16:rowId xmlns:a16="http://schemas.microsoft.com/office/drawing/2014/main" val="3450862081"/>
                  </a:ext>
                </a:extLst>
              </a:tr>
              <a:tr h="286235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v4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Customer - frequentRenterPoints -&gt; method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Extract Method(110)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extLst>
                  <a:ext uri="{0D108BD9-81ED-4DB2-BD59-A6C34878D82A}">
                    <a16:rowId xmlns:a16="http://schemas.microsoft.com/office/drawing/2014/main" val="976802211"/>
                  </a:ext>
                </a:extLst>
              </a:tr>
              <a:tr h="286235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v5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Customer - totalAmount -&gt; method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Replace tmp with query(120)：</a:t>
                      </a:r>
                      <a:r>
                        <a:rPr lang="zh-CN" altLang="en-US" sz="1300" u="none" strike="noStrike">
                          <a:effectLst/>
                        </a:rPr>
                        <a:t>性能？</a:t>
                      </a:r>
                      <a:endParaRPr lang="zh-CN" alt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extLst>
                  <a:ext uri="{0D108BD9-81ED-4DB2-BD59-A6C34878D82A}">
                    <a16:rowId xmlns:a16="http://schemas.microsoft.com/office/drawing/2014/main" val="953438647"/>
                  </a:ext>
                </a:extLst>
              </a:tr>
              <a:tr h="286235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v6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Customer - frequentRenterPoints -&gt; method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Replace tmp with query(120)：</a:t>
                      </a:r>
                      <a:r>
                        <a:rPr lang="zh-CN" altLang="en-US" sz="1300" u="none" strike="noStrike">
                          <a:effectLst/>
                        </a:rPr>
                        <a:t>性能？</a:t>
                      </a:r>
                      <a:endParaRPr lang="zh-CN" alt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extLst>
                  <a:ext uri="{0D108BD9-81ED-4DB2-BD59-A6C34878D82A}">
                    <a16:rowId xmlns:a16="http://schemas.microsoft.com/office/drawing/2014/main" val="537936278"/>
                  </a:ext>
                </a:extLst>
              </a:tr>
              <a:tr h="481119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v7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761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Rental.getCharge()-&gt;Moview.getCharge()</a:t>
                      </a:r>
                      <a:br>
                        <a:rPr lang="en-US" sz="1300" u="none" strike="noStrike">
                          <a:effectLst/>
                        </a:rPr>
                      </a:br>
                      <a:r>
                        <a:rPr lang="en-US" sz="1300" u="none" strike="noStrike">
                          <a:effectLst/>
                        </a:rPr>
                        <a:t>Rental.getFrequentRenterPoints()-&gt;Movie.getFrequentRenterPoints()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Move Method(142)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extLst>
                  <a:ext uri="{0D108BD9-81ED-4DB2-BD59-A6C34878D82A}">
                    <a16:rowId xmlns:a16="http://schemas.microsoft.com/office/drawing/2014/main" val="3026893733"/>
                  </a:ext>
                </a:extLst>
              </a:tr>
              <a:tr h="893217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v8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Movie </a:t>
                      </a:r>
                      <a:r>
                        <a:rPr lang="zh-CN" altLang="en-US" sz="1300" u="none" strike="noStrike">
                          <a:effectLst/>
                        </a:rPr>
                        <a:t>类型</a:t>
                      </a:r>
                      <a:endParaRPr lang="zh-CN" alt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Replace Type Code with State/Strategy(227)</a:t>
                      </a:r>
                      <a:br>
                        <a:rPr lang="en-US" sz="1300" u="none" strike="noStrike">
                          <a:effectLst/>
                        </a:rPr>
                      </a:br>
                      <a:r>
                        <a:rPr lang="en-US" sz="1300" u="none" strike="noStrike">
                          <a:effectLst/>
                        </a:rPr>
                        <a:t>Self Encapsulate(171)</a:t>
                      </a:r>
                      <a:br>
                        <a:rPr lang="en-US" sz="1300" u="none" strike="noStrike">
                          <a:effectLst/>
                        </a:rPr>
                      </a:br>
                      <a:r>
                        <a:rPr lang="en-US" sz="1300" u="none" strike="noStrike">
                          <a:effectLst/>
                        </a:rPr>
                        <a:t>:</a:t>
                      </a:r>
                      <a:r>
                        <a:rPr lang="zh-CN" altLang="en-US" sz="1300" u="none" strike="noStrike">
                          <a:effectLst/>
                        </a:rPr>
                        <a:t>引入 </a:t>
                      </a:r>
                      <a:r>
                        <a:rPr lang="en-US" sz="1300" u="none" strike="noStrike">
                          <a:effectLst/>
                        </a:rPr>
                        <a:t>State </a:t>
                      </a:r>
                      <a:r>
                        <a:rPr lang="zh-CN" altLang="en-US" sz="1300" u="none" strike="noStrike">
                          <a:effectLst/>
                        </a:rPr>
                        <a:t>模式</a:t>
                      </a:r>
                      <a:endParaRPr lang="zh-CN" alt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extLst>
                  <a:ext uri="{0D108BD9-81ED-4DB2-BD59-A6C34878D82A}">
                    <a16:rowId xmlns:a16="http://schemas.microsoft.com/office/drawing/2014/main" val="2434128514"/>
                  </a:ext>
                </a:extLst>
              </a:tr>
              <a:tr h="286235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v9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Movie - getCharge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Move Method(142):</a:t>
                      </a:r>
                      <a:r>
                        <a:rPr lang="zh-CN" altLang="en-US" sz="1300" u="none" strike="noStrike">
                          <a:effectLst/>
                        </a:rPr>
                        <a:t>引入 </a:t>
                      </a:r>
                      <a:r>
                        <a:rPr lang="en-US" sz="1300" u="none" strike="noStrike">
                          <a:effectLst/>
                        </a:rPr>
                        <a:t>State </a:t>
                      </a:r>
                      <a:r>
                        <a:rPr lang="zh-CN" altLang="en-US" sz="1300" u="none" strike="noStrike">
                          <a:effectLst/>
                        </a:rPr>
                        <a:t>模式</a:t>
                      </a:r>
                      <a:endParaRPr lang="zh-CN" alt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extLst>
                  <a:ext uri="{0D108BD9-81ED-4DB2-BD59-A6C34878D82A}">
                    <a16:rowId xmlns:a16="http://schemas.microsoft.com/office/drawing/2014/main" val="2793745187"/>
                  </a:ext>
                </a:extLst>
              </a:tr>
              <a:tr h="286235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v10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Price- getCharge switch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Replace Conditional with Polymorphism(255):</a:t>
                      </a:r>
                      <a:r>
                        <a:rPr lang="zh-CN" altLang="en-US" sz="1300" u="none" strike="noStrike">
                          <a:effectLst/>
                        </a:rPr>
                        <a:t>引入 </a:t>
                      </a:r>
                      <a:r>
                        <a:rPr lang="en-US" sz="1300" u="none" strike="noStrike">
                          <a:effectLst/>
                        </a:rPr>
                        <a:t>State </a:t>
                      </a:r>
                      <a:r>
                        <a:rPr lang="zh-CN" altLang="en-US" sz="1300" u="none" strike="noStrike">
                          <a:effectLst/>
                        </a:rPr>
                        <a:t>模式</a:t>
                      </a:r>
                      <a:endParaRPr lang="zh-CN" alt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extLst>
                  <a:ext uri="{0D108BD9-81ED-4DB2-BD59-A6C34878D82A}">
                    <a16:rowId xmlns:a16="http://schemas.microsoft.com/office/drawing/2014/main" val="763801060"/>
                  </a:ext>
                </a:extLst>
              </a:tr>
              <a:tr h="286235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v11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Movie - getFrequentRenterPoints switch</a:t>
                      </a:r>
                      <a:endParaRPr lang="en-US" sz="1300" b="0" i="0" u="none" strike="noStrike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Replace Conditional with Polymorphism(255):</a:t>
                      </a:r>
                      <a:r>
                        <a:rPr lang="zh-CN" altLang="en-US" sz="1300" u="none" strike="noStrike" dirty="0">
                          <a:effectLst/>
                        </a:rPr>
                        <a:t>引入 </a:t>
                      </a:r>
                      <a:r>
                        <a:rPr lang="en-US" sz="1300" u="none" strike="noStrike" dirty="0">
                          <a:effectLst/>
                        </a:rPr>
                        <a:t>State </a:t>
                      </a:r>
                      <a:r>
                        <a:rPr lang="zh-CN" altLang="en-US" sz="1300" u="none" strike="noStrike" dirty="0">
                          <a:effectLst/>
                        </a:rPr>
                        <a:t>模式</a:t>
                      </a:r>
                      <a:endParaRPr lang="zh-CN" altLang="en-US" sz="1300" b="0" i="0" u="none" strike="noStrike" dirty="0">
                        <a:solidFill>
                          <a:srgbClr val="40485B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7613" marR="7613" marT="45676" marB="45676" anchor="b"/>
                </a:tc>
                <a:extLst>
                  <a:ext uri="{0D108BD9-81ED-4DB2-BD59-A6C34878D82A}">
                    <a16:rowId xmlns:a16="http://schemas.microsoft.com/office/drawing/2014/main" val="3939088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9497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78E90-3F24-7543-89E9-600ED3C75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重构的定义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1BDDC-AB08-5C4F-8301-9B753E5C0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重构（名词）：对软件内部结构的调整，目的是在不改变软件可观察行为的前提下，提高其理解性，降低其修改成本。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重构（动词）：使用一系列重构手法，在不改变软件可观察行为的前提下，调整其结构。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78285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9FCE8-5209-B64C-B9C4-0B37367F2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Why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72FCB-8520-5940-B220-351F8CF69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zh-CN" altLang="en-US" dirty="0"/>
              <a:t>代码结构逐渐流失 </a:t>
            </a:r>
            <a:r>
              <a:rPr lang="en-US" altLang="zh-CN" dirty="0"/>
              <a:t>-&gt;</a:t>
            </a:r>
            <a:r>
              <a:rPr lang="zh-CN" altLang="en-US" dirty="0"/>
              <a:t>改善设计</a:t>
            </a:r>
            <a:endParaRPr lang="en-US" altLang="zh-CN" dirty="0"/>
          </a:p>
          <a:p>
            <a:pPr lvl="0">
              <a:lnSpc>
                <a:spcPct val="100000"/>
              </a:lnSpc>
            </a:pPr>
            <a:r>
              <a:rPr lang="zh-CN" altLang="en-US" dirty="0"/>
              <a:t>可读性</a:t>
            </a:r>
            <a:endParaRPr lang="en-US" altLang="zh-CN" dirty="0"/>
          </a:p>
          <a:p>
            <a:pPr lvl="0">
              <a:lnSpc>
                <a:spcPct val="100000"/>
              </a:lnSpc>
            </a:pPr>
            <a:r>
              <a:rPr lang="zh-CN" altLang="en-US" dirty="0"/>
              <a:t>减少</a:t>
            </a:r>
            <a:r>
              <a:rPr lang="en-US" altLang="zh-CN" dirty="0"/>
              <a:t>bug</a:t>
            </a:r>
            <a:r>
              <a:rPr lang="zh-CN" altLang="en-US" dirty="0"/>
              <a:t>，帮助找到</a:t>
            </a:r>
            <a:r>
              <a:rPr lang="en-US" altLang="zh-CN" dirty="0"/>
              <a:t>bug</a:t>
            </a:r>
            <a:endParaRPr lang="en-CN" altLang="zh-CN" dirty="0"/>
          </a:p>
          <a:p>
            <a:pPr lvl="0">
              <a:lnSpc>
                <a:spcPct val="100000"/>
              </a:lnSpc>
            </a:pPr>
            <a:r>
              <a:rPr lang="zh-CN" altLang="en-US" dirty="0"/>
              <a:t>提高编程速度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2285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36BFF-B70F-4A43-9A7A-F1BD6E689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can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2ABFB-FAFA-354B-BB69-4DA29D3D2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altLang="zh-CN" dirty="0"/>
              <a:t>Add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Bug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复审代码</a:t>
            </a: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+</a:t>
            </a:r>
            <a:r>
              <a:rPr lang="zh-CN" altLang="en-US" dirty="0"/>
              <a:t> 时间足够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When read code</a:t>
            </a:r>
          </a:p>
          <a:p>
            <a:pPr>
              <a:lnSpc>
                <a:spcPct val="100000"/>
              </a:lnSpc>
            </a:pPr>
            <a:r>
              <a:rPr lang="en-US" dirty="0"/>
              <a:t>5s</a:t>
            </a:r>
          </a:p>
          <a:p>
            <a:pPr>
              <a:lnSpc>
                <a:spcPct val="100000"/>
              </a:lnSpc>
            </a:pPr>
            <a:r>
              <a:rPr lang="en-US" dirty="0" err="1"/>
              <a:t>还能用</a:t>
            </a:r>
            <a:r>
              <a:rPr lang="zh-CN" altLang="en-US" dirty="0"/>
              <a:t>、很难加功能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zh-CN" altLang="en-US" dirty="0"/>
              <a:t>这次就算了</a:t>
            </a:r>
            <a:r>
              <a:rPr lang="en-US" altLang="zh-CN" dirty="0"/>
              <a:t>/</a:t>
            </a:r>
            <a:r>
              <a:rPr lang="zh-CN" altLang="en-US" dirty="0"/>
              <a:t>下次重构吧</a:t>
            </a:r>
            <a:r>
              <a:rPr lang="en-US" altLang="zh-CN" dirty="0"/>
              <a:t>/</a:t>
            </a:r>
            <a:r>
              <a:rPr lang="zh-CN" altLang="en-US" dirty="0"/>
              <a:t> 专门找时间重构吧 </a:t>
            </a:r>
            <a:r>
              <a:rPr lang="en-US" altLang="zh-CN" dirty="0"/>
              <a:t>-&gt; </a:t>
            </a:r>
            <a:r>
              <a:rPr lang="zh-CN" altLang="en-US" dirty="0"/>
              <a:t>立刻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91254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5AABE-B962-B249-956A-193853D96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can not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0126A-56C2-7A4E-8FC0-18238FA64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>
              <a:solidFill>
                <a:srgbClr val="0070C0"/>
              </a:solidFill>
            </a:endParaRPr>
          </a:p>
          <a:p>
            <a:r>
              <a:rPr lang="zh-CN" altLang="en-US" dirty="0"/>
              <a:t>现有代码过于混乱</a:t>
            </a:r>
            <a:endParaRPr lang="en-US" altLang="zh-CN" dirty="0"/>
          </a:p>
          <a:p>
            <a:r>
              <a:rPr lang="en-US" altLang="zh-CN" dirty="0"/>
              <a:t>Not working</a:t>
            </a:r>
          </a:p>
          <a:p>
            <a:r>
              <a:rPr lang="en-US" altLang="zh-CN" dirty="0"/>
              <a:t>Deadline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554303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8CEAA-D56D-274E-AB8C-9AA921D9D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哪些迹象表明何时必须重构 </a:t>
            </a:r>
            <a:r>
              <a:rPr lang="en-US" altLang="zh-CN" b="1" dirty="0"/>
              <a:t>–</a:t>
            </a:r>
            <a:r>
              <a:rPr lang="zh-CN" altLang="en-US" b="1" dirty="0"/>
              <a:t> </a:t>
            </a:r>
            <a:r>
              <a:rPr lang="en-US" altLang="zh-CN" b="1" dirty="0"/>
              <a:t>12/22)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A0D54-5C98-4041-AFD2-F61EFEB66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Dupicated</a:t>
            </a:r>
            <a:r>
              <a:rPr lang="en-US" dirty="0"/>
              <a:t> Code(</a:t>
            </a:r>
            <a:r>
              <a:rPr lang="zh-CN" altLang="en-US" dirty="0"/>
              <a:t>重复代码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Long Method</a:t>
            </a:r>
            <a:r>
              <a:rPr lang="zh-CN" altLang="en-US" dirty="0"/>
              <a:t>（过长函数）</a:t>
            </a:r>
          </a:p>
          <a:p>
            <a:r>
              <a:rPr lang="en-US" altLang="zh-CN" dirty="0"/>
              <a:t>Large Class</a:t>
            </a:r>
            <a:r>
              <a:rPr lang="zh-CN" altLang="en-US" dirty="0"/>
              <a:t>（过大的类）</a:t>
            </a:r>
          </a:p>
          <a:p>
            <a:r>
              <a:rPr lang="en-US" altLang="zh-CN" dirty="0"/>
              <a:t>Long </a:t>
            </a:r>
            <a:r>
              <a:rPr lang="en-US" altLang="zh-CN" dirty="0" err="1"/>
              <a:t>Parmeter</a:t>
            </a:r>
            <a:r>
              <a:rPr lang="en-US" altLang="zh-CN" dirty="0"/>
              <a:t> List</a:t>
            </a:r>
            <a:r>
              <a:rPr lang="zh-CN" altLang="en-US" dirty="0"/>
              <a:t>（过长参数列）</a:t>
            </a:r>
          </a:p>
          <a:p>
            <a:r>
              <a:rPr lang="en-US" altLang="zh-CN" dirty="0"/>
              <a:t>Divergent Change</a:t>
            </a:r>
            <a:r>
              <a:rPr lang="zh-CN" altLang="en-US" dirty="0"/>
              <a:t>（发散式变化）：一个类受多种变化的影响</a:t>
            </a:r>
          </a:p>
          <a:p>
            <a:r>
              <a:rPr lang="en-US" altLang="zh-CN" dirty="0"/>
              <a:t>Shotgun Surgery</a:t>
            </a:r>
            <a:r>
              <a:rPr lang="zh-CN" altLang="en-US" dirty="0"/>
              <a:t>（霰弹式修改）：一种变化引发多个类相应修改</a:t>
            </a:r>
          </a:p>
          <a:p>
            <a:r>
              <a:rPr lang="en-US" altLang="zh-CN" dirty="0"/>
              <a:t>Feature Envy(</a:t>
            </a:r>
            <a:r>
              <a:rPr lang="zh-CN" altLang="en-US" dirty="0"/>
              <a:t>依恋情结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Data Clumps(</a:t>
            </a:r>
            <a:r>
              <a:rPr lang="zh-CN" altLang="en-US" dirty="0"/>
              <a:t>数据泥团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Primitive </a:t>
            </a:r>
            <a:r>
              <a:rPr lang="en-US" altLang="zh-CN" dirty="0" err="1"/>
              <a:t>Obssession</a:t>
            </a:r>
            <a:r>
              <a:rPr lang="zh-CN" altLang="en-US" dirty="0"/>
              <a:t>（基本类型偏执）</a:t>
            </a:r>
          </a:p>
          <a:p>
            <a:r>
              <a:rPr lang="en-US" altLang="zh-CN" dirty="0"/>
              <a:t>Switch Statements</a:t>
            </a:r>
            <a:r>
              <a:rPr lang="zh-CN" altLang="en-US" dirty="0"/>
              <a:t>（</a:t>
            </a:r>
            <a:r>
              <a:rPr lang="en-US" altLang="zh-CN" dirty="0"/>
              <a:t>Switch </a:t>
            </a:r>
            <a:r>
              <a:rPr lang="zh-CN" altLang="en-US" dirty="0"/>
              <a:t>惊悚现身）</a:t>
            </a:r>
          </a:p>
          <a:p>
            <a:r>
              <a:rPr lang="en-US" altLang="zh-CN" dirty="0">
                <a:hlinkClick r:id="rId2"/>
              </a:rPr>
              <a:t>Parallel Inheritance Hierarchies</a:t>
            </a:r>
            <a:r>
              <a:rPr lang="zh-CN" altLang="en-US" dirty="0">
                <a:hlinkClick r:id="rId2"/>
              </a:rPr>
              <a:t>（平行继承体系</a:t>
            </a:r>
            <a:r>
              <a:rPr lang="en-US" altLang="zh-CN" dirty="0">
                <a:hlinkClick r:id="rId2"/>
              </a:rPr>
              <a:t>)</a:t>
            </a:r>
            <a:endParaRPr lang="zh-CN" altLang="en-US" dirty="0"/>
          </a:p>
          <a:p>
            <a:r>
              <a:rPr lang="en-US" altLang="zh-CN" dirty="0"/>
              <a:t>Lazy Class</a:t>
            </a:r>
            <a:r>
              <a:rPr lang="zh-CN" altLang="en-US" dirty="0"/>
              <a:t>（冗赘类）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52360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FEFDC-EB2B-794A-959D-929CF1456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哪些迹象表明何时必须重构 </a:t>
            </a:r>
            <a:r>
              <a:rPr lang="en-US" altLang="zh-CN" b="1" dirty="0"/>
              <a:t>–</a:t>
            </a:r>
            <a:r>
              <a:rPr lang="zh-CN" altLang="en-US" b="1" dirty="0"/>
              <a:t> </a:t>
            </a:r>
            <a:r>
              <a:rPr lang="en-US" altLang="zh-CN" b="1" dirty="0"/>
              <a:t>22/22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BC6C5-0462-7344-9A14-EB80CF0A5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Speculative Generality（</a:t>
            </a:r>
            <a:r>
              <a:rPr lang="zh-CN" altLang="en-US" dirty="0"/>
              <a:t>夸夸其谈未来性）</a:t>
            </a:r>
          </a:p>
          <a:p>
            <a:r>
              <a:rPr lang="en-US" dirty="0">
                <a:highlight>
                  <a:srgbClr val="00FF00"/>
                </a:highlight>
              </a:rPr>
              <a:t>Temporary Field（</a:t>
            </a:r>
            <a:r>
              <a:rPr lang="zh-CN" altLang="en-US" dirty="0">
                <a:highlight>
                  <a:srgbClr val="00FF00"/>
                </a:highlight>
              </a:rPr>
              <a:t>令人迷惑的暂时字段）</a:t>
            </a:r>
          </a:p>
          <a:p>
            <a:r>
              <a:rPr lang="en-US" dirty="0"/>
              <a:t>Message Chains（</a:t>
            </a:r>
            <a:r>
              <a:rPr lang="zh-CN" altLang="en-US" dirty="0"/>
              <a:t>过度耦合的消息链）</a:t>
            </a:r>
          </a:p>
          <a:p>
            <a:r>
              <a:rPr lang="en-US" dirty="0"/>
              <a:t>Middle Man（</a:t>
            </a:r>
            <a:r>
              <a:rPr lang="zh-CN" altLang="en-US" dirty="0"/>
              <a:t>中间人）</a:t>
            </a:r>
            <a:endParaRPr lang="en-US" altLang="zh-CN" dirty="0"/>
          </a:p>
          <a:p>
            <a:r>
              <a:rPr lang="en-US" altLang="zh-CN" dirty="0"/>
              <a:t>Inappropriate Intimacy</a:t>
            </a:r>
            <a:r>
              <a:rPr lang="zh-CN" altLang="en-US" dirty="0"/>
              <a:t>（狎昵关系）</a:t>
            </a:r>
          </a:p>
          <a:p>
            <a:r>
              <a:rPr lang="en-US" altLang="zh-CN" dirty="0"/>
              <a:t>Alternate Classes with Different Interfaces</a:t>
            </a:r>
            <a:r>
              <a:rPr lang="zh-CN" altLang="en-US" dirty="0"/>
              <a:t>（异曲同工的类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Incomplete Library Class</a:t>
            </a:r>
            <a:r>
              <a:rPr lang="zh-CN" altLang="en-US" dirty="0"/>
              <a:t>（不完美的库类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Data Class</a:t>
            </a:r>
            <a:r>
              <a:rPr lang="zh-CN" altLang="en-US" dirty="0"/>
              <a:t>（纯雅的数据类）</a:t>
            </a:r>
          </a:p>
          <a:p>
            <a:r>
              <a:rPr lang="en-US" altLang="zh-CN" dirty="0"/>
              <a:t>Refused Bequest</a:t>
            </a:r>
            <a:r>
              <a:rPr lang="zh-CN" altLang="en-US" dirty="0"/>
              <a:t>（被拒绝的馈赠）</a:t>
            </a:r>
            <a:endParaRPr lang="en-US" altLang="zh-CN" dirty="0"/>
          </a:p>
          <a:p>
            <a:r>
              <a:rPr lang="en-US" altLang="zh-CN" dirty="0"/>
              <a:t>Comments</a:t>
            </a:r>
            <a:r>
              <a:rPr lang="zh-CN" altLang="en-US" dirty="0"/>
              <a:t>（过多的注释）</a:t>
            </a:r>
            <a:endParaRPr lang="en-US" altLang="zh-CN" dirty="0"/>
          </a:p>
          <a:p>
            <a:endParaRPr lang="zh-CN" altLang="en-US" dirty="0"/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010781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C53F3-43F6-5543-813C-6910213D3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重构与性能</a:t>
            </a:r>
            <a:br>
              <a:rPr lang="zh-CN" altLang="en-US" dirty="0"/>
            </a:b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488FD-8310-8D46-9217-B98FA6C52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70000"/>
              </a:lnSpc>
              <a:buNone/>
            </a:pP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CN" dirty="0">
                <a:solidFill>
                  <a:prstClr val="black"/>
                </a:solidFill>
              </a:rPr>
              <a:t>多数重构提高性能</a:t>
            </a:r>
            <a:r>
              <a:rPr lang="zh-CN" altLang="en-US" dirty="0">
                <a:solidFill>
                  <a:prstClr val="black"/>
                </a:solidFill>
              </a:rPr>
              <a:t>，少数反而降低性能</a:t>
            </a:r>
            <a:endParaRPr lang="en-US" altLang="zh-CN" dirty="0">
              <a:solidFill>
                <a:prstClr val="black"/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dirty="0">
                <a:solidFill>
                  <a:prstClr val="black"/>
                </a:solidFill>
              </a:rPr>
              <a:t>重构能使得性能提高更容易</a:t>
            </a:r>
            <a:endParaRPr lang="en-CN" dirty="0">
              <a:solidFill>
                <a:prstClr val="black"/>
              </a:solidFill>
            </a:endParaRPr>
          </a:p>
          <a:p>
            <a:pPr>
              <a:lnSpc>
                <a:spcPct val="100000"/>
              </a:lnSpc>
            </a:pPr>
            <a:r>
              <a:rPr lang="en-CN" dirty="0">
                <a:solidFill>
                  <a:prstClr val="black"/>
                </a:solidFill>
              </a:rPr>
              <a:t>二八原则</a:t>
            </a:r>
          </a:p>
          <a:p>
            <a:pPr>
              <a:lnSpc>
                <a:spcPct val="100000"/>
              </a:lnSpc>
            </a:pPr>
            <a:r>
              <a:rPr lang="zh-CN" altLang="en-US" dirty="0">
                <a:solidFill>
                  <a:prstClr val="black"/>
                </a:solidFill>
              </a:rPr>
              <a:t>集中测试</a:t>
            </a:r>
            <a:endParaRPr lang="en-US" altLang="zh-CN" dirty="0">
              <a:solidFill>
                <a:prstClr val="black"/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CN" dirty="0">
                <a:solidFill>
                  <a:prstClr val="black"/>
                </a:solidFill>
              </a:rPr>
              <a:t>测量</a:t>
            </a:r>
            <a:r>
              <a:rPr lang="zh-CN" altLang="en-US" dirty="0">
                <a:solidFill>
                  <a:prstClr val="black"/>
                </a:solidFill>
              </a:rPr>
              <a:t>工具</a:t>
            </a:r>
            <a:endParaRPr lang="en-US" altLang="zh-CN" dirty="0">
              <a:solidFill>
                <a:prstClr val="black"/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dirty="0">
                <a:solidFill>
                  <a:prstClr val="black"/>
                </a:solidFill>
              </a:rPr>
              <a:t>小幅度修改。每走一步，都需要编译、测试、再次度量。如果没有提高性能，应该撤销此次修改</a:t>
            </a:r>
            <a:endParaRPr lang="en-US" altLang="zh-CN" dirty="0">
              <a:solidFill>
                <a:prstClr val="black"/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dirty="0">
                <a:solidFill>
                  <a:prstClr val="black"/>
                </a:solidFill>
              </a:rPr>
              <a:t>持续提高</a:t>
            </a:r>
            <a:endParaRPr lang="en-US" altLang="zh-C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578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F1D7C-6BE7-7B40-9C87-94689DE3B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重构准备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6854F-C029-014C-A678-115DAF583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 lang="zh-CN" altLang="en-US" dirty="0"/>
          </a:p>
          <a:p>
            <a:r>
              <a:rPr lang="zh-CN" altLang="en-US" dirty="0"/>
              <a:t>重构之前，先有测试代码：自检能力 </a:t>
            </a:r>
            <a:r>
              <a:rPr lang="en-US" altLang="zh-CN" dirty="0"/>
              <a:t>/ </a:t>
            </a:r>
            <a:r>
              <a:rPr lang="zh-CN" altLang="en-US" dirty="0"/>
              <a:t>自测试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✔ 单元测试 </a:t>
            </a:r>
            <a:r>
              <a:rPr lang="en-US" altLang="zh-CN" dirty="0"/>
              <a:t>: </a:t>
            </a:r>
            <a:r>
              <a:rPr lang="en-US" dirty="0"/>
              <a:t>Junit ; </a:t>
            </a:r>
            <a:r>
              <a:rPr lang="zh-CN" altLang="en-US" dirty="0"/>
              <a:t>捕捉失败</a:t>
            </a:r>
            <a:r>
              <a:rPr lang="en-US" altLang="zh-CN" dirty="0"/>
              <a:t>(</a:t>
            </a:r>
            <a:r>
              <a:rPr lang="en-US" dirty="0"/>
              <a:t>false)/ </a:t>
            </a:r>
            <a:r>
              <a:rPr lang="zh-CN" altLang="en-US" dirty="0"/>
              <a:t>异常</a:t>
            </a:r>
            <a:r>
              <a:rPr lang="en-US" altLang="zh-CN" dirty="0"/>
              <a:t>(</a:t>
            </a:r>
            <a:r>
              <a:rPr lang="en-US" dirty="0"/>
              <a:t>exception)</a:t>
            </a:r>
          </a:p>
          <a:p>
            <a:pPr marL="0" indent="0">
              <a:buNone/>
            </a:pPr>
            <a:r>
              <a:rPr lang="en-US" dirty="0"/>
              <a:t>	✗ </a:t>
            </a:r>
            <a:r>
              <a:rPr lang="zh-CN" altLang="en-US" dirty="0"/>
              <a:t>功能测试：质量</a:t>
            </a:r>
          </a:p>
          <a:p>
            <a:pPr marL="0" indent="0">
              <a:buNone/>
            </a:pPr>
            <a:r>
              <a:rPr lang="en-US" dirty="0"/>
              <a:t>	Not all public </a:t>
            </a:r>
            <a:r>
              <a:rPr lang="zh-CN" altLang="en-US" dirty="0"/>
              <a:t>函数 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 边界条件 </a:t>
            </a:r>
            <a:r>
              <a:rPr lang="en-US" altLang="zh-CN" dirty="0"/>
              <a:t>/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最容易出错</a:t>
            </a:r>
            <a:r>
              <a:rPr lang="en-US" altLang="zh-CN" dirty="0"/>
              <a:t>/ </a:t>
            </a:r>
            <a:r>
              <a:rPr lang="zh-CN" altLang="en-US" dirty="0"/>
              <a:t>最常见</a:t>
            </a:r>
            <a:r>
              <a:rPr lang="en-US" altLang="zh-CN" dirty="0"/>
              <a:t>/</a:t>
            </a:r>
            <a:r>
              <a:rPr lang="zh-CN" altLang="en-US" dirty="0"/>
              <a:t>常见情况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如果没有</a:t>
            </a:r>
            <a:r>
              <a:rPr lang="en-US" dirty="0"/>
              <a:t>Unit Test，</a:t>
            </a:r>
            <a:r>
              <a:rPr lang="zh-CN" altLang="en-US" dirty="0"/>
              <a:t>用测试用例</a:t>
            </a:r>
            <a:r>
              <a:rPr lang="en-US" altLang="zh-CN" dirty="0"/>
              <a:t>+</a:t>
            </a:r>
            <a:r>
              <a:rPr lang="zh-CN" altLang="en-US" dirty="0"/>
              <a:t>应用场景：</a:t>
            </a:r>
            <a:r>
              <a:rPr lang="en-US" dirty="0"/>
              <a:t>all case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r>
              <a:rPr lang="en-US" dirty="0"/>
              <a:t>Diff tool</a:t>
            </a:r>
          </a:p>
          <a:p>
            <a:pPr marL="0" indent="0">
              <a:buNone/>
            </a:pPr>
            <a:r>
              <a:rPr lang="en-US" dirty="0"/>
              <a:t>	Beyond Compare, IDE</a:t>
            </a:r>
          </a:p>
          <a:p>
            <a:r>
              <a:rPr lang="en-US" dirty="0"/>
              <a:t>Branch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refactor_current</a:t>
            </a:r>
            <a:r>
              <a:rPr lang="en-US" dirty="0"/>
              <a:t> / </a:t>
            </a:r>
            <a:r>
              <a:rPr lang="en-US" dirty="0" err="1"/>
              <a:t>refactor_master</a:t>
            </a:r>
            <a:r>
              <a:rPr lang="en-US" dirty="0"/>
              <a:t> / feature</a:t>
            </a:r>
          </a:p>
          <a:p>
            <a:endParaRPr lang="en-US" dirty="0"/>
          </a:p>
          <a:p>
            <a:endParaRPr lang="en-US" dirty="0"/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759513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2C904-145F-1745-A9C5-A07EFCBDD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重构时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77437-25A1-554A-8656-E7825C0C6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两顶帽子：添加新功能（修改），以及重构</a:t>
            </a:r>
          </a:p>
          <a:p>
            <a:pPr marL="0" indent="0">
              <a:buNone/>
            </a:pPr>
            <a:r>
              <a:rPr lang="zh-CN" altLang="en-US" dirty="0"/>
              <a:t>软件开发过程中，经常变化帽子，但无论何时只能戴有一顶帽子。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r>
              <a:rPr lang="zh-CN" altLang="en-US" dirty="0"/>
              <a:t>小步前进、频繁测试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827538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270D7-9825-D14B-898C-841509BD4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in  refactoring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DED41-D96A-8E44-8967-AB5C7C6A6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/>
          </a:p>
          <a:p>
            <a:r>
              <a:rPr lang="zh-CN" altLang="en-US" dirty="0"/>
              <a:t>数据库</a:t>
            </a:r>
          </a:p>
          <a:p>
            <a:r>
              <a:rPr lang="zh-CN" altLang="en-US" dirty="0"/>
              <a:t>接口 </a:t>
            </a:r>
            <a:r>
              <a:rPr lang="en-US" altLang="zh-CN" dirty="0"/>
              <a:t>: </a:t>
            </a:r>
            <a:r>
              <a:rPr lang="en-US" dirty="0"/>
              <a:t>public / </a:t>
            </a:r>
            <a:r>
              <a:rPr lang="en-US" dirty="0" err="1"/>
              <a:t>pushlished</a:t>
            </a:r>
            <a:r>
              <a:rPr lang="en-US" dirty="0"/>
              <a:t> interface</a:t>
            </a:r>
          </a:p>
          <a:p>
            <a:r>
              <a:rPr lang="zh-CN" altLang="en-US" dirty="0"/>
              <a:t>难以通过重构手法完成的设计改动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本书中重构手法的前提：“单进程软件”，并不适合并发和分布式程序设计。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 </a:t>
            </a:r>
            <a:r>
              <a:rPr lang="zh-CN" altLang="en-US" dirty="0">
                <a:solidFill>
                  <a:srgbClr val="FF0000"/>
                </a:solidFill>
              </a:rPr>
              <a:t>并发和分布式程序设计，有着完全不同的重构技术。</a:t>
            </a:r>
          </a:p>
          <a:p>
            <a:endParaRPr lang="zh-CN" altLang="en-US" dirty="0"/>
          </a:p>
          <a:p>
            <a:r>
              <a:rPr lang="zh-CN" altLang="en-US" dirty="0"/>
              <a:t>寻找引用点</a:t>
            </a:r>
          </a:p>
          <a:p>
            <a:pPr marL="0" indent="0">
              <a:buNone/>
            </a:pPr>
            <a:r>
              <a:rPr lang="en-US" altLang="zh-CN" dirty="0"/>
              <a:t>  </a:t>
            </a:r>
            <a:r>
              <a:rPr lang="zh-CN" altLang="en-US" dirty="0"/>
              <a:t>替换 ： 手动 </a:t>
            </a:r>
            <a:r>
              <a:rPr lang="en-US" altLang="zh-CN" dirty="0"/>
              <a:t>/ </a:t>
            </a:r>
            <a:r>
              <a:rPr lang="en-US" dirty="0"/>
              <a:t>Diff tool </a:t>
            </a:r>
          </a:p>
          <a:p>
            <a:pPr marL="0" indent="0">
              <a:buNone/>
            </a:pPr>
            <a:r>
              <a:rPr lang="en-US" altLang="zh-CN" dirty="0"/>
              <a:t>  </a:t>
            </a:r>
            <a:r>
              <a:rPr lang="zh-CN" altLang="en-US" dirty="0"/>
              <a:t>查找 ： 反射</a:t>
            </a:r>
          </a:p>
          <a:p>
            <a:endParaRPr lang="zh-CN" altLang="en-US" dirty="0"/>
          </a:p>
          <a:p>
            <a:endParaRPr lang="zh-CN" altLang="en-US" dirty="0"/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627292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A4548-CA9B-4245-A98D-8C8CAA7A2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CN" dirty="0"/>
              <a:t>QA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3604C-DB0C-504C-8E80-857E7A949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dirty="0"/>
              <a:t>平时开发中需要如何设计代码结构，做到以后尽量少或者小的重构？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不能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架构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r>
              <a:rPr lang="zh-CN" altLang="en-US" sz="2000" dirty="0"/>
              <a:t>重构 在</a:t>
            </a:r>
            <a:r>
              <a:rPr lang="en-US" altLang="zh-CN" sz="2000" dirty="0"/>
              <a:t>JS</a:t>
            </a:r>
            <a:r>
              <a:rPr lang="zh-CN" altLang="en-US" sz="2000" dirty="0"/>
              <a:t> 中能用吗？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任何语言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</a:t>
            </a:r>
            <a:endParaRPr lang="en-US" altLang="zh-CN" sz="2000" dirty="0"/>
          </a:p>
          <a:p>
            <a:r>
              <a:rPr lang="zh-CN" altLang="en-US" sz="2000" dirty="0"/>
              <a:t>项目架构非常</a:t>
            </a:r>
            <a:r>
              <a:rPr lang="en-US" altLang="zh-CN" sz="2000" dirty="0"/>
              <a:t>common</a:t>
            </a:r>
            <a:r>
              <a:rPr lang="zh-CN" altLang="en-US" sz="2000" dirty="0"/>
              <a:t>，不能一下子改完，该如何着手重构？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重构架构是超大范围的重构，即使使用重构手法也不能一下子改完。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逐个替换</a:t>
            </a:r>
            <a:r>
              <a:rPr lang="en-US" altLang="zh-CN" sz="2000" dirty="0"/>
              <a:t>+</a:t>
            </a:r>
            <a:r>
              <a:rPr lang="zh-CN" altLang="en-US" sz="2000" dirty="0"/>
              <a:t>测试用例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用重构按小步调和布局范围改善代码，使得代码清晰，能帮助找到更好的架构。</a:t>
            </a:r>
            <a:endParaRPr lang="en-CN" sz="2000" dirty="0"/>
          </a:p>
        </p:txBody>
      </p:sp>
    </p:spTree>
    <p:extLst>
      <p:ext uri="{BB962C8B-B14F-4D97-AF65-F5344CB8AC3E}">
        <p14:creationId xmlns:p14="http://schemas.microsoft.com/office/powerpoint/2010/main" val="5293105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51E48-0CAE-E940-98C2-89A578546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effectLst/>
              </a:rPr>
              <a:t>重构手法 </a:t>
            </a:r>
            <a:r>
              <a:rPr lang="en-US" altLang="zh-CN" b="1" dirty="0">
                <a:effectLst/>
              </a:rPr>
              <a:t>–</a:t>
            </a:r>
            <a:r>
              <a:rPr lang="zh-CN" altLang="en-US" b="1" dirty="0">
                <a:effectLst/>
              </a:rPr>
              <a:t> </a:t>
            </a:r>
            <a:r>
              <a:rPr lang="en-US" altLang="zh-CN" b="1" dirty="0">
                <a:effectLst/>
              </a:rPr>
              <a:t>C6 </a:t>
            </a:r>
            <a:r>
              <a:rPr lang="zh-CN" altLang="en-US" b="1" dirty="0"/>
              <a:t>重新组织函数</a:t>
            </a:r>
            <a:endParaRPr lang="zh-CN" altLang="en-US" b="1" dirty="0">
              <a:effectLst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942D3C2-543F-1942-9709-825BBAE9B5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1618635"/>
              </p:ext>
            </p:extLst>
          </p:nvPr>
        </p:nvGraphicFramePr>
        <p:xfrm>
          <a:off x="838200" y="1825625"/>
          <a:ext cx="105156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943">
                  <a:extLst>
                    <a:ext uri="{9D8B030D-6E8A-4147-A177-3AD203B41FA5}">
                      <a16:colId xmlns:a16="http://schemas.microsoft.com/office/drawing/2014/main" val="745997973"/>
                    </a:ext>
                  </a:extLst>
                </a:gridCol>
                <a:gridCol w="6433457">
                  <a:extLst>
                    <a:ext uri="{9D8B030D-6E8A-4147-A177-3AD203B41FA5}">
                      <a16:colId xmlns:a16="http://schemas.microsoft.com/office/drawing/2014/main" val="264725038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4557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C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b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b="1" dirty="0"/>
                        <a:t>Desc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473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Extract Method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110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提炼函数</a:t>
                      </a:r>
                      <a:endParaRPr lang="en-C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465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Inline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内联函数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52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Inline 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内联临时变量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740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Replace Temp with Query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以查询取代临时变量</a:t>
                      </a:r>
                      <a:endParaRPr lang="en-US" altLang="zh-C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658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Introduce Explain Variable（124）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引入解释性变量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005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Split Temporary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分解临时变量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965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Remove Assignments to 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移除对参数的赋值动作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8258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Replace Method with Method 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以函数对象取代函数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112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Substitute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替换算法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495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1605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DA73D-AA5F-EB49-9F92-A8D27E4B6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重构手法 </a:t>
            </a:r>
            <a:r>
              <a:rPr lang="en-US" altLang="zh-CN" b="1" dirty="0"/>
              <a:t>–</a:t>
            </a:r>
            <a:r>
              <a:rPr lang="zh-CN" altLang="en-US" b="1" dirty="0"/>
              <a:t> </a:t>
            </a:r>
            <a:r>
              <a:rPr lang="en-US" altLang="zh-CN" b="1" dirty="0"/>
              <a:t>C7 </a:t>
            </a:r>
            <a:r>
              <a:rPr lang="zh-CN" altLang="en-US" b="1" dirty="0"/>
              <a:t>在对象之间搬移特性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B49EEE-DB8D-7C4D-A7F4-BC05235C2F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9869343"/>
              </p:ext>
            </p:extLst>
          </p:nvPr>
        </p:nvGraphicFramePr>
        <p:xfrm>
          <a:off x="838200" y="1825625"/>
          <a:ext cx="105156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538">
                  <a:extLst>
                    <a:ext uri="{9D8B030D-6E8A-4147-A177-3AD203B41FA5}">
                      <a16:colId xmlns:a16="http://schemas.microsoft.com/office/drawing/2014/main" val="1687716590"/>
                    </a:ext>
                  </a:extLst>
                </a:gridCol>
                <a:gridCol w="6581862">
                  <a:extLst>
                    <a:ext uri="{9D8B030D-6E8A-4147-A177-3AD203B41FA5}">
                      <a16:colId xmlns:a16="http://schemas.microsoft.com/office/drawing/2014/main" val="118990350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920559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Desc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617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Move Method (142)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搬移函数</a:t>
                      </a:r>
                      <a:endParaRPr lang="en-US" altLang="zh-C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861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Move Field (146)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搬移字段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323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Extact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Class(149)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提炼类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874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Inline Class Class(149)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提炼类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1429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Hide Delegate(159)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隐藏“委托关系”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0769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1351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910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800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2342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6832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</TotalTime>
  <Words>1166</Words>
  <Application>Microsoft Macintosh PowerPoint</Application>
  <PresentationFormat>Widescreen</PresentationFormat>
  <Paragraphs>198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Helvetica</vt:lpstr>
      <vt:lpstr>Office Theme</vt:lpstr>
      <vt:lpstr>Refactoring </vt:lpstr>
      <vt:lpstr>How to use this book</vt:lpstr>
      <vt:lpstr>约定</vt:lpstr>
      <vt:lpstr>QA</vt:lpstr>
      <vt:lpstr>Read Example togeter</vt:lpstr>
      <vt:lpstr>重构的定义</vt:lpstr>
      <vt:lpstr>Why</vt:lpstr>
      <vt:lpstr>When can</vt:lpstr>
      <vt:lpstr>When can not</vt:lpstr>
      <vt:lpstr>哪些迹象表明何时必须重构 – 12/22)</vt:lpstr>
      <vt:lpstr>哪些迹象表明何时必须重构 – 22/22</vt:lpstr>
      <vt:lpstr>重构与性能 </vt:lpstr>
      <vt:lpstr>重构准备</vt:lpstr>
      <vt:lpstr>重构时</vt:lpstr>
      <vt:lpstr>Problem in  refactoring</vt:lpstr>
      <vt:lpstr>+ QA</vt:lpstr>
      <vt:lpstr>重构手法 – C6 重新组织函数</vt:lpstr>
      <vt:lpstr>重构手法 – C7 在对象之间搬移特性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Refactoring </dc:title>
  <dc:creator>kf</dc:creator>
  <cp:lastModifiedBy>kf</cp:lastModifiedBy>
  <cp:revision>148</cp:revision>
  <dcterms:created xsi:type="dcterms:W3CDTF">2020-07-29T06:29:03Z</dcterms:created>
  <dcterms:modified xsi:type="dcterms:W3CDTF">2020-07-30T07:55:13Z</dcterms:modified>
</cp:coreProperties>
</file>