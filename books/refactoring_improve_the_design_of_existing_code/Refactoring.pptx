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4" r:id="rId6"/>
    <p:sldId id="263" r:id="rId7"/>
    <p:sldId id="261" r:id="rId8"/>
    <p:sldId id="259" r:id="rId9"/>
    <p:sldId id="265" r:id="rId10"/>
    <p:sldId id="260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383F5-6C25-4144-BB9C-7D6DC74B2771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7713-C50F-0A49-B6B5-BF3553DE71B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38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写unit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暴漏</a:t>
            </a:r>
            <a:r>
              <a:rPr lang="en-US" altLang="zh-CN" dirty="0"/>
              <a:t>bug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7713-C50F-0A49-B6B5-BF3553DE71B6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533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写unit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暴漏</a:t>
            </a:r>
            <a:r>
              <a:rPr lang="en-US" altLang="zh-CN" dirty="0"/>
              <a:t>bug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7713-C50F-0A49-B6B5-BF3553DE71B6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432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33C0-A38E-D84F-A756-631AD78F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37F2E-375E-0342-A57F-1E26AB734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7580-7641-D543-8107-3CBF36EA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EB274-E2A7-BC45-93C7-BDA9360C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A3E1-B41A-844B-B82D-7B2F9381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268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9787-0D03-2645-9639-DD6F129E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A130-6E4C-2148-9A8D-B55194B8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4B7F-13FA-5F44-AC32-1BAAE84D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7DBF-E5A8-8D4B-90F0-DB1EC1F2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F358-304D-BF4F-BFC5-F602D355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553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00C3-C97B-6745-AE6D-75668804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4EC2-AC21-C14E-AFB9-05206E1A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D63D5-B6DD-7D4C-937A-A57CA8C9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78C9-DF9C-8E42-A982-8743645F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D1AD2-F776-C249-8F4E-457B9776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616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5ACA-07D4-DE4A-8B26-A5B91EA8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2D45-57E2-6542-8F32-20EAA8077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3CB33-9F96-2D48-A777-3568BC4A9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55AD6-6C2B-0841-A15D-A66D2777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7254C-ED60-D349-BB57-B6A02F71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89CAE-45E8-C044-9F3A-80D4301E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978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A67F-387F-FA45-B620-DA35D167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36AC8-6AC8-D746-A45C-6294E8FED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C3628-BA27-1E4D-AED8-A40C9F5CD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9AD60-D6FE-7A40-A1C7-13DE375CB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3B5B9-A03C-5D4A-8331-1B354E3E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2426-4DAA-CF45-9528-F1B9A202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AB5FF-09B8-DE41-940F-270B1029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6D13F-700B-4E4A-95B4-103622EA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76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DD39-03ED-434D-B85B-0C6D5242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D734-7165-564A-B72D-CCC009FB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29CF7-6EA2-FA46-8177-E3019100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EF33E-3ACD-DE49-8E2C-657AE43A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78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5C67-F307-1C47-9353-E055E1A1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1D758-E9C7-C54D-9227-87A17102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7ED29-822D-7648-9850-0C83C386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556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AB41-4A4E-354B-BC08-E3074B04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2793-34B2-5B4A-A00F-C46EBED33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97A21-5BF3-2B46-A0E6-9D6756F1F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BAB7A-57CE-E740-A61A-2B9D9C98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DC29-4064-4442-9836-9AFFF3BF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14248-D9E1-B144-A415-ABF57BE8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525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918D-084A-0B4D-AB4F-04E084A4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9FDD8-B03D-4A42-B1F8-EC932341B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65CAD-B047-4B43-A733-D7B971679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89950-81D0-2143-82BA-66A18ADD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5CB3-CB2B-3841-A44F-92265CC9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4EEEC-AEE2-2F41-B8EE-EAE632EE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693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86E2-B094-E44F-943B-31C45897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459E5-8873-C44B-8027-8DE1BA05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24DB-C877-BA45-80F5-99A42CE1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8BD5-AB73-1945-BB46-6D594C59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59E6-11D6-5B4C-BB6C-AC8A8D87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6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50848-5555-1446-A961-13FAB2EFE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903C5-97A4-7547-9727-148106E67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98F1-3F27-804E-A482-34999685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93C1-9613-5046-B65F-5F05A2DC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D075-898A-FA4E-BAA8-A1C8B7D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462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C023C-A709-6C4E-BA26-83FFA4BA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06CE1-CD8F-D848-9B8A-F82751D3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B01A-71D4-8142-8B4F-55B6172F0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1EC24-67D7-F647-A9BD-542708036C5D}" type="datetimeFigureOut">
              <a:rPr lang="en-CN" smtClean="0"/>
              <a:t>2020/7/29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1908-F454-3C47-A952-01BCCB620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04C9-6219-524C-A628-9E570D40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595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9796-662F-284C-96D6-D6D5468CF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Refactoring</a:t>
            </a:r>
            <a:br>
              <a:rPr lang="en-US" dirty="0"/>
            </a:b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9CD77-DD5E-B44C-8C2D-EE92A0D900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 the design of existing code</a:t>
            </a:r>
            <a:endParaRPr lang="en-US" dirty="0"/>
          </a:p>
          <a:p>
            <a:r>
              <a:rPr lang="en-US" b="1" dirty="0"/>
              <a:t>Martin  Flower</a:t>
            </a:r>
            <a:endParaRPr lang="en-US" dirty="0"/>
          </a:p>
          <a:p>
            <a:endParaRPr lang="en-CN" dirty="0"/>
          </a:p>
          <a:p>
            <a:r>
              <a:rPr lang="en-US" sz="1200" dirty="0"/>
              <a:t>Vicky, 2020/7/30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73818-D72B-0D49-86B3-EE0981C8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1122363"/>
            <a:ext cx="2019300" cy="2647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B7224-8D4D-7A45-BC29-046C475D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81" y="1122363"/>
            <a:ext cx="2056637" cy="2786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2E119-DC5B-884A-9DA9-7545A9EE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21" y="4638387"/>
            <a:ext cx="1564821" cy="19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9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C12F-99C1-554D-8F06-72B743AB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use this book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5E23-173C-C147-90BE-128F6023C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first, then read summary</a:t>
            </a:r>
          </a:p>
          <a:p>
            <a:r>
              <a:rPr lang="en-US" dirty="0"/>
              <a:t>Search the project code, the practice refactoring</a:t>
            </a:r>
          </a:p>
        </p:txBody>
      </p:sp>
    </p:spTree>
    <p:extLst>
      <p:ext uri="{BB962C8B-B14F-4D97-AF65-F5344CB8AC3E}">
        <p14:creationId xmlns:p14="http://schemas.microsoft.com/office/powerpoint/2010/main" val="20637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850F-CF42-6543-AAE5-AFAEAB8C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7BC8-91B4-6447-8783-56ADEC9E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  </a:t>
            </a:r>
            <a:r>
              <a:rPr lang="en-US" altLang="zh-CN" dirty="0"/>
              <a:t>&lt;= 1000 </a:t>
            </a:r>
            <a:r>
              <a:rPr lang="zh-CN" altLang="en-US" dirty="0"/>
              <a:t>行</a:t>
            </a:r>
          </a:p>
          <a:p>
            <a:r>
              <a:rPr lang="zh-CN" altLang="en-US" dirty="0"/>
              <a:t>函数  </a:t>
            </a:r>
            <a:r>
              <a:rPr lang="en-US" altLang="zh-CN" dirty="0"/>
              <a:t>&lt;= 50</a:t>
            </a:r>
            <a:r>
              <a:rPr lang="zh-CN" altLang="en-US" dirty="0"/>
              <a:t>行</a:t>
            </a:r>
            <a:r>
              <a:rPr lang="en-US" altLang="zh-CN" dirty="0"/>
              <a:t>, </a:t>
            </a:r>
            <a:r>
              <a:rPr lang="zh-CN" altLang="en-US" dirty="0"/>
              <a:t>最长</a:t>
            </a:r>
            <a:r>
              <a:rPr lang="en-US" altLang="zh-CN" dirty="0"/>
              <a:t>100</a:t>
            </a:r>
            <a:r>
              <a:rPr lang="zh-CN" altLang="en-US" dirty="0"/>
              <a:t>行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7785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234-D0A9-5A41-83F7-C576F472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8D41-78F7-FD42-A3E9-A7DFA22A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>
                <a:solidFill>
                  <a:srgbClr val="FF0000"/>
                </a:solidFill>
                <a:effectLst/>
              </a:rPr>
              <a:t>1. 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为什么需要重构？</a:t>
            </a:r>
            <a:endParaRPr lang="en-US" altLang="zh-CN" sz="1600" dirty="0">
              <a:solidFill>
                <a:srgbClr val="FF0000"/>
              </a:solidFill>
              <a:effectLst/>
            </a:endParaRPr>
          </a:p>
          <a:p>
            <a:r>
              <a:rPr lang="en-US" altLang="zh-CN" sz="1600" dirty="0">
                <a:solidFill>
                  <a:srgbClr val="FF0000"/>
                </a:solidFill>
                <a:effectLst/>
              </a:rPr>
              <a:t>2.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什么时候需要重构？</a:t>
            </a:r>
            <a:endParaRPr lang="en-US" altLang="zh-CN" sz="1600" dirty="0">
              <a:solidFill>
                <a:srgbClr val="FF0000"/>
              </a:solidFill>
              <a:effectLst/>
            </a:endParaRPr>
          </a:p>
          <a:p>
            <a:r>
              <a:rPr lang="en-US" altLang="zh-CN" sz="1600" dirty="0">
                <a:solidFill>
                  <a:srgbClr val="FF0000"/>
                </a:solidFill>
                <a:effectLst/>
              </a:rPr>
              <a:t>3.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重构有哪</a:t>
            </a:r>
            <a:r>
              <a:rPr lang="en-US" altLang="zh-CN" sz="1600" dirty="0">
                <a:solidFill>
                  <a:srgbClr val="FF0000"/>
                </a:solidFill>
                <a:effectLst/>
              </a:rPr>
              <a:t>4.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如何检测重构以后是否引入新的</a:t>
            </a:r>
            <a:r>
              <a:rPr lang="en-US" sz="1600" dirty="0">
                <a:solidFill>
                  <a:srgbClr val="FF0000"/>
                </a:solidFill>
                <a:effectLst/>
              </a:rPr>
              <a:t>bug？ </a:t>
            </a:r>
          </a:p>
          <a:p>
            <a:r>
              <a:rPr lang="zh-CN" altLang="en-US" sz="1600" dirty="0">
                <a:solidFill>
                  <a:srgbClr val="FF0000"/>
                </a:solidFill>
                <a:effectLst/>
              </a:rPr>
              <a:t>些方法？</a:t>
            </a:r>
            <a:endParaRPr lang="en-US" altLang="zh-CN" sz="1600" dirty="0">
              <a:solidFill>
                <a:srgbClr val="FF0000"/>
              </a:solidFill>
              <a:effectLst/>
            </a:endParaRPr>
          </a:p>
          <a:p>
            <a:r>
              <a:rPr lang="en-US" sz="1600" dirty="0">
                <a:solidFill>
                  <a:srgbClr val="FF0000"/>
                </a:solidFill>
                <a:effectLst/>
              </a:rPr>
              <a:t>5.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平时开发中需要如何设计代码结构，做到以后尽量少或者小的重构？</a:t>
            </a:r>
            <a:endParaRPr lang="en-US" altLang="zh-CN" sz="1600" dirty="0">
              <a:solidFill>
                <a:srgbClr val="FF0000"/>
              </a:solidFill>
              <a:effectLst/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+</a:t>
            </a:r>
          </a:p>
          <a:p>
            <a:r>
              <a:rPr lang="en-US" altLang="zh-CN" sz="1600" dirty="0">
                <a:solidFill>
                  <a:srgbClr val="FF0000"/>
                </a:solidFill>
                <a:effectLst/>
              </a:rPr>
              <a:t>6.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 重构 在</a:t>
            </a:r>
            <a:r>
              <a:rPr lang="en-US" altLang="zh-CN" sz="1600" dirty="0">
                <a:solidFill>
                  <a:srgbClr val="FF0000"/>
                </a:solidFill>
              </a:rPr>
              <a:t>JS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中能用吗？</a:t>
            </a:r>
            <a:endParaRPr lang="en-US" altLang="zh-CN" sz="1600" dirty="0">
              <a:solidFill>
                <a:srgbClr val="FF0000"/>
              </a:solidFill>
              <a:effectLst/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7.</a:t>
            </a:r>
            <a:r>
              <a:rPr lang="zh-CN" altLang="en-US" sz="1600" dirty="0">
                <a:solidFill>
                  <a:srgbClr val="FF0000"/>
                </a:solidFill>
              </a:rPr>
              <a:t>  项目架构非常</a:t>
            </a:r>
            <a:r>
              <a:rPr lang="en-US" altLang="zh-CN" sz="1600" dirty="0">
                <a:solidFill>
                  <a:srgbClr val="FF0000"/>
                </a:solidFill>
              </a:rPr>
              <a:t>common</a:t>
            </a:r>
            <a:r>
              <a:rPr lang="zh-CN" altLang="en-US" sz="1600" dirty="0">
                <a:solidFill>
                  <a:srgbClr val="FF0000"/>
                </a:solidFill>
              </a:rPr>
              <a:t>，不能一下子改完，该如何着手重构？</a:t>
            </a:r>
            <a:endParaRPr lang="zh-CN" altLang="en-US" sz="16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346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926D-5D3D-964A-858A-4CE5C039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N" dirty="0"/>
              <a:t>Read Example togeter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7768A-7D6A-804D-80E1-51F3C5589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852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8E90-3F24-7543-89E9-600ED3C7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重构的定义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BDDC-AB08-5C4F-8301-9B753E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重构（名词）：对软件内部结构的调整，目的是在不改变软件可观察行为的前提下，提高其理解性，降低其修改成本。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重构（动词）：使用一系列重构手法，在不改变软件可观察行为的前提下，调整其结构。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82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7551-37B6-B64E-94F3-D19949556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086"/>
            <a:ext cx="5076825" cy="6487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When can refactoring?</a:t>
            </a:r>
          </a:p>
          <a:p>
            <a:r>
              <a:rPr lang="en-US" altLang="zh-CN" sz="1600" dirty="0"/>
              <a:t>Add</a:t>
            </a:r>
          </a:p>
          <a:p>
            <a:r>
              <a:rPr lang="en-US" altLang="zh-CN" sz="1600" dirty="0"/>
              <a:t>Bug</a:t>
            </a:r>
          </a:p>
          <a:p>
            <a:r>
              <a:rPr lang="zh-CN" altLang="en-US" sz="1600" dirty="0"/>
              <a:t>复审代码</a:t>
            </a:r>
            <a:br>
              <a:rPr lang="zh-CN" altLang="en-US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When can not refactoring?</a:t>
            </a:r>
          </a:p>
          <a:p>
            <a:r>
              <a:rPr lang="zh-CN" altLang="en-US" sz="1600" dirty="0"/>
              <a:t>现有代码过于混乱</a:t>
            </a:r>
            <a:endParaRPr lang="en-US" altLang="zh-CN" sz="1600" dirty="0"/>
          </a:p>
          <a:p>
            <a:r>
              <a:rPr lang="en-US" altLang="zh-CN" sz="1600" dirty="0"/>
              <a:t>Not working</a:t>
            </a:r>
          </a:p>
          <a:p>
            <a:r>
              <a:rPr lang="en-US" altLang="zh-CN" sz="1600" dirty="0"/>
              <a:t>Deadline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2E8317-E1F3-0048-ADEF-74519F2651C9}"/>
              </a:ext>
            </a:extLst>
          </p:cNvPr>
          <p:cNvSpPr txBox="1">
            <a:spLocks/>
          </p:cNvSpPr>
          <p:nvPr/>
        </p:nvSpPr>
        <p:spPr>
          <a:xfrm>
            <a:off x="6276975" y="87086"/>
            <a:ext cx="5076825" cy="6487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endParaRPr lang="en-US" altLang="zh-CN" sz="1600" dirty="0"/>
          </a:p>
          <a:p>
            <a:pPr>
              <a:lnSpc>
                <a:spcPct val="70000"/>
              </a:lnSpc>
            </a:pPr>
            <a:r>
              <a:rPr lang="en-CN" dirty="0">
                <a:solidFill>
                  <a:srgbClr val="0070C0"/>
                </a:solidFill>
              </a:rPr>
              <a:t>重构与性能</a:t>
            </a:r>
          </a:p>
          <a:p>
            <a:pPr>
              <a:lnSpc>
                <a:spcPct val="100000"/>
              </a:lnSpc>
            </a:pPr>
            <a:r>
              <a:rPr lang="en-CN" sz="1600" dirty="0">
                <a:solidFill>
                  <a:prstClr val="black"/>
                </a:solidFill>
              </a:rPr>
              <a:t>多数重构提高性能</a:t>
            </a:r>
            <a:r>
              <a:rPr lang="zh-CN" altLang="en-US" sz="1600" dirty="0">
                <a:solidFill>
                  <a:prstClr val="black"/>
                </a:solidFill>
              </a:rPr>
              <a:t>，少数反而降低性能</a:t>
            </a:r>
            <a:endParaRPr lang="en-US" altLang="zh-CN" sz="16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prstClr val="black"/>
                </a:solidFill>
              </a:rPr>
              <a:t>重构能使得性能提高更容易</a:t>
            </a:r>
            <a:endParaRPr lang="en-CN" sz="16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en-CN" sz="1600" dirty="0">
                <a:solidFill>
                  <a:prstClr val="black"/>
                </a:solidFill>
              </a:rPr>
              <a:t>二八原则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prstClr val="black"/>
                </a:solidFill>
              </a:rPr>
              <a:t>集中测试</a:t>
            </a:r>
            <a:endParaRPr lang="en-US" altLang="zh-CN" sz="16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CN" sz="1600" dirty="0">
                <a:solidFill>
                  <a:prstClr val="black"/>
                </a:solidFill>
              </a:rPr>
              <a:t>测量</a:t>
            </a:r>
            <a:r>
              <a:rPr lang="zh-CN" altLang="en-US" sz="1600" dirty="0">
                <a:solidFill>
                  <a:prstClr val="black"/>
                </a:solidFill>
              </a:rPr>
              <a:t>工具</a:t>
            </a:r>
            <a:endParaRPr lang="en-US" altLang="zh-CN" sz="16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prstClr val="black"/>
                </a:solidFill>
              </a:rPr>
              <a:t>小幅度修改。每走一步，都需要编译、测试、再次度量。如果没有提高性能，应该撤销此次修改</a:t>
            </a:r>
            <a:endParaRPr lang="en-US" altLang="zh-CN" sz="16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prstClr val="black"/>
                </a:solidFill>
              </a:rPr>
              <a:t>持续提高</a:t>
            </a:r>
            <a:endParaRPr lang="en-US" altLang="zh-CN" sz="1600" dirty="0">
              <a:solidFill>
                <a:prstClr val="black"/>
              </a:solidFill>
            </a:endParaRPr>
          </a:p>
          <a:p>
            <a:pPr>
              <a:lnSpc>
                <a:spcPct val="70000"/>
              </a:lnSpc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70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7551-37B6-B64E-94F3-D19949556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975" y="348343"/>
            <a:ext cx="5076825" cy="56936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重构时</a:t>
            </a:r>
            <a:endParaRPr lang="en-US" altLang="zh-CN" dirty="0"/>
          </a:p>
          <a:p>
            <a:r>
              <a:rPr lang="zh-CN" altLang="en-US" sz="1600" dirty="0"/>
              <a:t>两顶帽子：添加新功能（修改），以及重构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软件开发过程中，经常变化帽子，但无论何时只能戴有一顶帽子。</a:t>
            </a:r>
            <a:endParaRPr lang="en-US" altLang="zh-CN" sz="1600" dirty="0"/>
          </a:p>
          <a:p>
            <a:r>
              <a:rPr lang="zh-CN" altLang="en-US" sz="1600" dirty="0"/>
              <a:t>小步前进、频繁测试</a:t>
            </a:r>
            <a:endParaRPr lang="en-US" altLang="zh-CN" sz="1600" dirty="0"/>
          </a:p>
          <a:p>
            <a:endParaRPr lang="en-US" altLang="zh-CN" sz="1600" dirty="0"/>
          </a:p>
          <a:p>
            <a:pPr marL="0" indent="0">
              <a:lnSpc>
                <a:spcPct val="70000"/>
              </a:lnSpc>
              <a:buNone/>
            </a:pPr>
            <a:r>
              <a:rPr lang="en-CN" dirty="0">
                <a:solidFill>
                  <a:srgbClr val="0070C0"/>
                </a:solidFill>
              </a:rPr>
              <a:t>Problem in  refactoring?</a:t>
            </a:r>
          </a:p>
          <a:p>
            <a:pPr>
              <a:lnSpc>
                <a:spcPct val="70000"/>
              </a:lnSpc>
            </a:pPr>
            <a:r>
              <a:rPr lang="en-US" sz="1600" dirty="0" err="1"/>
              <a:t>数据库</a:t>
            </a:r>
            <a:endParaRPr lang="en-US" sz="1600" dirty="0"/>
          </a:p>
          <a:p>
            <a:pPr>
              <a:lnSpc>
                <a:spcPct val="70000"/>
              </a:lnSpc>
            </a:pPr>
            <a:r>
              <a:rPr lang="en-US" sz="1600" dirty="0" err="1"/>
              <a:t>接口</a:t>
            </a:r>
            <a:r>
              <a:rPr lang="en-US" sz="1600" dirty="0"/>
              <a:t> : public / </a:t>
            </a:r>
            <a:r>
              <a:rPr lang="en-US" sz="1600" dirty="0" err="1"/>
              <a:t>pushlished</a:t>
            </a:r>
            <a:r>
              <a:rPr lang="en-US" sz="1600" dirty="0"/>
              <a:t> interface</a:t>
            </a:r>
          </a:p>
          <a:p>
            <a:pPr>
              <a:lnSpc>
                <a:spcPct val="70000"/>
              </a:lnSpc>
            </a:pPr>
            <a:r>
              <a:rPr lang="zh-CN" altLang="en-US" sz="1600" dirty="0"/>
              <a:t>难以通过重构手法完成的设计改动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</a:rPr>
              <a:t>本书中重构手法的前提：</a:t>
            </a:r>
            <a:r>
              <a:rPr lang="en-US" altLang="zh-CN" sz="1600" dirty="0">
                <a:solidFill>
                  <a:srgbClr val="FF0000"/>
                </a:solidFill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</a:rPr>
              <a:t>单进程软件</a:t>
            </a:r>
            <a:r>
              <a:rPr lang="en-US" altLang="zh-CN" sz="1600" dirty="0">
                <a:solidFill>
                  <a:srgbClr val="FF0000"/>
                </a:solidFill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</a:rPr>
              <a:t>，并不适合并发和分布式程序设计。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     并发和分布式程序设计，有着完全不同的重构技术。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/>
          </a:p>
          <a:p>
            <a:r>
              <a:rPr lang="zh-CN" altLang="en-US" sz="1600" dirty="0"/>
              <a:t>寻找引用点</a:t>
            </a:r>
          </a:p>
          <a:p>
            <a:pPr marL="0" indent="0">
              <a:buNone/>
            </a:pPr>
            <a:r>
              <a:rPr lang="zh-CN" altLang="en-US" sz="1600" dirty="0"/>
              <a:t>替换 ： 手动 </a:t>
            </a:r>
            <a:r>
              <a:rPr lang="en-US" altLang="zh-CN" sz="1600" dirty="0"/>
              <a:t>/</a:t>
            </a:r>
            <a:r>
              <a:rPr lang="zh-CN" altLang="en-US" sz="1600" dirty="0"/>
              <a:t> </a:t>
            </a:r>
            <a:r>
              <a:rPr lang="en-US" altLang="zh-CN" sz="1600" dirty="0"/>
              <a:t>Diff tool </a:t>
            </a:r>
          </a:p>
          <a:p>
            <a:pPr marL="0" indent="0">
              <a:buNone/>
            </a:pPr>
            <a:r>
              <a:rPr lang="zh-CN" altLang="en-US" sz="1600" dirty="0"/>
              <a:t>查找 ： 反射</a:t>
            </a:r>
          </a:p>
          <a:p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2E8317-E1F3-0048-ADEF-74519F2651C9}"/>
              </a:ext>
            </a:extLst>
          </p:cNvPr>
          <p:cNvSpPr txBox="1">
            <a:spLocks/>
          </p:cNvSpPr>
          <p:nvPr/>
        </p:nvSpPr>
        <p:spPr>
          <a:xfrm>
            <a:off x="838200" y="348343"/>
            <a:ext cx="5076825" cy="56936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CN" dirty="0">
                <a:solidFill>
                  <a:srgbClr val="0070C0"/>
                </a:solidFill>
              </a:rPr>
              <a:t>Why need refactoring?</a:t>
            </a:r>
            <a:endParaRPr lang="en-US" dirty="0">
              <a:solidFill>
                <a:srgbClr val="0070C0"/>
              </a:solidFill>
            </a:endParaRPr>
          </a:p>
          <a:p>
            <a:pPr lvl="0">
              <a:lnSpc>
                <a:spcPct val="70000"/>
              </a:lnSpc>
            </a:pPr>
            <a:r>
              <a:rPr lang="zh-CN" altLang="en-US" sz="1600" dirty="0"/>
              <a:t>代码结构逐渐流失 </a:t>
            </a:r>
            <a:r>
              <a:rPr lang="en-US" altLang="zh-CN" sz="1600" dirty="0"/>
              <a:t>-&gt;</a:t>
            </a:r>
            <a:r>
              <a:rPr lang="zh-CN" altLang="en-US" sz="1600" dirty="0"/>
              <a:t>改善设计</a:t>
            </a:r>
            <a:endParaRPr lang="en-US" altLang="zh-CN" sz="1600" dirty="0"/>
          </a:p>
          <a:p>
            <a:pPr lvl="0">
              <a:lnSpc>
                <a:spcPct val="70000"/>
              </a:lnSpc>
            </a:pPr>
            <a:r>
              <a:rPr lang="zh-CN" altLang="en-US" sz="1600" dirty="0"/>
              <a:t>可读性</a:t>
            </a:r>
            <a:endParaRPr lang="en-US" altLang="zh-CN" sz="1600" dirty="0"/>
          </a:p>
          <a:p>
            <a:pPr lvl="0">
              <a:lnSpc>
                <a:spcPct val="70000"/>
              </a:lnSpc>
            </a:pPr>
            <a:r>
              <a:rPr lang="zh-CN" altLang="en-US" sz="1600" dirty="0"/>
              <a:t>减少</a:t>
            </a:r>
            <a:r>
              <a:rPr lang="en-US" altLang="zh-CN" sz="1600" dirty="0"/>
              <a:t>bug</a:t>
            </a:r>
            <a:r>
              <a:rPr lang="zh-CN" altLang="en-US" sz="1600" dirty="0"/>
              <a:t>，帮助找到</a:t>
            </a:r>
            <a:r>
              <a:rPr lang="en-US" altLang="zh-CN" sz="1600" dirty="0"/>
              <a:t>bug</a:t>
            </a:r>
            <a:endParaRPr lang="en-CN" altLang="zh-CN" sz="1600" dirty="0"/>
          </a:p>
          <a:p>
            <a:pPr lvl="0">
              <a:lnSpc>
                <a:spcPct val="70000"/>
              </a:lnSpc>
            </a:pPr>
            <a:r>
              <a:rPr lang="zh-CN" altLang="en-US" sz="1600" dirty="0"/>
              <a:t>提高编程速度</a:t>
            </a:r>
            <a:endParaRPr lang="en-US" altLang="zh-CN" sz="1600" dirty="0"/>
          </a:p>
          <a:p>
            <a:pPr lvl="0">
              <a:lnSpc>
                <a:spcPct val="70000"/>
              </a:lnSpc>
            </a:pPr>
            <a:endParaRPr lang="en-US" altLang="zh-CN" sz="1600" dirty="0"/>
          </a:p>
          <a:p>
            <a:pPr lvl="0">
              <a:lnSpc>
                <a:spcPct val="70000"/>
              </a:lnSpc>
            </a:pPr>
            <a:endParaRPr lang="en-US" altLang="zh-CN" sz="1600" dirty="0"/>
          </a:p>
          <a:p>
            <a:pPr marL="0" lvl="0" indent="0">
              <a:lnSpc>
                <a:spcPct val="70000"/>
              </a:lnSpc>
              <a:buNone/>
            </a:pPr>
            <a:r>
              <a:rPr lang="zh-CN" altLang="en-US" dirty="0">
                <a:solidFill>
                  <a:srgbClr val="0070C0"/>
                </a:solidFill>
              </a:rPr>
              <a:t>重构准备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sz="1600" dirty="0"/>
              <a:t>重构之前，先有测试代码：自检能力 </a:t>
            </a:r>
            <a:r>
              <a:rPr lang="en-US" altLang="zh-CN" sz="1600" dirty="0"/>
              <a:t>/</a:t>
            </a:r>
            <a:r>
              <a:rPr lang="zh-CN" altLang="en-US" sz="1600" dirty="0"/>
              <a:t> 自测试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✔</a:t>
            </a:r>
            <a:r>
              <a:rPr lang="en-US" altLang="zh-CN" sz="1600" dirty="0"/>
              <a:t> </a:t>
            </a:r>
            <a:r>
              <a:rPr lang="zh-CN" altLang="en-US" sz="1600" dirty="0"/>
              <a:t>单元测试</a:t>
            </a:r>
            <a:r>
              <a:rPr lang="en-US" altLang="zh-CN" sz="1600" dirty="0"/>
              <a:t> :</a:t>
            </a:r>
            <a:r>
              <a:rPr lang="en-US" sz="1600" dirty="0"/>
              <a:t> Junit</a:t>
            </a:r>
            <a:r>
              <a:rPr lang="zh-CN" altLang="en-US" sz="1600" dirty="0"/>
              <a:t> </a:t>
            </a:r>
            <a:r>
              <a:rPr lang="en-US" altLang="zh-CN" sz="1600" dirty="0"/>
              <a:t>; </a:t>
            </a:r>
            <a:r>
              <a:rPr lang="zh-CN" altLang="en-US" sz="1600" dirty="0"/>
              <a:t>捕捉失败</a:t>
            </a:r>
            <a:r>
              <a:rPr lang="en-US" altLang="zh-CN" sz="1600" dirty="0"/>
              <a:t>(</a:t>
            </a:r>
            <a:r>
              <a:rPr lang="en-US" sz="1600" dirty="0"/>
              <a:t>false)/ </a:t>
            </a:r>
            <a:r>
              <a:rPr lang="zh-CN" altLang="en-US" sz="1600" dirty="0"/>
              <a:t>异常</a:t>
            </a:r>
            <a:r>
              <a:rPr lang="en-US" altLang="zh-CN" sz="1600" dirty="0"/>
              <a:t>(</a:t>
            </a:r>
            <a:r>
              <a:rPr lang="en-US" sz="1600" dirty="0"/>
              <a:t>exception)</a:t>
            </a:r>
          </a:p>
          <a:p>
            <a:pPr marL="0" indent="0">
              <a:buNone/>
            </a:pPr>
            <a:r>
              <a:rPr lang="zh-CN" altLang="en-US" sz="1600" dirty="0"/>
              <a:t>✗</a:t>
            </a:r>
            <a:r>
              <a:rPr lang="en-US" altLang="zh-CN" sz="1600" dirty="0"/>
              <a:t> </a:t>
            </a:r>
            <a:r>
              <a:rPr lang="zh-CN" altLang="en-US" sz="1600" dirty="0"/>
              <a:t>功能测试：质量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Not all public </a:t>
            </a:r>
            <a:r>
              <a:rPr lang="zh-CN" altLang="en-US" sz="1600" dirty="0"/>
              <a:t>函数</a:t>
            </a:r>
            <a:r>
              <a:rPr lang="en-US" altLang="zh-CN" sz="1600" dirty="0"/>
              <a:t> 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zh-CN" altLang="en-US" sz="1600" dirty="0">
                <a:effectLst/>
              </a:rPr>
              <a:t>边界条件</a:t>
            </a:r>
            <a:r>
              <a:rPr lang="en-US" altLang="zh-CN" sz="1600" dirty="0">
                <a:effectLst/>
              </a:rPr>
              <a:t> /</a:t>
            </a:r>
          </a:p>
          <a:p>
            <a:pPr marL="0" indent="0">
              <a:buNone/>
            </a:pPr>
            <a:r>
              <a:rPr lang="zh-CN" altLang="en-US" sz="1600" dirty="0"/>
              <a:t>最容易出错</a:t>
            </a:r>
            <a:r>
              <a:rPr lang="en-US" altLang="zh-CN" sz="1600" dirty="0"/>
              <a:t>/</a:t>
            </a:r>
            <a:r>
              <a:rPr lang="zh-CN" altLang="en-US" sz="1600" dirty="0"/>
              <a:t> 最常见</a:t>
            </a:r>
            <a:r>
              <a:rPr lang="en-US" altLang="zh-CN" sz="1600" dirty="0"/>
              <a:t>/</a:t>
            </a:r>
            <a:r>
              <a:rPr lang="zh-CN" altLang="en-US" sz="1600" dirty="0"/>
              <a:t>常见情况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如果没有</a:t>
            </a:r>
            <a:r>
              <a:rPr lang="en-US" altLang="zh-CN" sz="1600" dirty="0"/>
              <a:t>Unit</a:t>
            </a:r>
            <a:r>
              <a:rPr lang="zh-CN" altLang="en-US" sz="1600" dirty="0"/>
              <a:t> </a:t>
            </a:r>
            <a:r>
              <a:rPr lang="en-US" altLang="zh-CN" sz="1600" dirty="0"/>
              <a:t>Test</a:t>
            </a:r>
            <a:r>
              <a:rPr lang="zh-CN" altLang="en-US" sz="1600" dirty="0"/>
              <a:t>，用测试用例</a:t>
            </a:r>
            <a:r>
              <a:rPr lang="en-US" altLang="zh-CN" sz="1600" dirty="0"/>
              <a:t>+</a:t>
            </a:r>
            <a:r>
              <a:rPr lang="zh-CN" altLang="en-US" sz="1600" dirty="0"/>
              <a:t>应用场景：</a:t>
            </a:r>
            <a:r>
              <a:rPr lang="en-US" altLang="zh-CN" sz="1600" dirty="0"/>
              <a:t>all</a:t>
            </a:r>
            <a:r>
              <a:rPr lang="zh-CN" altLang="en-US" sz="1600" dirty="0"/>
              <a:t> </a:t>
            </a:r>
            <a:r>
              <a:rPr lang="en-US" altLang="zh-CN" sz="1600" dirty="0"/>
              <a:t>case</a:t>
            </a:r>
          </a:p>
          <a:p>
            <a:pPr marL="0" indent="0">
              <a:buNone/>
            </a:pPr>
            <a:r>
              <a:rPr lang="zh-CN" altLang="en-US" sz="2200" b="1" dirty="0">
                <a:solidFill>
                  <a:srgbClr val="7030A0"/>
                </a:solidFill>
              </a:rPr>
              <a:t> </a:t>
            </a:r>
            <a:endParaRPr lang="en-US" altLang="zh-CN" sz="2200" b="1" dirty="0">
              <a:solidFill>
                <a:srgbClr val="7030A0"/>
              </a:solidFill>
            </a:endParaRPr>
          </a:p>
          <a:p>
            <a:pPr>
              <a:lnSpc>
                <a:spcPct val="70000"/>
              </a:lnSpc>
            </a:pPr>
            <a:r>
              <a:rPr lang="en-US" altLang="zh-CN" sz="1600" dirty="0"/>
              <a:t>Diff</a:t>
            </a:r>
            <a:r>
              <a:rPr lang="zh-CN" altLang="en-US" sz="1600" dirty="0"/>
              <a:t> </a:t>
            </a:r>
            <a:r>
              <a:rPr lang="en-US" altLang="zh-CN" sz="1600" dirty="0"/>
              <a:t>tool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1600" dirty="0"/>
              <a:t> Beyond Compare, IDE</a:t>
            </a:r>
          </a:p>
          <a:p>
            <a:pPr>
              <a:lnSpc>
                <a:spcPct val="70000"/>
              </a:lnSpc>
            </a:pPr>
            <a:r>
              <a:rPr lang="en-US" altLang="zh-CN" sz="1600" dirty="0"/>
              <a:t>Branch branch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1600" dirty="0" err="1"/>
              <a:t>refactor_current</a:t>
            </a:r>
            <a:r>
              <a:rPr lang="zh-CN" altLang="en-US" sz="1600" dirty="0"/>
              <a:t> </a:t>
            </a:r>
            <a:r>
              <a:rPr lang="en-US" altLang="zh-CN" sz="1600" dirty="0"/>
              <a:t>/</a:t>
            </a:r>
            <a:r>
              <a:rPr lang="zh-CN" altLang="en-US" sz="1600" dirty="0"/>
              <a:t> </a:t>
            </a:r>
            <a:r>
              <a:rPr lang="en-US" altLang="zh-CN" sz="1600" dirty="0" err="1"/>
              <a:t>refactor_master</a:t>
            </a:r>
            <a:r>
              <a:rPr lang="zh-CN" altLang="en-US" sz="1600" dirty="0"/>
              <a:t> </a:t>
            </a:r>
            <a:r>
              <a:rPr lang="en-US" altLang="zh-CN" sz="1600" dirty="0"/>
              <a:t>/</a:t>
            </a:r>
            <a:r>
              <a:rPr lang="zh-CN" altLang="en-US" sz="1600" dirty="0"/>
              <a:t> </a:t>
            </a:r>
            <a:r>
              <a:rPr lang="en-US" altLang="zh-CN" sz="1600" dirty="0"/>
              <a:t>feature</a:t>
            </a:r>
          </a:p>
          <a:p>
            <a:pPr marL="0" lvl="0" indent="0">
              <a:lnSpc>
                <a:spcPct val="70000"/>
              </a:lnSpc>
              <a:buNone/>
            </a:pPr>
            <a:endParaRPr lang="en-US" altLang="zh-CN" sz="1600" dirty="0"/>
          </a:p>
          <a:p>
            <a:pPr marL="0" lvl="0" indent="0">
              <a:lnSpc>
                <a:spcPct val="70000"/>
              </a:lnSpc>
              <a:buNone/>
            </a:pPr>
            <a:endParaRPr lang="en-US" altLang="zh-CN" sz="1600" dirty="0"/>
          </a:p>
        </p:txBody>
      </p:sp>
      <p:pic>
        <p:nvPicPr>
          <p:cNvPr id="10" name="Graphic 9" descr="Add">
            <a:extLst>
              <a:ext uri="{FF2B5EF4-FFF2-40B4-BE49-F238E27FC236}">
                <a16:creationId xmlns:a16="http://schemas.microsoft.com/office/drawing/2014/main" id="{D30CD3D9-6AC4-834E-9883-2D80B78B1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343399"/>
            <a:ext cx="504825" cy="504825"/>
          </a:xfrm>
          <a:prstGeom prst="rect">
            <a:avLst/>
          </a:prstGeom>
        </p:spPr>
      </p:pic>
      <p:pic>
        <p:nvPicPr>
          <p:cNvPr id="12" name="Graphic 11" descr="Add">
            <a:extLst>
              <a:ext uri="{FF2B5EF4-FFF2-40B4-BE49-F238E27FC236}">
                <a16:creationId xmlns:a16="http://schemas.microsoft.com/office/drawing/2014/main" id="{13B13EC1-7B35-264A-9A5F-0638175FD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6975" y="4728481"/>
            <a:ext cx="5048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6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4548-CA9B-4245-A98D-8C8CAA7A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CN" dirty="0"/>
              <a:t>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604C-DB0C-504C-8E80-857E7A94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平时开发中需要如何设计代码结构，做到以后尽量少或者小的重构？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</a:t>
            </a:r>
            <a:r>
              <a:rPr lang="zh-CN" altLang="en-US" sz="1600"/>
              <a:t>不能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架构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r>
              <a:rPr lang="zh-CN" altLang="en-US" sz="1600" dirty="0"/>
              <a:t>重构 在</a:t>
            </a:r>
            <a:r>
              <a:rPr lang="en-US" altLang="zh-CN" sz="1600" dirty="0"/>
              <a:t>JS</a:t>
            </a:r>
            <a:r>
              <a:rPr lang="zh-CN" altLang="en-US" sz="1600" dirty="0"/>
              <a:t> 中能用吗？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   任何语言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zh-CN" altLang="en-US" sz="1600" dirty="0"/>
              <a:t>项目架构非常</a:t>
            </a:r>
            <a:r>
              <a:rPr lang="en-US" altLang="zh-CN" sz="1600" dirty="0"/>
              <a:t>common</a:t>
            </a:r>
            <a:r>
              <a:rPr lang="zh-CN" altLang="en-US" sz="1600" dirty="0"/>
              <a:t>，不能一下子改完，该如何着手重构？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  重构架构是超大范围的重构，即使使用重构手法也不能一下子改完。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  逐个替换</a:t>
            </a:r>
            <a:r>
              <a:rPr lang="en-US" altLang="zh-CN" sz="1600" dirty="0"/>
              <a:t>+</a:t>
            </a:r>
            <a:r>
              <a:rPr lang="zh-CN" altLang="en-US" sz="1600" dirty="0"/>
              <a:t>测试用例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  用重构按小步调和布局范围改善代码，使得代码清晰，能帮助找到更好的架构。</a:t>
            </a:r>
          </a:p>
          <a:p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52931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1E48-0CAE-E940-98C2-89A57854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重构手法 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 </a:t>
            </a:r>
            <a:r>
              <a:rPr lang="zh-CN" altLang="en-US" b="1" dirty="0"/>
              <a:t>重新组织函数</a:t>
            </a:r>
            <a:endParaRPr lang="zh-CN" altLang="en-US" b="1" dirty="0"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42D3C2-543F-1942-9709-825BBAE9B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61863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43">
                  <a:extLst>
                    <a:ext uri="{9D8B030D-6E8A-4147-A177-3AD203B41FA5}">
                      <a16:colId xmlns:a16="http://schemas.microsoft.com/office/drawing/2014/main" val="745997973"/>
                    </a:ext>
                  </a:extLst>
                </a:gridCol>
                <a:gridCol w="6433457">
                  <a:extLst>
                    <a:ext uri="{9D8B030D-6E8A-4147-A177-3AD203B41FA5}">
                      <a16:colId xmlns:a16="http://schemas.microsoft.com/office/drawing/2014/main" val="26472503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455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7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 Method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提炼函数</a:t>
                      </a:r>
                      <a:endParaRPr lang="en-C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4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4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Temp with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以查询取代临时变量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65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 Explain Variable（124）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引入解释性变量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0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 Temporary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分解临时变量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96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Assignments to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移除对参数的赋值动作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5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Method with Method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以函数对象取代函数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11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Substitute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替换算法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60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669</Words>
  <Application>Microsoft Macintosh PowerPoint</Application>
  <PresentationFormat>Widescreen</PresentationFormat>
  <Paragraphs>114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Refactoring </vt:lpstr>
      <vt:lpstr>How to use this book</vt:lpstr>
      <vt:lpstr>PowerPoint Presentation</vt:lpstr>
      <vt:lpstr>QA</vt:lpstr>
      <vt:lpstr>Read Example togeter</vt:lpstr>
      <vt:lpstr>重构的定义</vt:lpstr>
      <vt:lpstr>PowerPoint Presentation</vt:lpstr>
      <vt:lpstr>PowerPoint Presentation</vt:lpstr>
      <vt:lpstr>+ QA</vt:lpstr>
      <vt:lpstr>重构手法 - 重新组织函数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 </dc:title>
  <dc:creator>kf</dc:creator>
  <cp:lastModifiedBy>kf</cp:lastModifiedBy>
  <cp:revision>82</cp:revision>
  <dcterms:created xsi:type="dcterms:W3CDTF">2020-07-29T06:29:03Z</dcterms:created>
  <dcterms:modified xsi:type="dcterms:W3CDTF">2020-07-29T11:55:13Z</dcterms:modified>
</cp:coreProperties>
</file>