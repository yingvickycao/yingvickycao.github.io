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2" r:id="rId5"/>
    <p:sldId id="264" r:id="rId6"/>
    <p:sldId id="263" r:id="rId7"/>
    <p:sldId id="261" r:id="rId8"/>
    <p:sldId id="259" r:id="rId9"/>
    <p:sldId id="265" r:id="rId10"/>
    <p:sldId id="260" r:id="rId11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63"/>
  </p:normalViewPr>
  <p:slideViewPr>
    <p:cSldViewPr snapToGrid="0" snapToObjects="1">
      <p:cViewPr varScale="1">
        <p:scale>
          <a:sx n="117" d="100"/>
          <a:sy n="117" d="100"/>
        </p:scale>
        <p:origin x="3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7383F5-6C25-4144-BB9C-7D6DC74B2771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577713-C50F-0A49-B6B5-BF3553DE71B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10389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写unit</a:t>
            </a:r>
            <a:r>
              <a:rPr lang="zh-CN" altLang="en-US" dirty="0"/>
              <a:t> </a:t>
            </a:r>
            <a:r>
              <a:rPr lang="en-US" altLang="zh-CN" dirty="0"/>
              <a:t>test</a:t>
            </a:r>
            <a:r>
              <a:rPr lang="zh-CN" altLang="en-US" dirty="0"/>
              <a:t> 暴漏</a:t>
            </a:r>
            <a:r>
              <a:rPr lang="en-US" altLang="zh-CN" dirty="0"/>
              <a:t>bug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577713-C50F-0A49-B6B5-BF3553DE71B6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0353309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写unit</a:t>
            </a:r>
            <a:r>
              <a:rPr lang="zh-CN" altLang="en-US" dirty="0"/>
              <a:t> </a:t>
            </a:r>
            <a:r>
              <a:rPr lang="en-US" altLang="zh-CN" dirty="0"/>
              <a:t>test</a:t>
            </a:r>
            <a:r>
              <a:rPr lang="zh-CN" altLang="en-US" dirty="0"/>
              <a:t> 暴漏</a:t>
            </a:r>
            <a:r>
              <a:rPr lang="en-US" altLang="zh-CN" dirty="0"/>
              <a:t>bug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577713-C50F-0A49-B6B5-BF3553DE71B6}" type="slidenum">
              <a:rPr lang="en-CN" smtClean="0"/>
              <a:t>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743247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933C0-A38E-D84F-A756-631AD78F63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437F2E-375E-0342-A57F-1E26AB7340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D7580-7641-D543-8107-3CBF36EA7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DEB274-E2A7-BC45-93C7-BDA9360CA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5A3E1-B41A-844B-B82D-7B2F93815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42689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79787-0D03-2645-9639-DD6F129E9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8A130-6E4C-2148-9A8D-B55194B81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34B7F-13FA-5F44-AC32-1BAAE84DF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E7DBF-E5A8-8D4B-90F0-DB1EC1F26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8F358-304D-BF4F-BFC5-F602D355D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95536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600C3-C97B-6745-AE6D-75668804F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074EC2-AC21-C14E-AFB9-05206E1AD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AD63D5-B6DD-7D4C-937A-A57CA8C92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E78C9-DF9C-8E42-A982-8743645FF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D1AD2-F776-C249-8F4E-457B9776A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76163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95ACA-07D4-DE4A-8B26-A5B91EA8D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22D45-57E2-6542-8F32-20EAA8077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23CB33-9F96-2D48-A777-3568BC4A90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A55AD6-6C2B-0841-A15D-A66D27775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47254C-ED60-D349-BB57-B6A02F71C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9CAE-45E8-C044-9F3A-80D4301E1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59783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3A67F-387F-FA45-B620-DA35D167B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B36AC8-6AC8-D746-A45C-6294E8FED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CC3628-BA27-1E4D-AED8-A40C9F5CD6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E9AD60-D6FE-7A40-A1C7-13DE375CB3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73B5B9-A03C-5D4A-8331-1B354E3EA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B92426-4DAA-CF45-9528-F1B9A2025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4AB5FF-09B8-DE41-940F-270B10290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66D13F-700B-4E4A-95B4-103622EAD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03766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3DD39-03ED-434D-B85B-0C6D52425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5ED734-7165-564A-B72D-CCC009FBF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E29CF7-6EA2-FA46-8177-E3019100B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5EF33E-3ACD-DE49-8E2C-657AE43A0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0788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525C67-F307-1C47-9353-E055E1A1E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31D758-E9C7-C54D-9227-87A171020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7ED29-822D-7648-9850-0C83C386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8255634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7AB41-4A4E-354B-BC08-E3074B040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AD2793-34B2-5B4A-A00F-C46EBED33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97A21-5BF3-2B46-A0E6-9D6756F1F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1BAB7A-57CE-E740-A61A-2B9D9C986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09DC29-4064-4442-9836-9AFFF3BFA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F14248-D9E1-B144-A415-ABF57BE8D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75256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1918D-084A-0B4D-AB4F-04E084A43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99FDD8-B03D-4A42-B1F8-EC932341B7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365CAD-B047-4B43-A733-D7B9716790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189950-81D0-2143-82BA-66A18ADDB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CC5CB3-CB2B-3841-A44F-92265CC99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B4EEEC-AEE2-2F41-B8EE-EAE632EEA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76936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286E2-B094-E44F-943B-31C45897F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6459E5-8873-C44B-8027-8DE1BA05A4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9624DB-C877-BA45-80F5-99A42CE1C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E8BD5-AB73-1945-BB46-6D594C590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1759E6-11D6-5B4C-BB6C-AC8A8D87C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8601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F50848-5555-1446-A961-13FAB2EFEA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1903C5-97A4-7547-9727-148106E670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BC98F1-3F27-804E-A482-34999685E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693C1-9613-5046-B65F-5F05A2DC6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6D075-898A-FA4E-BAA8-A1C8B7D16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54628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2C023C-A709-6C4E-BA26-83FFA4BAC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006CE1-CD8F-D848-9B8A-F82751D350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AB01A-71D4-8142-8B4F-55B6172F0E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61908-F454-3C47-A952-01BCCB6203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D04C9-6219-524C-A628-9E570D401E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95958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59796-662F-284C-96D6-D6D5468CF4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Refactoring</a:t>
            </a:r>
            <a:br>
              <a:rPr lang="en-US" dirty="0"/>
            </a:br>
            <a:endParaRPr lang="en-C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39CD77-DD5E-B44C-8C2D-EE92A0D900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Improve the design of existing code</a:t>
            </a:r>
            <a:endParaRPr lang="en-US" dirty="0"/>
          </a:p>
          <a:p>
            <a:r>
              <a:rPr lang="en-US" b="1" dirty="0"/>
              <a:t>Martin  Flower</a:t>
            </a:r>
            <a:endParaRPr lang="en-US" dirty="0"/>
          </a:p>
          <a:p>
            <a:endParaRPr lang="en-CN" dirty="0"/>
          </a:p>
          <a:p>
            <a:r>
              <a:rPr lang="en-US" sz="1200" dirty="0"/>
              <a:t>Vicky, 2020/7/30</a:t>
            </a:r>
          </a:p>
          <a:p>
            <a:endParaRPr lang="en-C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473818-D72B-0D49-86B3-EE0981C81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82" y="1122363"/>
            <a:ext cx="2019300" cy="26479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0B7224-8D4D-7A45-BC29-046C475DF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9681" y="1122363"/>
            <a:ext cx="2056637" cy="27867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392E119-DC5B-884A-9DA9-7545A9EE37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921" y="4638387"/>
            <a:ext cx="1564821" cy="19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2950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7C12F-99C1-554D-8F06-72B743ABD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How to use this book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15E23-173C-C147-90BE-128F6023C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 first, then read summary</a:t>
            </a:r>
          </a:p>
          <a:p>
            <a:r>
              <a:rPr lang="en-US" dirty="0"/>
              <a:t>Search the project code, the practice refactoring</a:t>
            </a:r>
          </a:p>
        </p:txBody>
      </p:sp>
    </p:spTree>
    <p:extLst>
      <p:ext uri="{BB962C8B-B14F-4D97-AF65-F5344CB8AC3E}">
        <p14:creationId xmlns:p14="http://schemas.microsoft.com/office/powerpoint/2010/main" val="2063770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F850F-CF42-6543-AAE5-AFAEAB8CC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97BC8-91B4-6447-8783-56ADEC9E88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类  </a:t>
            </a:r>
            <a:r>
              <a:rPr lang="en-US" altLang="zh-CN" dirty="0"/>
              <a:t>&lt;= 1000 </a:t>
            </a:r>
            <a:r>
              <a:rPr lang="zh-CN" altLang="en-US" dirty="0"/>
              <a:t>行</a:t>
            </a:r>
          </a:p>
          <a:p>
            <a:r>
              <a:rPr lang="zh-CN" altLang="en-US" dirty="0"/>
              <a:t>函数  </a:t>
            </a:r>
            <a:r>
              <a:rPr lang="en-US" altLang="zh-CN" dirty="0"/>
              <a:t>&lt;= 50</a:t>
            </a:r>
            <a:r>
              <a:rPr lang="zh-CN" altLang="en-US" dirty="0"/>
              <a:t>行</a:t>
            </a:r>
            <a:r>
              <a:rPr lang="en-US" altLang="zh-CN" dirty="0"/>
              <a:t>, </a:t>
            </a:r>
            <a:r>
              <a:rPr lang="zh-CN" altLang="en-US" dirty="0"/>
              <a:t>最长</a:t>
            </a:r>
            <a:r>
              <a:rPr lang="en-US" altLang="zh-CN" dirty="0"/>
              <a:t>100</a:t>
            </a:r>
            <a:r>
              <a:rPr lang="zh-CN" altLang="en-US" dirty="0"/>
              <a:t>行</a:t>
            </a:r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977857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50234-D0A9-5A41-83F7-C576F472B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QA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C8D41-78F7-FD42-A3E9-A7DFA22A8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1600" dirty="0">
                <a:solidFill>
                  <a:srgbClr val="FF0000"/>
                </a:solidFill>
                <a:effectLst/>
              </a:rPr>
              <a:t>1. </a:t>
            </a:r>
            <a:r>
              <a:rPr lang="zh-CN" altLang="en-US" sz="1600" dirty="0">
                <a:solidFill>
                  <a:srgbClr val="FF0000"/>
                </a:solidFill>
                <a:effectLst/>
              </a:rPr>
              <a:t>为什么需要重构？</a:t>
            </a:r>
            <a:endParaRPr lang="en-US" altLang="zh-CN" sz="1600" dirty="0">
              <a:solidFill>
                <a:srgbClr val="FF0000"/>
              </a:solidFill>
              <a:effectLst/>
            </a:endParaRPr>
          </a:p>
          <a:p>
            <a:r>
              <a:rPr lang="en-US" altLang="zh-CN" sz="1600" dirty="0">
                <a:solidFill>
                  <a:srgbClr val="FF0000"/>
                </a:solidFill>
                <a:effectLst/>
              </a:rPr>
              <a:t>2.</a:t>
            </a:r>
            <a:r>
              <a:rPr lang="zh-CN" altLang="en-US" sz="1600" dirty="0">
                <a:solidFill>
                  <a:srgbClr val="FF0000"/>
                </a:solidFill>
                <a:effectLst/>
              </a:rPr>
              <a:t>什么时候需要重构？</a:t>
            </a:r>
            <a:endParaRPr lang="en-US" altLang="zh-CN" sz="1600" dirty="0">
              <a:solidFill>
                <a:srgbClr val="FF0000"/>
              </a:solidFill>
              <a:effectLst/>
            </a:endParaRPr>
          </a:p>
          <a:p>
            <a:r>
              <a:rPr lang="en-US" altLang="zh-CN" sz="1600" dirty="0">
                <a:solidFill>
                  <a:srgbClr val="FF0000"/>
                </a:solidFill>
                <a:effectLst/>
              </a:rPr>
              <a:t>3.</a:t>
            </a:r>
            <a:r>
              <a:rPr lang="zh-CN" altLang="en-US" sz="1600" dirty="0">
                <a:solidFill>
                  <a:srgbClr val="FF0000"/>
                </a:solidFill>
                <a:effectLst/>
              </a:rPr>
              <a:t>重构有哪</a:t>
            </a:r>
            <a:r>
              <a:rPr lang="en-US" altLang="zh-CN" sz="1600" dirty="0">
                <a:solidFill>
                  <a:srgbClr val="FF0000"/>
                </a:solidFill>
                <a:effectLst/>
              </a:rPr>
              <a:t>4.</a:t>
            </a:r>
            <a:r>
              <a:rPr lang="zh-CN" altLang="en-US" sz="1600" dirty="0">
                <a:solidFill>
                  <a:srgbClr val="FF0000"/>
                </a:solidFill>
                <a:effectLst/>
              </a:rPr>
              <a:t>如何检测重构以后是否引入新的</a:t>
            </a:r>
            <a:r>
              <a:rPr lang="en-US" sz="1600" dirty="0">
                <a:solidFill>
                  <a:srgbClr val="FF0000"/>
                </a:solidFill>
                <a:effectLst/>
              </a:rPr>
              <a:t>bug？ </a:t>
            </a:r>
          </a:p>
          <a:p>
            <a:r>
              <a:rPr lang="zh-CN" altLang="en-US" sz="1600" dirty="0">
                <a:solidFill>
                  <a:srgbClr val="FF0000"/>
                </a:solidFill>
                <a:effectLst/>
              </a:rPr>
              <a:t>些方法？</a:t>
            </a:r>
            <a:endParaRPr lang="en-US" altLang="zh-CN" sz="1600" dirty="0">
              <a:solidFill>
                <a:srgbClr val="FF0000"/>
              </a:solidFill>
              <a:effectLst/>
            </a:endParaRPr>
          </a:p>
          <a:p>
            <a:r>
              <a:rPr lang="en-US" sz="1600" dirty="0">
                <a:solidFill>
                  <a:srgbClr val="FF0000"/>
                </a:solidFill>
                <a:effectLst/>
              </a:rPr>
              <a:t>5.</a:t>
            </a:r>
            <a:r>
              <a:rPr lang="zh-CN" altLang="en-US" sz="1600" dirty="0">
                <a:solidFill>
                  <a:srgbClr val="FF0000"/>
                </a:solidFill>
                <a:effectLst/>
              </a:rPr>
              <a:t>平时开发中需要如何设计代码结构，做到以后尽量少或者小的重构？</a:t>
            </a:r>
            <a:endParaRPr lang="en-US" altLang="zh-CN" sz="1600" dirty="0">
              <a:solidFill>
                <a:srgbClr val="FF0000"/>
              </a:solidFill>
              <a:effectLst/>
            </a:endParaRPr>
          </a:p>
          <a:p>
            <a:r>
              <a:rPr lang="en-US" altLang="zh-CN" sz="1600" dirty="0">
                <a:solidFill>
                  <a:srgbClr val="FF0000"/>
                </a:solidFill>
              </a:rPr>
              <a:t>+</a:t>
            </a:r>
          </a:p>
          <a:p>
            <a:r>
              <a:rPr lang="en-US" altLang="zh-CN" sz="1600" dirty="0">
                <a:solidFill>
                  <a:srgbClr val="FF0000"/>
                </a:solidFill>
                <a:effectLst/>
              </a:rPr>
              <a:t>6.</a:t>
            </a:r>
            <a:r>
              <a:rPr lang="zh-CN" altLang="en-US" sz="1600" dirty="0">
                <a:solidFill>
                  <a:srgbClr val="FF0000"/>
                </a:solidFill>
                <a:effectLst/>
              </a:rPr>
              <a:t> 重构 在</a:t>
            </a:r>
            <a:r>
              <a:rPr lang="en-US" altLang="zh-CN" sz="1600" dirty="0">
                <a:solidFill>
                  <a:srgbClr val="FF0000"/>
                </a:solidFill>
              </a:rPr>
              <a:t>JS</a:t>
            </a:r>
            <a:r>
              <a:rPr lang="zh-CN" altLang="en-US" sz="1600" dirty="0">
                <a:solidFill>
                  <a:srgbClr val="FF0000"/>
                </a:solidFill>
              </a:rPr>
              <a:t> </a:t>
            </a:r>
            <a:r>
              <a:rPr lang="zh-CN" altLang="en-US" sz="1600" dirty="0">
                <a:solidFill>
                  <a:srgbClr val="FF0000"/>
                </a:solidFill>
                <a:effectLst/>
              </a:rPr>
              <a:t>中能用吗？</a:t>
            </a:r>
            <a:endParaRPr lang="en-US" altLang="zh-CN" sz="1600" dirty="0">
              <a:solidFill>
                <a:srgbClr val="FF0000"/>
              </a:solidFill>
              <a:effectLst/>
            </a:endParaRPr>
          </a:p>
          <a:p>
            <a:r>
              <a:rPr lang="en-US" altLang="zh-CN" sz="1600" dirty="0">
                <a:solidFill>
                  <a:srgbClr val="FF0000"/>
                </a:solidFill>
              </a:rPr>
              <a:t>7.</a:t>
            </a:r>
            <a:r>
              <a:rPr lang="zh-CN" altLang="en-US" sz="1600" dirty="0">
                <a:solidFill>
                  <a:srgbClr val="FF0000"/>
                </a:solidFill>
              </a:rPr>
              <a:t>  项目架构非常</a:t>
            </a:r>
            <a:r>
              <a:rPr lang="en-US" altLang="zh-CN" sz="1600" dirty="0">
                <a:solidFill>
                  <a:srgbClr val="FF0000"/>
                </a:solidFill>
              </a:rPr>
              <a:t>common</a:t>
            </a:r>
            <a:r>
              <a:rPr lang="zh-CN" altLang="en-US" sz="1600" dirty="0">
                <a:solidFill>
                  <a:srgbClr val="FF0000"/>
                </a:solidFill>
              </a:rPr>
              <a:t>，不能一下子改完，该如何着手重构？</a:t>
            </a:r>
            <a:endParaRPr lang="zh-CN" altLang="en-US" sz="1600" dirty="0">
              <a:solidFill>
                <a:srgbClr val="FF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834672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9926D-5D3D-964A-858A-4CE5C039E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CN" dirty="0"/>
              <a:t>Read Example togeter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7768A-7D6A-804D-80E1-51F3C55890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4085229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78E90-3F24-7543-89E9-600ED3C75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重构的定义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41BDDC-AB08-5C4F-8301-9B753E5C0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重构（名词）：对软件内部结构的调整，目的是在不改变软件可观察行为的前提下，提高其理解性，降低其修改成本。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重构（动词）：使用一系列重构手法，在不改变软件可观察行为的前提下，调整其结构。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78285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FF7551-37B6-B64E-94F3-D199495564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7086"/>
            <a:ext cx="5076825" cy="64878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>
                <a:solidFill>
                  <a:srgbClr val="0070C0"/>
                </a:solidFill>
              </a:rPr>
              <a:t>When can refactoring?</a:t>
            </a:r>
          </a:p>
          <a:p>
            <a:r>
              <a:rPr lang="en-US" altLang="zh-CN" sz="1600" dirty="0"/>
              <a:t>Add</a:t>
            </a:r>
          </a:p>
          <a:p>
            <a:r>
              <a:rPr lang="en-US" altLang="zh-CN" sz="1600" dirty="0"/>
              <a:t>Bug</a:t>
            </a:r>
          </a:p>
          <a:p>
            <a:r>
              <a:rPr lang="zh-CN" altLang="en-US" sz="1600" dirty="0"/>
              <a:t>复审代码</a:t>
            </a:r>
            <a:br>
              <a:rPr lang="zh-CN" altLang="en-US" dirty="0"/>
            </a:br>
            <a:endParaRPr lang="en-US" altLang="zh-CN" dirty="0"/>
          </a:p>
          <a:p>
            <a:pPr marL="0" indent="0">
              <a:buNone/>
            </a:pPr>
            <a:r>
              <a:rPr lang="en-US" altLang="zh-CN" dirty="0">
                <a:solidFill>
                  <a:srgbClr val="0070C0"/>
                </a:solidFill>
              </a:rPr>
              <a:t>When can not refactoring?</a:t>
            </a:r>
          </a:p>
          <a:p>
            <a:r>
              <a:rPr lang="zh-CN" altLang="en-US" sz="1600" dirty="0"/>
              <a:t>现有代码过于混乱</a:t>
            </a:r>
            <a:endParaRPr lang="en-US" altLang="zh-CN" sz="1600" dirty="0"/>
          </a:p>
          <a:p>
            <a:r>
              <a:rPr lang="en-US" altLang="zh-CN" sz="1600" dirty="0"/>
              <a:t>Not working</a:t>
            </a:r>
          </a:p>
          <a:p>
            <a:r>
              <a:rPr lang="en-US" altLang="zh-CN" sz="1600" dirty="0"/>
              <a:t>Deadline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CN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12E8317-E1F3-0048-ADEF-74519F2651C9}"/>
              </a:ext>
            </a:extLst>
          </p:cNvPr>
          <p:cNvSpPr txBox="1">
            <a:spLocks/>
          </p:cNvSpPr>
          <p:nvPr/>
        </p:nvSpPr>
        <p:spPr>
          <a:xfrm>
            <a:off x="6276975" y="87086"/>
            <a:ext cx="5076825" cy="64878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70000"/>
              </a:lnSpc>
              <a:buNone/>
            </a:pPr>
            <a:endParaRPr lang="en-US" altLang="zh-CN" sz="1600" dirty="0"/>
          </a:p>
          <a:p>
            <a:pPr>
              <a:lnSpc>
                <a:spcPct val="70000"/>
              </a:lnSpc>
            </a:pPr>
            <a:r>
              <a:rPr lang="en-CN" dirty="0">
                <a:solidFill>
                  <a:srgbClr val="0070C0"/>
                </a:solidFill>
              </a:rPr>
              <a:t>重构与性能</a:t>
            </a:r>
          </a:p>
          <a:p>
            <a:pPr>
              <a:lnSpc>
                <a:spcPct val="100000"/>
              </a:lnSpc>
            </a:pPr>
            <a:r>
              <a:rPr lang="en-CN" sz="1600" dirty="0">
                <a:solidFill>
                  <a:prstClr val="black"/>
                </a:solidFill>
              </a:rPr>
              <a:t>多数重构提高性能</a:t>
            </a:r>
            <a:r>
              <a:rPr lang="zh-CN" altLang="en-US" sz="1600" dirty="0">
                <a:solidFill>
                  <a:prstClr val="black"/>
                </a:solidFill>
              </a:rPr>
              <a:t>，少数反而降低性能</a:t>
            </a:r>
            <a:endParaRPr lang="en-US" altLang="zh-CN" sz="1600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US" sz="1600" dirty="0">
                <a:solidFill>
                  <a:prstClr val="black"/>
                </a:solidFill>
              </a:rPr>
              <a:t>重构能使得性能提高更容易</a:t>
            </a:r>
            <a:endParaRPr lang="en-CN" sz="1600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en-CN" sz="1600" dirty="0">
                <a:solidFill>
                  <a:prstClr val="black"/>
                </a:solidFill>
              </a:rPr>
              <a:t>二八原则</a:t>
            </a:r>
          </a:p>
          <a:p>
            <a:pPr>
              <a:lnSpc>
                <a:spcPct val="100000"/>
              </a:lnSpc>
            </a:pPr>
            <a:r>
              <a:rPr lang="zh-CN" altLang="en-US" sz="1600" dirty="0">
                <a:solidFill>
                  <a:prstClr val="black"/>
                </a:solidFill>
              </a:rPr>
              <a:t>集中测试</a:t>
            </a:r>
            <a:endParaRPr lang="en-US" altLang="zh-CN" sz="1600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CN" sz="1600" dirty="0">
                <a:solidFill>
                  <a:prstClr val="black"/>
                </a:solidFill>
              </a:rPr>
              <a:t>测量</a:t>
            </a:r>
            <a:r>
              <a:rPr lang="zh-CN" altLang="en-US" sz="1600" dirty="0">
                <a:solidFill>
                  <a:prstClr val="black"/>
                </a:solidFill>
              </a:rPr>
              <a:t>工具</a:t>
            </a:r>
            <a:endParaRPr lang="en-US" altLang="zh-CN" sz="1600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US" sz="1600" dirty="0">
                <a:solidFill>
                  <a:prstClr val="black"/>
                </a:solidFill>
              </a:rPr>
              <a:t>小幅度修改。每走一步，都需要编译、测试、再次度量。如果没有提高性能，应该撤销此次修改</a:t>
            </a:r>
            <a:endParaRPr lang="en-US" altLang="zh-CN" sz="1600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US" sz="1600" dirty="0">
                <a:solidFill>
                  <a:prstClr val="black"/>
                </a:solidFill>
              </a:rPr>
              <a:t>持续提高</a:t>
            </a:r>
            <a:endParaRPr lang="en-US" altLang="zh-CN" sz="1600" dirty="0">
              <a:solidFill>
                <a:prstClr val="black"/>
              </a:solidFill>
            </a:endParaRPr>
          </a:p>
          <a:p>
            <a:pPr>
              <a:lnSpc>
                <a:spcPct val="70000"/>
              </a:lnSpc>
            </a:pPr>
            <a:endParaRPr lang="zh-CN" altLang="en-US" sz="16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87002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FF7551-37B6-B64E-94F3-D199495564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6975" y="348343"/>
            <a:ext cx="5076825" cy="569368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CN" altLang="en-US" dirty="0">
                <a:solidFill>
                  <a:srgbClr val="0070C0"/>
                </a:solidFill>
              </a:rPr>
              <a:t>重构时</a:t>
            </a:r>
            <a:endParaRPr lang="en-US" altLang="zh-CN" dirty="0"/>
          </a:p>
          <a:p>
            <a:r>
              <a:rPr lang="zh-CN" altLang="en-US" sz="1600" dirty="0"/>
              <a:t>两顶帽子：添加新功能（修改），以及重构</a:t>
            </a:r>
            <a:endParaRPr lang="en-US" altLang="zh-CN" sz="1600" dirty="0"/>
          </a:p>
          <a:p>
            <a:pPr marL="0" indent="0">
              <a:buNone/>
            </a:pPr>
            <a:r>
              <a:rPr lang="zh-CN" altLang="en-US" sz="1600" dirty="0"/>
              <a:t>软件开发过程中，经常变化帽子，但无论何时只能戴有一顶帽子。</a:t>
            </a:r>
            <a:endParaRPr lang="en-US" altLang="zh-CN" sz="1600" dirty="0"/>
          </a:p>
          <a:p>
            <a:r>
              <a:rPr lang="zh-CN" altLang="en-US" sz="1600" dirty="0"/>
              <a:t>小步前进、频繁测试</a:t>
            </a:r>
            <a:endParaRPr lang="en-US" altLang="zh-CN" sz="1600" dirty="0"/>
          </a:p>
          <a:p>
            <a:endParaRPr lang="en-US" altLang="zh-CN" sz="1600" dirty="0"/>
          </a:p>
          <a:p>
            <a:pPr marL="0" indent="0">
              <a:lnSpc>
                <a:spcPct val="70000"/>
              </a:lnSpc>
              <a:buNone/>
            </a:pPr>
            <a:r>
              <a:rPr lang="en-CN" dirty="0">
                <a:solidFill>
                  <a:srgbClr val="0070C0"/>
                </a:solidFill>
              </a:rPr>
              <a:t>Problem in  refactoring?</a:t>
            </a:r>
          </a:p>
          <a:p>
            <a:pPr>
              <a:lnSpc>
                <a:spcPct val="70000"/>
              </a:lnSpc>
            </a:pPr>
            <a:r>
              <a:rPr lang="en-US" sz="1600" dirty="0" err="1"/>
              <a:t>数据库</a:t>
            </a:r>
            <a:endParaRPr lang="en-US" sz="1600" dirty="0"/>
          </a:p>
          <a:p>
            <a:pPr>
              <a:lnSpc>
                <a:spcPct val="70000"/>
              </a:lnSpc>
            </a:pPr>
            <a:r>
              <a:rPr lang="en-US" sz="1600" dirty="0" err="1"/>
              <a:t>接口</a:t>
            </a:r>
            <a:r>
              <a:rPr lang="en-US" sz="1600" dirty="0"/>
              <a:t> : public / </a:t>
            </a:r>
            <a:r>
              <a:rPr lang="en-US" sz="1600" dirty="0" err="1"/>
              <a:t>pushlished</a:t>
            </a:r>
            <a:r>
              <a:rPr lang="en-US" sz="1600" dirty="0"/>
              <a:t> interface</a:t>
            </a:r>
          </a:p>
          <a:p>
            <a:pPr>
              <a:lnSpc>
                <a:spcPct val="70000"/>
              </a:lnSpc>
            </a:pPr>
            <a:r>
              <a:rPr lang="zh-CN" altLang="en-US" sz="1600" dirty="0"/>
              <a:t>难以通过重构手法完成的设计改动</a:t>
            </a:r>
            <a:endParaRPr lang="en-US" altLang="zh-CN" sz="1600" dirty="0"/>
          </a:p>
          <a:p>
            <a:pPr>
              <a:lnSpc>
                <a:spcPct val="100000"/>
              </a:lnSpc>
            </a:pPr>
            <a:r>
              <a:rPr lang="zh-CN" altLang="en-US" sz="1600" dirty="0">
                <a:solidFill>
                  <a:srgbClr val="FF0000"/>
                </a:solidFill>
              </a:rPr>
              <a:t>本书中重构手法的前提：</a:t>
            </a:r>
            <a:r>
              <a:rPr lang="en-US" altLang="zh-CN" sz="1600" dirty="0">
                <a:solidFill>
                  <a:srgbClr val="FF0000"/>
                </a:solidFill>
              </a:rPr>
              <a:t>“</a:t>
            </a:r>
            <a:r>
              <a:rPr lang="zh-CN" altLang="en-US" sz="1600" dirty="0">
                <a:solidFill>
                  <a:srgbClr val="FF0000"/>
                </a:solidFill>
              </a:rPr>
              <a:t>单进程软件</a:t>
            </a:r>
            <a:r>
              <a:rPr lang="en-US" altLang="zh-CN" sz="1600" dirty="0">
                <a:solidFill>
                  <a:srgbClr val="FF0000"/>
                </a:solidFill>
              </a:rPr>
              <a:t>”</a:t>
            </a:r>
            <a:r>
              <a:rPr lang="zh-CN" altLang="en-US" sz="1600" dirty="0">
                <a:solidFill>
                  <a:srgbClr val="FF0000"/>
                </a:solidFill>
              </a:rPr>
              <a:t>，并不适合并发和分布式程序设计。</a:t>
            </a:r>
            <a:endParaRPr lang="en-US" altLang="zh-CN" sz="1600" dirty="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zh-CN" altLang="en-US" sz="1600" dirty="0">
                <a:solidFill>
                  <a:srgbClr val="FF0000"/>
                </a:solidFill>
              </a:rPr>
              <a:t>     并发和分布式程序设计，有着完全不同的重构技术。</a:t>
            </a:r>
            <a:endParaRPr lang="en-US" altLang="zh-CN" sz="1600" dirty="0">
              <a:solidFill>
                <a:srgbClr val="FF0000"/>
              </a:solidFill>
            </a:endParaRPr>
          </a:p>
          <a:p>
            <a:endParaRPr lang="en-US" altLang="zh-CN" sz="1600" dirty="0"/>
          </a:p>
          <a:p>
            <a:r>
              <a:rPr lang="zh-CN" altLang="en-US" sz="1600" dirty="0"/>
              <a:t>寻找引用点</a:t>
            </a:r>
          </a:p>
          <a:p>
            <a:pPr marL="0" indent="0">
              <a:buNone/>
            </a:pPr>
            <a:r>
              <a:rPr lang="zh-CN" altLang="en-US" sz="1600" dirty="0"/>
              <a:t>替换 ： 手动 </a:t>
            </a:r>
            <a:r>
              <a:rPr lang="en-US" altLang="zh-CN" sz="1600" dirty="0"/>
              <a:t>/</a:t>
            </a:r>
            <a:r>
              <a:rPr lang="zh-CN" altLang="en-US" sz="1600" dirty="0"/>
              <a:t> </a:t>
            </a:r>
            <a:r>
              <a:rPr lang="en-US" altLang="zh-CN" sz="1600" dirty="0"/>
              <a:t>Diff tool </a:t>
            </a:r>
          </a:p>
          <a:p>
            <a:pPr marL="0" indent="0">
              <a:buNone/>
            </a:pPr>
            <a:r>
              <a:rPr lang="zh-CN" altLang="en-US" sz="1600" dirty="0"/>
              <a:t>查找 ： 反射</a:t>
            </a:r>
          </a:p>
          <a:p>
            <a:endParaRPr lang="en-US" altLang="zh-CN" sz="1600" dirty="0"/>
          </a:p>
          <a:p>
            <a:pPr marL="0" indent="0">
              <a:buNone/>
            </a:pPr>
            <a:endParaRPr lang="en-US" altLang="zh-CN" sz="16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12E8317-E1F3-0048-ADEF-74519F2651C9}"/>
              </a:ext>
            </a:extLst>
          </p:cNvPr>
          <p:cNvSpPr txBox="1">
            <a:spLocks/>
          </p:cNvSpPr>
          <p:nvPr/>
        </p:nvSpPr>
        <p:spPr>
          <a:xfrm>
            <a:off x="838200" y="348343"/>
            <a:ext cx="5076825" cy="569368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70000"/>
              </a:lnSpc>
              <a:buNone/>
            </a:pPr>
            <a:r>
              <a:rPr lang="en-CN" dirty="0">
                <a:solidFill>
                  <a:srgbClr val="0070C0"/>
                </a:solidFill>
              </a:rPr>
              <a:t>Why need refactoring?</a:t>
            </a:r>
            <a:endParaRPr lang="en-US" dirty="0">
              <a:solidFill>
                <a:srgbClr val="0070C0"/>
              </a:solidFill>
            </a:endParaRPr>
          </a:p>
          <a:p>
            <a:pPr lvl="0">
              <a:lnSpc>
                <a:spcPct val="70000"/>
              </a:lnSpc>
            </a:pPr>
            <a:r>
              <a:rPr lang="zh-CN" altLang="en-US" sz="1600" dirty="0"/>
              <a:t>代码结构逐渐流失 </a:t>
            </a:r>
            <a:r>
              <a:rPr lang="en-US" altLang="zh-CN" sz="1600" dirty="0"/>
              <a:t>-&gt;</a:t>
            </a:r>
            <a:r>
              <a:rPr lang="zh-CN" altLang="en-US" sz="1600" dirty="0"/>
              <a:t>改善设计</a:t>
            </a:r>
            <a:endParaRPr lang="en-US" altLang="zh-CN" sz="1600" dirty="0"/>
          </a:p>
          <a:p>
            <a:pPr lvl="0">
              <a:lnSpc>
                <a:spcPct val="70000"/>
              </a:lnSpc>
            </a:pPr>
            <a:r>
              <a:rPr lang="zh-CN" altLang="en-US" sz="1600" dirty="0"/>
              <a:t>可读性</a:t>
            </a:r>
            <a:endParaRPr lang="en-US" altLang="zh-CN" sz="1600" dirty="0"/>
          </a:p>
          <a:p>
            <a:pPr lvl="0">
              <a:lnSpc>
                <a:spcPct val="70000"/>
              </a:lnSpc>
            </a:pPr>
            <a:r>
              <a:rPr lang="zh-CN" altLang="en-US" sz="1600" dirty="0"/>
              <a:t>减少</a:t>
            </a:r>
            <a:r>
              <a:rPr lang="en-US" altLang="zh-CN" sz="1600" dirty="0"/>
              <a:t>bug</a:t>
            </a:r>
            <a:r>
              <a:rPr lang="zh-CN" altLang="en-US" sz="1600" dirty="0"/>
              <a:t>，帮助找到</a:t>
            </a:r>
            <a:r>
              <a:rPr lang="en-US" altLang="zh-CN" sz="1600" dirty="0"/>
              <a:t>bug</a:t>
            </a:r>
            <a:endParaRPr lang="en-CN" altLang="zh-CN" sz="1600" dirty="0"/>
          </a:p>
          <a:p>
            <a:pPr lvl="0">
              <a:lnSpc>
                <a:spcPct val="70000"/>
              </a:lnSpc>
            </a:pPr>
            <a:r>
              <a:rPr lang="zh-CN" altLang="en-US" sz="1600" dirty="0"/>
              <a:t>提高编程速度</a:t>
            </a:r>
            <a:endParaRPr lang="en-US" altLang="zh-CN" sz="1600" dirty="0"/>
          </a:p>
          <a:p>
            <a:pPr lvl="0">
              <a:lnSpc>
                <a:spcPct val="70000"/>
              </a:lnSpc>
            </a:pPr>
            <a:endParaRPr lang="en-US" altLang="zh-CN" sz="1600" dirty="0"/>
          </a:p>
          <a:p>
            <a:pPr lvl="0">
              <a:lnSpc>
                <a:spcPct val="70000"/>
              </a:lnSpc>
            </a:pPr>
            <a:endParaRPr lang="en-US" altLang="zh-CN" sz="1600" dirty="0"/>
          </a:p>
          <a:p>
            <a:pPr marL="0" lvl="0" indent="0">
              <a:lnSpc>
                <a:spcPct val="70000"/>
              </a:lnSpc>
              <a:buNone/>
            </a:pPr>
            <a:r>
              <a:rPr lang="zh-CN" altLang="en-US" dirty="0">
                <a:solidFill>
                  <a:srgbClr val="0070C0"/>
                </a:solidFill>
              </a:rPr>
              <a:t>重构准备</a:t>
            </a:r>
            <a:endParaRPr lang="en-US" altLang="zh-CN" dirty="0">
              <a:solidFill>
                <a:srgbClr val="0070C0"/>
              </a:solidFill>
            </a:endParaRPr>
          </a:p>
          <a:p>
            <a:r>
              <a:rPr lang="zh-CN" altLang="en-US" sz="1600" dirty="0"/>
              <a:t>重构之前，先有测试代码：自检能力 </a:t>
            </a:r>
            <a:r>
              <a:rPr lang="en-US" altLang="zh-CN" sz="1600" dirty="0"/>
              <a:t>/</a:t>
            </a:r>
            <a:r>
              <a:rPr lang="zh-CN" altLang="en-US" sz="1600" dirty="0"/>
              <a:t> 自测试</a:t>
            </a:r>
            <a:endParaRPr lang="en-US" altLang="zh-CN" sz="1600" dirty="0"/>
          </a:p>
          <a:p>
            <a:pPr marL="0" indent="0">
              <a:buNone/>
            </a:pPr>
            <a:r>
              <a:rPr lang="zh-CN" altLang="en-US" sz="1600" dirty="0"/>
              <a:t>✔</a:t>
            </a:r>
            <a:r>
              <a:rPr lang="en-US" altLang="zh-CN" sz="1600" dirty="0"/>
              <a:t> </a:t>
            </a:r>
            <a:r>
              <a:rPr lang="zh-CN" altLang="en-US" sz="1600" dirty="0"/>
              <a:t>单元测试</a:t>
            </a:r>
            <a:r>
              <a:rPr lang="en-US" altLang="zh-CN" sz="1600" dirty="0"/>
              <a:t> :</a:t>
            </a:r>
            <a:r>
              <a:rPr lang="en-US" sz="1600" dirty="0"/>
              <a:t> Junit</a:t>
            </a:r>
            <a:r>
              <a:rPr lang="zh-CN" altLang="en-US" sz="1600" dirty="0"/>
              <a:t> </a:t>
            </a:r>
            <a:r>
              <a:rPr lang="en-US" altLang="zh-CN" sz="1600" dirty="0"/>
              <a:t>; </a:t>
            </a:r>
            <a:r>
              <a:rPr lang="zh-CN" altLang="en-US" sz="1600" dirty="0"/>
              <a:t>捕捉失败</a:t>
            </a:r>
            <a:r>
              <a:rPr lang="en-US" altLang="zh-CN" sz="1600" dirty="0"/>
              <a:t>(</a:t>
            </a:r>
            <a:r>
              <a:rPr lang="en-US" sz="1600" dirty="0"/>
              <a:t>false)/ </a:t>
            </a:r>
            <a:r>
              <a:rPr lang="zh-CN" altLang="en-US" sz="1600" dirty="0"/>
              <a:t>异常</a:t>
            </a:r>
            <a:r>
              <a:rPr lang="en-US" altLang="zh-CN" sz="1600" dirty="0"/>
              <a:t>(</a:t>
            </a:r>
            <a:r>
              <a:rPr lang="en-US" sz="1600" dirty="0"/>
              <a:t>exception)</a:t>
            </a:r>
          </a:p>
          <a:p>
            <a:pPr marL="0" indent="0">
              <a:buNone/>
            </a:pPr>
            <a:r>
              <a:rPr lang="zh-CN" altLang="en-US" sz="1600" dirty="0"/>
              <a:t>✗</a:t>
            </a:r>
            <a:r>
              <a:rPr lang="en-US" altLang="zh-CN" sz="1600" dirty="0"/>
              <a:t> </a:t>
            </a:r>
            <a:r>
              <a:rPr lang="zh-CN" altLang="en-US" sz="1600" dirty="0"/>
              <a:t>功能测试：质量</a:t>
            </a:r>
            <a:endParaRPr lang="en-US" altLang="zh-CN" sz="1600" dirty="0"/>
          </a:p>
          <a:p>
            <a:pPr marL="0" indent="0">
              <a:buNone/>
            </a:pPr>
            <a:r>
              <a:rPr lang="en-US" altLang="zh-CN" sz="1600" dirty="0"/>
              <a:t>Not all public </a:t>
            </a:r>
            <a:r>
              <a:rPr lang="zh-CN" altLang="en-US" sz="1600" dirty="0"/>
              <a:t>函数</a:t>
            </a:r>
            <a:r>
              <a:rPr lang="en-US" altLang="zh-CN" sz="1600" dirty="0"/>
              <a:t> </a:t>
            </a:r>
          </a:p>
          <a:p>
            <a:pPr marL="0" indent="0">
              <a:buNone/>
            </a:pPr>
            <a:r>
              <a:rPr lang="en-US" altLang="zh-CN" sz="1600" dirty="0"/>
              <a:t> </a:t>
            </a:r>
            <a:r>
              <a:rPr lang="zh-CN" altLang="en-US" sz="1600" dirty="0">
                <a:effectLst/>
              </a:rPr>
              <a:t>边界条件</a:t>
            </a:r>
            <a:r>
              <a:rPr lang="en-US" altLang="zh-CN" sz="1600" dirty="0">
                <a:effectLst/>
              </a:rPr>
              <a:t> /</a:t>
            </a:r>
          </a:p>
          <a:p>
            <a:pPr marL="0" indent="0">
              <a:buNone/>
            </a:pPr>
            <a:r>
              <a:rPr lang="zh-CN" altLang="en-US" sz="1600" dirty="0"/>
              <a:t>最容易出错</a:t>
            </a:r>
            <a:r>
              <a:rPr lang="en-US" altLang="zh-CN" sz="1600" dirty="0"/>
              <a:t>/</a:t>
            </a:r>
            <a:r>
              <a:rPr lang="zh-CN" altLang="en-US" sz="1600" dirty="0"/>
              <a:t> 最常见</a:t>
            </a:r>
            <a:r>
              <a:rPr lang="en-US" altLang="zh-CN" sz="1600" dirty="0"/>
              <a:t>/</a:t>
            </a:r>
            <a:r>
              <a:rPr lang="zh-CN" altLang="en-US" sz="1600" dirty="0"/>
              <a:t>常见情况</a:t>
            </a:r>
            <a:endParaRPr lang="en-US" altLang="zh-CN" sz="1600" dirty="0"/>
          </a:p>
          <a:p>
            <a:pPr marL="0" indent="0">
              <a:buNone/>
            </a:pPr>
            <a:r>
              <a:rPr lang="zh-CN" altLang="en-US" sz="1600" dirty="0"/>
              <a:t>如果没有</a:t>
            </a:r>
            <a:r>
              <a:rPr lang="en-US" altLang="zh-CN" sz="1600" dirty="0"/>
              <a:t>Unit</a:t>
            </a:r>
            <a:r>
              <a:rPr lang="zh-CN" altLang="en-US" sz="1600" dirty="0"/>
              <a:t> </a:t>
            </a:r>
            <a:r>
              <a:rPr lang="en-US" altLang="zh-CN" sz="1600" dirty="0"/>
              <a:t>Test</a:t>
            </a:r>
            <a:r>
              <a:rPr lang="zh-CN" altLang="en-US" sz="1600" dirty="0"/>
              <a:t>，用测试用例</a:t>
            </a:r>
            <a:r>
              <a:rPr lang="en-US" altLang="zh-CN" sz="1600" dirty="0"/>
              <a:t>+</a:t>
            </a:r>
            <a:r>
              <a:rPr lang="zh-CN" altLang="en-US" sz="1600" dirty="0"/>
              <a:t>应用场景：</a:t>
            </a:r>
            <a:r>
              <a:rPr lang="en-US" altLang="zh-CN" sz="1600" dirty="0"/>
              <a:t>all</a:t>
            </a:r>
            <a:r>
              <a:rPr lang="zh-CN" altLang="en-US" sz="1600" dirty="0"/>
              <a:t> </a:t>
            </a:r>
            <a:r>
              <a:rPr lang="en-US" altLang="zh-CN" sz="1600" dirty="0"/>
              <a:t>case</a:t>
            </a:r>
          </a:p>
          <a:p>
            <a:pPr marL="0" indent="0">
              <a:buNone/>
            </a:pPr>
            <a:r>
              <a:rPr lang="zh-CN" altLang="en-US" sz="2200" b="1" dirty="0">
                <a:solidFill>
                  <a:srgbClr val="7030A0"/>
                </a:solidFill>
              </a:rPr>
              <a:t> </a:t>
            </a:r>
            <a:endParaRPr lang="en-US" altLang="zh-CN" sz="2200" b="1" dirty="0">
              <a:solidFill>
                <a:srgbClr val="7030A0"/>
              </a:solidFill>
            </a:endParaRPr>
          </a:p>
          <a:p>
            <a:pPr>
              <a:lnSpc>
                <a:spcPct val="70000"/>
              </a:lnSpc>
            </a:pPr>
            <a:r>
              <a:rPr lang="en-US" altLang="zh-CN" sz="1600" dirty="0"/>
              <a:t>Diff</a:t>
            </a:r>
            <a:r>
              <a:rPr lang="zh-CN" altLang="en-US" sz="1600" dirty="0"/>
              <a:t> </a:t>
            </a:r>
            <a:r>
              <a:rPr lang="en-US" altLang="zh-CN" sz="1600" dirty="0"/>
              <a:t>tool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altLang="zh-CN" sz="1600" dirty="0"/>
              <a:t> Beyond Compare, IDE</a:t>
            </a:r>
          </a:p>
          <a:p>
            <a:pPr>
              <a:lnSpc>
                <a:spcPct val="70000"/>
              </a:lnSpc>
            </a:pPr>
            <a:r>
              <a:rPr lang="en-US" altLang="zh-CN" sz="1600" dirty="0"/>
              <a:t>Branch branch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altLang="zh-CN" sz="1600" dirty="0" err="1"/>
              <a:t>refactor_current</a:t>
            </a:r>
            <a:r>
              <a:rPr lang="zh-CN" altLang="en-US" sz="1600" dirty="0"/>
              <a:t> </a:t>
            </a:r>
            <a:r>
              <a:rPr lang="en-US" altLang="zh-CN" sz="1600" dirty="0"/>
              <a:t>/</a:t>
            </a:r>
            <a:r>
              <a:rPr lang="zh-CN" altLang="en-US" sz="1600" dirty="0"/>
              <a:t> </a:t>
            </a:r>
            <a:r>
              <a:rPr lang="en-US" altLang="zh-CN" sz="1600" dirty="0" err="1"/>
              <a:t>refactor_master</a:t>
            </a:r>
            <a:r>
              <a:rPr lang="zh-CN" altLang="en-US" sz="1600" dirty="0"/>
              <a:t> </a:t>
            </a:r>
            <a:r>
              <a:rPr lang="en-US" altLang="zh-CN" sz="1600" dirty="0"/>
              <a:t>/</a:t>
            </a:r>
            <a:r>
              <a:rPr lang="zh-CN" altLang="en-US" sz="1600" dirty="0"/>
              <a:t> </a:t>
            </a:r>
            <a:r>
              <a:rPr lang="en-US" altLang="zh-CN" sz="1600" dirty="0"/>
              <a:t>feature</a:t>
            </a:r>
          </a:p>
          <a:p>
            <a:pPr marL="0" lvl="0" indent="0">
              <a:lnSpc>
                <a:spcPct val="70000"/>
              </a:lnSpc>
              <a:buNone/>
            </a:pPr>
            <a:endParaRPr lang="en-US" altLang="zh-CN" sz="1600" dirty="0"/>
          </a:p>
          <a:p>
            <a:pPr marL="0" lvl="0" indent="0">
              <a:lnSpc>
                <a:spcPct val="70000"/>
              </a:lnSpc>
              <a:buNone/>
            </a:pPr>
            <a:endParaRPr lang="en-US" altLang="zh-CN" sz="1600" dirty="0"/>
          </a:p>
        </p:txBody>
      </p:sp>
      <p:pic>
        <p:nvPicPr>
          <p:cNvPr id="10" name="Graphic 9" descr="Add">
            <a:extLst>
              <a:ext uri="{FF2B5EF4-FFF2-40B4-BE49-F238E27FC236}">
                <a16:creationId xmlns:a16="http://schemas.microsoft.com/office/drawing/2014/main" id="{D30CD3D9-6AC4-834E-9883-2D80B78B15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8200" y="4343399"/>
            <a:ext cx="504825" cy="504825"/>
          </a:xfrm>
          <a:prstGeom prst="rect">
            <a:avLst/>
          </a:prstGeom>
        </p:spPr>
      </p:pic>
      <p:pic>
        <p:nvPicPr>
          <p:cNvPr id="12" name="Graphic 11" descr="Add">
            <a:extLst>
              <a:ext uri="{FF2B5EF4-FFF2-40B4-BE49-F238E27FC236}">
                <a16:creationId xmlns:a16="http://schemas.microsoft.com/office/drawing/2014/main" id="{13B13EC1-7B35-264A-9A5F-0638175FDE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76975" y="4728481"/>
            <a:ext cx="504825" cy="50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265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A4548-CA9B-4245-A98D-8C8CAA7A2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CN" dirty="0"/>
              <a:t>QA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33604C-DB0C-504C-8E80-857E7A949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sz="1600" dirty="0"/>
              <a:t>平时开发中需要如何设计代码结构，做到以后尽量少或者小的重构？</a:t>
            </a:r>
            <a:endParaRPr lang="en-US" altLang="zh-CN" sz="1600" dirty="0"/>
          </a:p>
          <a:p>
            <a:pPr marL="0" indent="0">
              <a:buNone/>
            </a:pPr>
            <a:r>
              <a:rPr lang="zh-CN" altLang="en-US" sz="1600" dirty="0"/>
              <a:t>  不能</a:t>
            </a:r>
            <a:endParaRPr lang="en-US" altLang="zh-CN" sz="1600" dirty="0"/>
          </a:p>
          <a:p>
            <a:pPr marL="0" indent="0">
              <a:buNone/>
            </a:pPr>
            <a:r>
              <a:rPr lang="zh-CN" altLang="en-US" sz="1600" dirty="0"/>
              <a:t>  架构</a:t>
            </a:r>
            <a:endParaRPr lang="en-US" altLang="zh-CN" sz="1600" dirty="0"/>
          </a:p>
          <a:p>
            <a:pPr marL="0" indent="0">
              <a:buNone/>
            </a:pPr>
            <a:endParaRPr lang="en-US" altLang="zh-CN" sz="1600" dirty="0"/>
          </a:p>
          <a:p>
            <a:r>
              <a:rPr lang="zh-CN" altLang="en-US" sz="1600" dirty="0"/>
              <a:t>重构 在</a:t>
            </a:r>
            <a:r>
              <a:rPr lang="en-US" altLang="zh-CN" sz="1600" dirty="0"/>
              <a:t>JS</a:t>
            </a:r>
            <a:r>
              <a:rPr lang="zh-CN" altLang="en-US" sz="1600" dirty="0"/>
              <a:t> 中能用吗？</a:t>
            </a:r>
            <a:endParaRPr lang="en-US" altLang="zh-CN" sz="1600" dirty="0"/>
          </a:p>
          <a:p>
            <a:pPr marL="0" indent="0">
              <a:buNone/>
            </a:pPr>
            <a:r>
              <a:rPr lang="zh-CN" altLang="en-US" sz="1600" dirty="0"/>
              <a:t>     任何语言</a:t>
            </a:r>
            <a:endParaRPr lang="en-US" altLang="zh-CN" sz="1600" dirty="0"/>
          </a:p>
          <a:p>
            <a:pPr marL="0" indent="0">
              <a:buNone/>
            </a:pPr>
            <a:r>
              <a:rPr lang="zh-CN" altLang="en-US" sz="1600" dirty="0"/>
              <a:t> </a:t>
            </a:r>
            <a:endParaRPr lang="en-US" altLang="zh-CN" sz="1600" dirty="0"/>
          </a:p>
          <a:p>
            <a:r>
              <a:rPr lang="zh-CN" altLang="en-US" sz="1600" dirty="0"/>
              <a:t>项目架构非常</a:t>
            </a:r>
            <a:r>
              <a:rPr lang="en-US" altLang="zh-CN" sz="1600" dirty="0"/>
              <a:t>common</a:t>
            </a:r>
            <a:r>
              <a:rPr lang="zh-CN" altLang="en-US" sz="1600" dirty="0"/>
              <a:t>，不能一下子改完，该如何着手重构？</a:t>
            </a:r>
            <a:endParaRPr lang="en-US" altLang="zh-CN" sz="1600" dirty="0"/>
          </a:p>
          <a:p>
            <a:pPr marL="0" indent="0">
              <a:buNone/>
            </a:pPr>
            <a:r>
              <a:rPr lang="zh-CN" altLang="en-US" sz="1600" dirty="0"/>
              <a:t>    重构架构是超大范围的重构，即使使用重构手法也不能一下子改完。</a:t>
            </a:r>
            <a:endParaRPr lang="en-US" altLang="zh-CN" sz="1600" dirty="0"/>
          </a:p>
          <a:p>
            <a:pPr marL="0" indent="0">
              <a:buNone/>
            </a:pPr>
            <a:r>
              <a:rPr lang="zh-CN" altLang="en-US" sz="1600" dirty="0"/>
              <a:t>    逐个替换</a:t>
            </a:r>
            <a:r>
              <a:rPr lang="en-US" altLang="zh-CN" sz="1600" dirty="0"/>
              <a:t>+</a:t>
            </a:r>
            <a:r>
              <a:rPr lang="zh-CN" altLang="en-US" sz="1600" dirty="0"/>
              <a:t>测试用例</a:t>
            </a:r>
            <a:endParaRPr lang="en-US" altLang="zh-CN" sz="1600" dirty="0"/>
          </a:p>
          <a:p>
            <a:pPr marL="0" indent="0">
              <a:buNone/>
            </a:pPr>
            <a:r>
              <a:rPr lang="zh-CN" altLang="en-US" sz="1600" dirty="0"/>
              <a:t>    用重构按小步调和布局范围改善代码，使得代码清晰，能帮助找到更好的架构。</a:t>
            </a:r>
          </a:p>
          <a:p>
            <a:endParaRPr lang="en-CN" sz="1600" dirty="0"/>
          </a:p>
        </p:txBody>
      </p:sp>
    </p:spTree>
    <p:extLst>
      <p:ext uri="{BB962C8B-B14F-4D97-AF65-F5344CB8AC3E}">
        <p14:creationId xmlns:p14="http://schemas.microsoft.com/office/powerpoint/2010/main" val="5293105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51E48-0CAE-E940-98C2-89A578546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>
                <a:effectLst/>
              </a:rPr>
              <a:t>重构手法 </a:t>
            </a:r>
            <a:r>
              <a:rPr lang="en-US" altLang="zh-CN" b="1" dirty="0">
                <a:effectLst/>
              </a:rPr>
              <a:t>-</a:t>
            </a:r>
            <a:r>
              <a:rPr lang="zh-CN" altLang="en-US" b="1" dirty="0">
                <a:effectLst/>
              </a:rPr>
              <a:t> </a:t>
            </a:r>
            <a:r>
              <a:rPr lang="zh-CN" altLang="en-US" b="1" dirty="0"/>
              <a:t>重新组织函数</a:t>
            </a:r>
            <a:endParaRPr lang="zh-CN" altLang="en-US" b="1" dirty="0">
              <a:effectLst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942D3C2-543F-1942-9709-825BBAE9B56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51618635"/>
              </p:ext>
            </p:extLst>
          </p:nvPr>
        </p:nvGraphicFramePr>
        <p:xfrm>
          <a:off x="838200" y="1825625"/>
          <a:ext cx="105156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943">
                  <a:extLst>
                    <a:ext uri="{9D8B030D-6E8A-4147-A177-3AD203B41FA5}">
                      <a16:colId xmlns:a16="http://schemas.microsoft.com/office/drawing/2014/main" val="745997973"/>
                    </a:ext>
                  </a:extLst>
                </a:gridCol>
                <a:gridCol w="6433457">
                  <a:extLst>
                    <a:ext uri="{9D8B030D-6E8A-4147-A177-3AD203B41FA5}">
                      <a16:colId xmlns:a16="http://schemas.microsoft.com/office/drawing/2014/main" val="264725038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45573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CN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b="1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b="1" dirty="0"/>
                        <a:t>Desc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3473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Extract Method</a:t>
                      </a: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110</a:t>
                      </a: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提炼函数</a:t>
                      </a:r>
                      <a:endParaRPr lang="en-C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6465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Inline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内联函数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752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Inline Temp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内联临时变量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740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Replace Temp with 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以查询取代临时变量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658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Introduce Explain Variable（124）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引入解释性变量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9005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Split Temporary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分解临时变量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965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Remove Assignments to 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移除对参数的赋值动作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8258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Replace Method with Method 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以函数对象取代函数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5112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Substitute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替换算法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24953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16054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668</Words>
  <Application>Microsoft Macintosh PowerPoint</Application>
  <PresentationFormat>Widescreen</PresentationFormat>
  <Paragraphs>114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Refactoring </vt:lpstr>
      <vt:lpstr>How to use this book</vt:lpstr>
      <vt:lpstr>PowerPoint Presentation</vt:lpstr>
      <vt:lpstr>QA</vt:lpstr>
      <vt:lpstr>Read Example togeter</vt:lpstr>
      <vt:lpstr>重构的定义</vt:lpstr>
      <vt:lpstr>PowerPoint Presentation</vt:lpstr>
      <vt:lpstr>PowerPoint Presentation</vt:lpstr>
      <vt:lpstr>+ QA</vt:lpstr>
      <vt:lpstr>重构手法 - 重新组织函数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Refactoring </dc:title>
  <dc:creator>kf</dc:creator>
  <cp:lastModifiedBy>kf</cp:lastModifiedBy>
  <cp:revision>81</cp:revision>
  <dcterms:created xsi:type="dcterms:W3CDTF">2020-07-29T06:29:03Z</dcterms:created>
  <dcterms:modified xsi:type="dcterms:W3CDTF">2020-07-29T10:52:10Z</dcterms:modified>
</cp:coreProperties>
</file>